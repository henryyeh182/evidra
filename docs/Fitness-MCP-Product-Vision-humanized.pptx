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b22fabe534aff" /><Relationship Type="http://schemas.openxmlformats.org/officeDocument/2006/relationships/extended-properties" Target="/docProps/app.xml" Id="R189ebe54a1804ea1" /><Relationship Type="http://schemas.openxmlformats.org/officeDocument/2006/relationships/officeDocument" Target="/ppt/presentation.xml" Id="R1eabb81a0b5b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229285db44d16"/>
  </p:sldMasterIdLst>
  <p:notesMasterIdLst>
    <p:notesMasterId xmlns:r="http://schemas.openxmlformats.org/officeDocument/2006/relationships" r:id="Ra5c81223dce748c4"/>
  </p:notesMasterIdLst>
  <p:sldIdLst>
    <p:sldId xmlns:r="http://schemas.openxmlformats.org/officeDocument/2006/relationships" id="256" r:id="R54d6624c79794a02"/>
    <p:sldId xmlns:r="http://schemas.openxmlformats.org/officeDocument/2006/relationships" id="257" r:id="Rf7c5f17a7af145fc"/>
    <p:sldId xmlns:r="http://schemas.openxmlformats.org/officeDocument/2006/relationships" id="258" r:id="R8ddd8521e6024bc5"/>
    <p:sldId xmlns:r="http://schemas.openxmlformats.org/officeDocument/2006/relationships" id="259" r:id="R0377311ad0664cca"/>
    <p:sldId xmlns:r="http://schemas.openxmlformats.org/officeDocument/2006/relationships" id="260" r:id="Rdf186f8f663c4139"/>
    <p:sldId xmlns:r="http://schemas.openxmlformats.org/officeDocument/2006/relationships" id="261" r:id="R9c0e281f798043f0"/>
    <p:sldId xmlns:r="http://schemas.openxmlformats.org/officeDocument/2006/relationships" id="262" r:id="Rb21da28d701a452e"/>
    <p:sldId xmlns:r="http://schemas.openxmlformats.org/officeDocument/2006/relationships" id="263" r:id="R26ac09294e664b69"/>
    <p:sldId xmlns:r="http://schemas.openxmlformats.org/officeDocument/2006/relationships" id="264" r:id="R20dd905638864970"/>
    <p:sldId xmlns:r="http://schemas.openxmlformats.org/officeDocument/2006/relationships" id="265" r:id="R60e02a0d5ef64ac0"/>
    <p:sldId xmlns:r="http://schemas.openxmlformats.org/officeDocument/2006/relationships" id="266" r:id="R553e6e2cdd1f4835"/>
    <p:sldId xmlns:r="http://schemas.openxmlformats.org/officeDocument/2006/relationships" id="267" r:id="R01260bcb13234867"/>
    <p:sldId xmlns:r="http://schemas.openxmlformats.org/officeDocument/2006/relationships" id="268" r:id="R1e5be82c04594be4"/>
    <p:sldId xmlns:r="http://schemas.openxmlformats.org/officeDocument/2006/relationships" id="269" r:id="R9f81724814a341a9"/>
    <p:sldId xmlns:r="http://schemas.openxmlformats.org/officeDocument/2006/relationships" id="270" r:id="R0ac15ce760bc4b7a"/>
    <p:sldId xmlns:r="http://schemas.openxmlformats.org/officeDocument/2006/relationships" id="271" r:id="R5b96638d497243ca"/>
    <p:sldId xmlns:r="http://schemas.openxmlformats.org/officeDocument/2006/relationships" id="272" r:id="R7256113429934b50"/>
    <p:sldId xmlns:r="http://schemas.openxmlformats.org/officeDocument/2006/relationships" id="273" r:id="R44cbe273d8424c3c"/>
    <p:sldId xmlns:r="http://schemas.openxmlformats.org/officeDocument/2006/relationships" id="274" r:id="Rbcb9aa7d99794f0c"/>
    <p:sldId xmlns:r="http://schemas.openxmlformats.org/officeDocument/2006/relationships" id="275" r:id="R5023cc141c3040d7"/>
    <p:sldId xmlns:r="http://schemas.openxmlformats.org/officeDocument/2006/relationships" id="276" r:id="Ra58fd72c98e740f7"/>
    <p:sldId xmlns:r="http://schemas.openxmlformats.org/officeDocument/2006/relationships" id="277" r:id="R0c6633d21a2e439b"/>
    <p:sldId xmlns:r="http://schemas.openxmlformats.org/officeDocument/2006/relationships" id="278" r:id="R87c1f342eced4be8"/>
    <p:sldId xmlns:r="http://schemas.openxmlformats.org/officeDocument/2006/relationships" id="279" r:id="R9d5af7457ce64dc1"/>
    <p:sldId xmlns:r="http://schemas.openxmlformats.org/officeDocument/2006/relationships" id="280" r:id="R26c98fc2761c431a"/>
    <p:sldId xmlns:r="http://schemas.openxmlformats.org/officeDocument/2006/relationships" id="281" r:id="R290fcd3bcdd04fec"/>
    <p:sldId xmlns:r="http://schemas.openxmlformats.org/officeDocument/2006/relationships" id="282" r:id="R53a69e3aa73f4fa0"/>
    <p:sldId xmlns:r="http://schemas.openxmlformats.org/officeDocument/2006/relationships" id="283" r:id="R75ad40fd327848a2"/>
    <p:sldId xmlns:r="http://schemas.openxmlformats.org/officeDocument/2006/relationships" id="284" r:id="Rf24045fc88084af8"/>
    <p:sldId xmlns:r="http://schemas.openxmlformats.org/officeDocument/2006/relationships" id="285" r:id="Rd999c12b4f034feb"/>
    <p:sldId xmlns:r="http://schemas.openxmlformats.org/officeDocument/2006/relationships" id="286" r:id="Rb2c5e37c89984142"/>
    <p:sldId xmlns:r="http://schemas.openxmlformats.org/officeDocument/2006/relationships" id="287" r:id="R6858acbb1a1a4c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01c51b19214ea6" /><Relationship Type="http://schemas.openxmlformats.org/officeDocument/2006/relationships/slideMaster" Target="/ppt/slideMasters/slideMaster1.xml" Id="Rf66229285db44d16" /><Relationship Type="http://schemas.openxmlformats.org/officeDocument/2006/relationships/notesMaster" Target="/ppt/notesMasters/notesMaster1.xml" Id="Ra5c81223dce748c4" /><Relationship Type="http://schemas.openxmlformats.org/officeDocument/2006/relationships/presProps" Target="/ppt/presProps.xml" Id="Rc50b20dbb0cc468c" /><Relationship Type="http://schemas.openxmlformats.org/officeDocument/2006/relationships/viewProps" Target="/ppt/viewProps.xml" Id="R38a98923dd7d4da7" /><Relationship Type="http://schemas.openxmlformats.org/officeDocument/2006/relationships/tableStyles" Target="/ppt/tableStyles.xml" Id="Rd9459c7367d24ac9" /><Relationship Type="http://schemas.openxmlformats.org/officeDocument/2006/relationships/slide" Target="/ppt/slides/slide1.xml" Id="R54d6624c79794a02" /><Relationship Type="http://schemas.openxmlformats.org/officeDocument/2006/relationships/slide" Target="/ppt/slides/slide2.xml" Id="Rf7c5f17a7af145fc" /><Relationship Type="http://schemas.openxmlformats.org/officeDocument/2006/relationships/slide" Target="/ppt/slides/slide3.xml" Id="R8ddd8521e6024bc5" /><Relationship Type="http://schemas.openxmlformats.org/officeDocument/2006/relationships/slide" Target="/ppt/slides/slide4.xml" Id="R0377311ad0664cca" /><Relationship Type="http://schemas.openxmlformats.org/officeDocument/2006/relationships/slide" Target="/ppt/slides/slide5.xml" Id="Rdf186f8f663c4139" /><Relationship Type="http://schemas.openxmlformats.org/officeDocument/2006/relationships/slide" Target="/ppt/slides/slide6.xml" Id="R9c0e281f798043f0" /><Relationship Type="http://schemas.openxmlformats.org/officeDocument/2006/relationships/slide" Target="/ppt/slides/slide7.xml" Id="Rb21da28d701a452e" /><Relationship Type="http://schemas.openxmlformats.org/officeDocument/2006/relationships/slide" Target="/ppt/slides/slide8.xml" Id="R26ac09294e664b69" /><Relationship Type="http://schemas.openxmlformats.org/officeDocument/2006/relationships/slide" Target="/ppt/slides/slide9.xml" Id="R20dd905638864970" /><Relationship Type="http://schemas.openxmlformats.org/officeDocument/2006/relationships/slide" Target="/ppt/slides/slide10.xml" Id="R60e02a0d5ef64ac0" /><Relationship Type="http://schemas.openxmlformats.org/officeDocument/2006/relationships/slide" Target="/ppt/slides/slide11.xml" Id="R553e6e2cdd1f4835" /><Relationship Type="http://schemas.openxmlformats.org/officeDocument/2006/relationships/slide" Target="/ppt/slides/slide12.xml" Id="R01260bcb13234867" /><Relationship Type="http://schemas.openxmlformats.org/officeDocument/2006/relationships/slide" Target="/ppt/slides/slide13.xml" Id="R1e5be82c04594be4" /><Relationship Type="http://schemas.openxmlformats.org/officeDocument/2006/relationships/slide" Target="/ppt/slides/slide14.xml" Id="R9f81724814a341a9" /><Relationship Type="http://schemas.openxmlformats.org/officeDocument/2006/relationships/slide" Target="/ppt/slides/slide15.xml" Id="R0ac15ce760bc4b7a" /><Relationship Type="http://schemas.openxmlformats.org/officeDocument/2006/relationships/slide" Target="/ppt/slides/slide16.xml" Id="R5b96638d497243ca" /><Relationship Type="http://schemas.openxmlformats.org/officeDocument/2006/relationships/slide" Target="/ppt/slides/slide17.xml" Id="R7256113429934b50" /><Relationship Type="http://schemas.openxmlformats.org/officeDocument/2006/relationships/slide" Target="/ppt/slides/slide18.xml" Id="R44cbe273d8424c3c" /><Relationship Type="http://schemas.openxmlformats.org/officeDocument/2006/relationships/slide" Target="/ppt/slides/slide19.xml" Id="Rbcb9aa7d99794f0c" /><Relationship Type="http://schemas.openxmlformats.org/officeDocument/2006/relationships/slide" Target="/ppt/slides/slide20.xml" Id="R5023cc141c3040d7" /><Relationship Type="http://schemas.openxmlformats.org/officeDocument/2006/relationships/slide" Target="/ppt/slides/slide21.xml" Id="Ra58fd72c98e740f7" /><Relationship Type="http://schemas.openxmlformats.org/officeDocument/2006/relationships/slide" Target="/ppt/slides/slide22.xml" Id="R0c6633d21a2e439b" /><Relationship Type="http://schemas.openxmlformats.org/officeDocument/2006/relationships/slide" Target="/ppt/slides/slide23.xml" Id="R87c1f342eced4be8" /><Relationship Type="http://schemas.openxmlformats.org/officeDocument/2006/relationships/slide" Target="/ppt/slides/slide24.xml" Id="R9d5af7457ce64dc1" /><Relationship Type="http://schemas.openxmlformats.org/officeDocument/2006/relationships/slide" Target="/ppt/slides/slide25.xml" Id="R26c98fc2761c431a" /><Relationship Type="http://schemas.openxmlformats.org/officeDocument/2006/relationships/slide" Target="/ppt/slides/slide26.xml" Id="R290fcd3bcdd04fec" /><Relationship Type="http://schemas.openxmlformats.org/officeDocument/2006/relationships/slide" Target="/ppt/slides/slide27.xml" Id="R53a69e3aa73f4fa0" /><Relationship Type="http://schemas.openxmlformats.org/officeDocument/2006/relationships/slide" Target="/ppt/slides/slide28.xml" Id="R75ad40fd327848a2" /><Relationship Type="http://schemas.openxmlformats.org/officeDocument/2006/relationships/slide" Target="/ppt/slides/slide29.xml" Id="Rf24045fc88084af8" /><Relationship Type="http://schemas.openxmlformats.org/officeDocument/2006/relationships/slide" Target="/ppt/slides/slide30.xml" Id="Rd999c12b4f034feb" /><Relationship Type="http://schemas.openxmlformats.org/officeDocument/2006/relationships/slide" Target="/ppt/slides/slide31.xml" Id="Rb2c5e37c89984142" /><Relationship Type="http://schemas.openxmlformats.org/officeDocument/2006/relationships/slide" Target="/ppt/slides/slide32.xml" Id="R6858acbb1a1a4c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001febd93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3888a30b8d4226" /><Relationship Type="http://schemas.openxmlformats.org/officeDocument/2006/relationships/notesMaster" Target="/ppt/notesMasters/notesMaster1.xml" Id="Re797ea0de2e4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d7e7bf19f64b86" /><Relationship Type="http://schemas.openxmlformats.org/officeDocument/2006/relationships/notesMaster" Target="/ppt/notesMasters/notesMaster1.xml" Id="R917bd9bb3d99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b845060bdb4220" /><Relationship Type="http://schemas.openxmlformats.org/officeDocument/2006/relationships/notesMaster" Target="/ppt/notesMasters/notesMaster1.xml" Id="R41d82e43f887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72d15cf513488a" /><Relationship Type="http://schemas.openxmlformats.org/officeDocument/2006/relationships/notesMaster" Target="/ppt/notesMasters/notesMaster1.xml" Id="Re0c510a4227941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bb4c8dc8994151" /><Relationship Type="http://schemas.openxmlformats.org/officeDocument/2006/relationships/notesMaster" Target="/ppt/notesMasters/notesMaster1.xml" Id="Rdf2b05848bca43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af980f501a4069" /><Relationship Type="http://schemas.openxmlformats.org/officeDocument/2006/relationships/notesMaster" Target="/ppt/notesMasters/notesMaster1.xml" Id="Rc1ad4f1e18c044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68cec054947af" /><Relationship Type="http://schemas.openxmlformats.org/officeDocument/2006/relationships/notesMaster" Target="/ppt/notesMasters/notesMaster1.xml" Id="Rbecd64c6dd964a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962d39e89c48cd" /><Relationship Type="http://schemas.openxmlformats.org/officeDocument/2006/relationships/notesMaster" Target="/ppt/notesMasters/notesMaster1.xml" Id="R5579526d39e849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2369ad5a8941a7" /><Relationship Type="http://schemas.openxmlformats.org/officeDocument/2006/relationships/notesMaster" Target="/ppt/notesMasters/notesMaster1.xml" Id="Rd1d754d573a346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44612cf1f04df1" /><Relationship Type="http://schemas.openxmlformats.org/officeDocument/2006/relationships/notesMaster" Target="/ppt/notesMasters/notesMaster1.xml" Id="Rc1885d66f5f942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2728898c4d4798" /><Relationship Type="http://schemas.openxmlformats.org/officeDocument/2006/relationships/notesMaster" Target="/ppt/notesMasters/notesMaster1.xml" Id="R19bb14c04eb34d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239bcf17024b81" /><Relationship Type="http://schemas.openxmlformats.org/officeDocument/2006/relationships/notesMaster" Target="/ppt/notesMasters/notesMaster1.xml" Id="R0989b8fb122946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a466e3cf2d4e5c" /><Relationship Type="http://schemas.openxmlformats.org/officeDocument/2006/relationships/notesMaster" Target="/ppt/notesMasters/notesMaster1.xml" Id="R7510e8965db140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83f6365bd14f1d" /><Relationship Type="http://schemas.openxmlformats.org/officeDocument/2006/relationships/notesMaster" Target="/ppt/notesMasters/notesMaster1.xml" Id="R137ca1b971a74b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7aba1baabe4dc3" /><Relationship Type="http://schemas.openxmlformats.org/officeDocument/2006/relationships/notesMaster" Target="/ppt/notesMasters/notesMaster1.xml" Id="R034a34d777bc40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05dbb2d72a49f3" /><Relationship Type="http://schemas.openxmlformats.org/officeDocument/2006/relationships/notesMaster" Target="/ppt/notesMasters/notesMaster1.xml" Id="R549b9c4e605846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d9fb5f6b204534" /><Relationship Type="http://schemas.openxmlformats.org/officeDocument/2006/relationships/notesMaster" Target="/ppt/notesMasters/notesMaster1.xml" Id="R4b76e4b19fee4b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9d23b2ea9b47f9" /><Relationship Type="http://schemas.openxmlformats.org/officeDocument/2006/relationships/notesMaster" Target="/ppt/notesMasters/notesMaster1.xml" Id="Rbe8eb6f5e09244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72b28f37dc4604" /><Relationship Type="http://schemas.openxmlformats.org/officeDocument/2006/relationships/notesMaster" Target="/ppt/notesMasters/notesMaster1.xml" Id="R199f36f91f4d44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222ebe657c4f0e" /><Relationship Type="http://schemas.openxmlformats.org/officeDocument/2006/relationships/notesMaster" Target="/ppt/notesMasters/notesMaster1.xml" Id="R908866e27f4b4b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4844a7565b4ad6" /><Relationship Type="http://schemas.openxmlformats.org/officeDocument/2006/relationships/notesMaster" Target="/ppt/notesMasters/notesMaster1.xml" Id="R2749dc81505e4a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791b1620094a91" /><Relationship Type="http://schemas.openxmlformats.org/officeDocument/2006/relationships/notesMaster" Target="/ppt/notesMasters/notesMaster1.xml" Id="R92ab2b65c2454b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924f8abd174126" /><Relationship Type="http://schemas.openxmlformats.org/officeDocument/2006/relationships/notesMaster" Target="/ppt/notesMasters/notesMaster1.xml" Id="Re78aa4fe750246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e5fe8f0e744022" /><Relationship Type="http://schemas.openxmlformats.org/officeDocument/2006/relationships/notesMaster" Target="/ppt/notesMasters/notesMaster1.xml" Id="R291495eca9d745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b127c846b34951" /><Relationship Type="http://schemas.openxmlformats.org/officeDocument/2006/relationships/notesMaster" Target="/ppt/notesMasters/notesMaster1.xml" Id="R7482c12f082247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5cff6324f248fa" /><Relationship Type="http://schemas.openxmlformats.org/officeDocument/2006/relationships/notesMaster" Target="/ppt/notesMasters/notesMaster1.xml" Id="R29531d52640148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b60153319e43a9" /><Relationship Type="http://schemas.openxmlformats.org/officeDocument/2006/relationships/notesMaster" Target="/ppt/notesMasters/notesMaster1.xml" Id="R607a938fb05f4d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8ca38c95f11438f" /><Relationship Type="http://schemas.openxmlformats.org/officeDocument/2006/relationships/notesMaster" Target="/ppt/notesMasters/notesMaster1.xml" Id="R8a4c3a29cedc43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32de2e6808430b" /><Relationship Type="http://schemas.openxmlformats.org/officeDocument/2006/relationships/notesMaster" Target="/ppt/notesMasters/notesMaster1.xml" Id="R2ec9d3e81e924c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34f8c710044ab9" /><Relationship Type="http://schemas.openxmlformats.org/officeDocument/2006/relationships/notesMaster" Target="/ppt/notesMasters/notesMaster1.xml" Id="Re3632b70dcb640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9774affad5a4738" /><Relationship Type="http://schemas.openxmlformats.org/officeDocument/2006/relationships/notesMaster" Target="/ppt/notesMasters/notesMaster1.xml" Id="R89e1ae7040af493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0c191e642647eb" /><Relationship Type="http://schemas.openxmlformats.org/officeDocument/2006/relationships/notesMaster" Target="/ppt/notesMasters/notesMaster1.xml" Id="Ra73eef651f2845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問題不在模型不夠聰明,而在每個模型都得重新推理一次,結果無法收斂。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對外只能說「只處理呼叫端送進來的最小化健康證據,不留存、不販售、不訓練、不作無關用途」;不能說「完全不碰健康資料」—— 接收並計算 Evidence 本身就是 transient processing。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這是隱私界線,不是效能設計。計畫與決策紀錄由呼叫端持有:Phase 1 存在 AI host 的記憶,Phase 2 存在使用者自己的資料庫 —— 兩種情況 hosted 都不留。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每個輸出都帶 confidence、evidence、signalCoverage、limits。缺的訊號列進 missing 並下調信心,不補造數值 —— 沒有 RPE 就是沒有,不是 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的界線:不直接連資料供應商、不持有來源 OAuth refresh token、不把 raw Evidence 寫入 database、file、object storage、queue 或 analytics。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決策型別:keep、adjust、substitute、defer、advance —— keep 也是決策。推論:計畫是決策的基底,沒有計畫只能推薦。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邏輯寫在 prompt 裡就會隨模型漂移;寫在引擎裡才可被驗證、可被回測。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計畫不是一份靜態文件:改掉其中一週,後面所有週會跟著重算。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實際分八層:Exercise、Workout、Program、User、Health、Training Load、Nutrition、Knowledge。我們這端的學習發生在引擎規則與知識圖譜(跨使用者的通則),不在個人資料。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換掉任何一家裝置商,AI 那一側完全不用改。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目前實作 3 家 parser(Apple Health／Garmin／Strava,Strava 含 API 與 bulk export 兩種方言),schema registry 涵蓋 6 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六個都通過 GPT-6 Test:每一個都需要這個人的證據、需要縱向計算,或提供確定性保證。search_exercise、compare_exercise 這類純知識查詢已經拿掉。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這條判準是每個 tool 的准入門檻,也是為什麼知識圖譜是內部證據來源而不是對外產品。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2 是核心宗旨要的那個版本,不是高隱私情境的選配。持久化只能存在於 Phase 2 —— raw payload、HRV／睡眠、每日狀態那些表在 hosted 一張都不能建。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關鍵字是「昨天」和「腿」:一個要跨來源歷程,一個要分肌群疲勞。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課表必須是一張可被改寫、且會自動往下傳遞影響的圖,不是一份文字清單。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這題會撞到動作本體資料的建置成本,Phase 1 範圍界定時要先想清楚。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傷勢必須是常駐資料,不能靠使用者每次自己記得講。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歷程由呼叫端隨呼叫傳入 —— hosted 不保存歷程,所以這一題的完整度取決於呼叫端手上有多少。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語音是最好的壓力測試:證據要夠小、計算要夠快 —— 實測單次決策 0.443 ms、零次外部 API 呼叫。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已完成的三項附實測數字;未完成的不給沒有出處的門檻數字 —— 原本的「替代動作合理率 ≥ 85%」、「Tool 選對率 ≥ 90%」都沒有出處,已移除。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5a70a4ca2470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12277a25be4a61" /><Relationship Type="http://schemas.openxmlformats.org/officeDocument/2006/relationships/slideLayout" Target="/ppt/slideLayouts/slideLayout1.xml" Id="R697071dc5ac844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7071dc5ac844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61390508a4488" /><Relationship Type="http://schemas.openxmlformats.org/officeDocument/2006/relationships/notesSlide" Target="/ppt/notesSlides/notesSlide1.xml" Id="Rb2a505ca3e5644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51dbf91da4836" /><Relationship Type="http://schemas.openxmlformats.org/officeDocument/2006/relationships/notesSlide" Target="/ppt/notesSlides/notesSlide2.xml" Id="R7875aa163280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d1c566aac41ff" /><Relationship Type="http://schemas.openxmlformats.org/officeDocument/2006/relationships/notesSlide" Target="/ppt/notesSlides/notesSlide3.xml" Id="Ra384858fd30c42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28a9ac9fa4958" /><Relationship Type="http://schemas.openxmlformats.org/officeDocument/2006/relationships/notesSlide" Target="/ppt/notesSlides/notesSlide4.xml" Id="R2567eb36619a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e60000d554889" /><Relationship Type="http://schemas.openxmlformats.org/officeDocument/2006/relationships/notesSlide" Target="/ppt/notesSlides/notesSlide5.xml" Id="Rf10981d2cf8946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e3cd439e44b1" /><Relationship Type="http://schemas.openxmlformats.org/officeDocument/2006/relationships/notesSlide" Target="/ppt/notesSlides/notesSlide6.xml" Id="R1a788733310140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445cc59c74ee1" /><Relationship Type="http://schemas.openxmlformats.org/officeDocument/2006/relationships/notesSlide" Target="/ppt/notesSlides/notesSlide7.xml" Id="R8871e51fa0ef42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327d6e41f4dbd" /><Relationship Type="http://schemas.openxmlformats.org/officeDocument/2006/relationships/notesSlide" Target="/ppt/notesSlides/notesSlide8.xml" Id="R9061fad0a31d43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4dc94469c4e8e" /><Relationship Type="http://schemas.openxmlformats.org/officeDocument/2006/relationships/notesSlide" Target="/ppt/notesSlides/notesSlide9.xml" Id="R5cf328c41a8647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41efa45e44208" /><Relationship Type="http://schemas.openxmlformats.org/officeDocument/2006/relationships/notesSlide" Target="/ppt/notesSlides/notesSlide10.xml" Id="R0b7c7f469d254c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774f1d312474c" /><Relationship Type="http://schemas.openxmlformats.org/officeDocument/2006/relationships/notesSlide" Target="/ppt/notesSlides/notesSlide11.xml" Id="Reebca2ed0cc54c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8936021684aa2" /><Relationship Type="http://schemas.openxmlformats.org/officeDocument/2006/relationships/notesSlide" Target="/ppt/notesSlides/notesSlide12.xml" Id="R21b30c851f1342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c0d459b194344" /><Relationship Type="http://schemas.openxmlformats.org/officeDocument/2006/relationships/notesSlide" Target="/ppt/notesSlides/notesSlide13.xml" Id="Rdca1418542db45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4f531f37416c" /><Relationship Type="http://schemas.openxmlformats.org/officeDocument/2006/relationships/notesSlide" Target="/ppt/notesSlides/notesSlide14.xml" Id="R426db34d55f34f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d2498444f4fb4" /><Relationship Type="http://schemas.openxmlformats.org/officeDocument/2006/relationships/notesSlide" Target="/ppt/notesSlides/notesSlide15.xml" Id="R7c5639581ddf4a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3edf8dde24ca9" /><Relationship Type="http://schemas.openxmlformats.org/officeDocument/2006/relationships/notesSlide" Target="/ppt/notesSlides/notesSlide16.xml" Id="R1c0a2483487c40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59a472bdc48a7" /><Relationship Type="http://schemas.openxmlformats.org/officeDocument/2006/relationships/notesSlide" Target="/ppt/notesSlides/notesSlide17.xml" Id="Ree660caccba349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efbc5f02c4783" /><Relationship Type="http://schemas.openxmlformats.org/officeDocument/2006/relationships/notesSlide" Target="/ppt/notesSlides/notesSlide18.xml" Id="Reeff0a81f75442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0173dfeb840f5" /><Relationship Type="http://schemas.openxmlformats.org/officeDocument/2006/relationships/notesSlide" Target="/ppt/notesSlides/notesSlide19.xml" Id="R1991554f09ce41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234daebbe45f4" /><Relationship Type="http://schemas.openxmlformats.org/officeDocument/2006/relationships/notesSlide" Target="/ppt/notesSlides/notesSlide20.xml" Id="R7cebaeebc4eb42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d999145094fe2" /><Relationship Type="http://schemas.openxmlformats.org/officeDocument/2006/relationships/notesSlide" Target="/ppt/notesSlides/notesSlide21.xml" Id="R1b90e7bd74b148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74041189140bb" /><Relationship Type="http://schemas.openxmlformats.org/officeDocument/2006/relationships/notesSlide" Target="/ppt/notesSlides/notesSlide22.xml" Id="R0e240570e30f4d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ee6a03a9140b9" /><Relationship Type="http://schemas.openxmlformats.org/officeDocument/2006/relationships/notesSlide" Target="/ppt/notesSlides/notesSlide23.xml" Id="Rf368fbcb127546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df050d1e94b43" /><Relationship Type="http://schemas.openxmlformats.org/officeDocument/2006/relationships/notesSlide" Target="/ppt/notesSlides/notesSlide24.xml" Id="Rd28e8152fd8c4d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7183f114d4720" /><Relationship Type="http://schemas.openxmlformats.org/officeDocument/2006/relationships/notesSlide" Target="/ppt/notesSlides/notesSlide25.xml" Id="R3a9d9afa0080435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16a55655048c8" /><Relationship Type="http://schemas.openxmlformats.org/officeDocument/2006/relationships/notesSlide" Target="/ppt/notesSlides/notesSlide26.xml" Id="Rf117b7532c084a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62118868e4216" /><Relationship Type="http://schemas.openxmlformats.org/officeDocument/2006/relationships/notesSlide" Target="/ppt/notesSlides/notesSlide27.xml" Id="R3127adb7b6f641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f79eb36ad4af0" /><Relationship Type="http://schemas.openxmlformats.org/officeDocument/2006/relationships/notesSlide" Target="/ppt/notesSlides/notesSlide28.xml" Id="R883556487c4d41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d1929e4484b46" /><Relationship Type="http://schemas.openxmlformats.org/officeDocument/2006/relationships/notesSlide" Target="/ppt/notesSlides/notesSlide29.xml" Id="R3c05a07a9cc1475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6cdbbd580470a" /><Relationship Type="http://schemas.openxmlformats.org/officeDocument/2006/relationships/notesSlide" Target="/ppt/notesSlides/notesSlide30.xml" Id="Re17089e838184d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83426f97a4164" /><Relationship Type="http://schemas.openxmlformats.org/officeDocument/2006/relationships/notesSlide" Target="/ppt/notesSlides/notesSlide31.xml" Id="R1a6f2868f4104b8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9a04a6344645" /><Relationship Type="http://schemas.openxmlformats.org/officeDocument/2006/relationships/notesSlide" Target="/ppt/notesSlides/notesSlide32.xml" Id="Rdbd56ac847b2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81B93F-1C40-496F-AFB9-A6D18B2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1463040"/>
            <a:ext cx="5120640" cy="5120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E63EF0-43C5-4BE7-AFCA-05F4EA0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7472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315883-9127-47A8-8A78-294543F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84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EE1865-1ADF-4751-9459-A64D120F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207008"/>
            <a:ext cx="7315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產品願景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2837ED-AAB3-4017-9B99-BCCF711D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87782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6000"/>
              </a:lnSpc>
              <a:buNone/>
            </a:pPr>
            <a:r>
              <a:rPr sz="50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Pacevera</a:t>
            </a:r>
            <a:endParaRPr sz="5000"/>
          </a:p>
          <a:p xmlns:a="http://schemas.openxmlformats.org/drawingml/2006/main">
            <a:pPr marL="0" indent="0">
              <a:lnSpc>
                <a:spcPts val="6000"/>
              </a:lnSpc>
              <a:buNone/>
            </a:pPr>
            <a:r>
              <a:rPr sz="50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訓練決策引擎</a:t>
            </a:r>
            <a:endParaRPr sz="5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2F76F80-C506-488D-B8B1-6C0632F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40"/>
            <a:ext cx="8595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把不同來源的資料整理成今天可執行、而且說得清楚的訓練調整。健康歷史仍由你控制。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7354A37-0D2C-4DFF-ADC3-60F92A9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61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37E684-BC3F-4415-B37C-3F16DCC9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公開預覽 · 桌面版 · v0.5.0 → 本機私人引擎</a:t>
            </a:r>
          </a:p>
        </p:txBody>
      </p:sp>
    </p:spTree>
    <p:extLst>
      <p:ext uri="{BB962C8B-B14F-4D97-AF65-F5344CB8AC3E}">
        <p14:creationId xmlns:p14="http://schemas.microsoft.com/office/powerpoint/2010/main" val="1704925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967E59-AABC-42FD-88FC-38A40D1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7D0696-0215-4930-AAD5-890DE9C7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簡報大綱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6230BF-86C6-42E4-B5BA-56693825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這份簡報講三件事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03C7F9A-D0D4-43BE-BD0A-383338E2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先看今天的訓練調整，再看資料如何支持這個決定，最後看產品現況與下一步。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78EB88-787C-41B1-A336-DE326E54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91840" cy="237744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F16A461-BE77-4336-ABCC-34480645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01</a:t>
            </a:r>
            <a:endParaRPr sz="2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271A81-85E8-4964-94C2-9161B181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23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核心概念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0AD6482-C92E-4985-ADDD-DB3B1699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26280"/>
            <a:ext cx="2788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從原定課表到今天要做什麼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EEF99F-6E41-4C7A-A0D3-2BC859F9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00400"/>
            <a:ext cx="3291840" cy="237744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5D4EAB7-CB64-4C94-9FC0-D8008626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29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02</a:t>
            </a:r>
            <a:endParaRPr sz="2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986431-E144-489B-AC86-9C8D763D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023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核心功能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32B5675-80D4-4F26-8244-9E8F9994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526280"/>
            <a:ext cx="2788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資料、理由、缺少的訊號與信心都可檢查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7470305-704A-4F1A-91BE-CEBBFD6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200400"/>
            <a:ext cx="3291840" cy="237744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035B19-E7FD-4517-9050-E88D539B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429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03</a:t>
            </a:r>
            <a:endParaRPr sz="2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266CEB2-5782-42EA-A515-B44C828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23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應用情境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1AFE0F7-BCCC-4C87-A01C-E43E074F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26280"/>
            <a:ext cx="2788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AI 介面可以替換，健康歷史留在你的控制範圍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946C998-2D2B-4160-A77F-102C3423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21577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4ADFB-E5C7-4B13-AF08-A7EB547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FD06BA-0024-4E52-B9A7-D343956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C1DD546-697E-441B-A8D6-81FD52FC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一般 AI 知道運動知識，卻不知道連續的你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CF78D5-5FD2-4721-B1B8-740B0DC5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睡眠在一個 App、跑步在另一個、重訓在第三個,沒有人負責把它們接成同一個人。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64E85F8-011A-44C6-95A3-370645B0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458CDD-E17B-47F6-8BD7-7765535E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Apple </a:t>
            </a: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健康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7C0C31-CC64-4181-BDB7-DA212380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睡眠 · HRV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0B6B653-F491-4A7A-85B0-38DF98F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CF4DC2-12CE-43C0-898F-5FD14B72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Garmin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AD1D9F3-763F-48C6-A246-4224372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恢復 · 訓練狀態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77BF84C-821D-4070-8BE5-FAA5974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71FBA4-11DD-4C1E-B248-078CFEB6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Strava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A09485A-5BE5-43C0-B310-9758EB54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跑步 · 騎車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69DC4B-7D63-44DF-8385-8847AFBA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568F06B-2DCB-4EEF-A0E7-5C8CA2E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健身房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B5A4403-ABB9-4739-9BB1-4BD26EB9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BA3B4"/>
                </a:solidFill>
                <a:latin typeface="Arial"/>
                <a:ea typeface="Arial"/>
                <a:cs typeface="Arial"/>
              </a:rPr>
              <a:t>沒有任何紀錄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3B6812C-7CB6-47D8-925E-D07F876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每一段都是真的,合起來卻拼不出「他今天到底能不能練」。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9F8E9ED-878D-4CB3-B61B-16E0DA9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31322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421533-EEE7-4ECD-9CAB-98A908D2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40DA49-96E2-4C3F-93FC-A341572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FC67CD-0399-41DF-99A2-44FEE394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所以使用者每一次都要重新自我介紹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C66C3D-D2FD-4E6F-9AF7-4DBF3E6A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換一個模型、換一個對話視窗,理解就歸零 —— 而人的身體狀態是連續的。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A84F6E-E326-4C01-9466-9191663E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9184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7363257-1577-41C8-B6C4-FF8FEA3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ChatGPT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8D00D8-1833-42B8-AA6D-56133536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97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各自從零解析原始資料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5B3EB2A-A59C-4843-94D3-8C3CA190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0916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4C4E72-6A9C-4C72-8589-5243A825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6460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結論 1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FADB9DD-74DF-4B35-AAAE-66582A3F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1719FB9-31F1-45ED-B94D-719D8C60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Claude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748430-D8F5-4A0E-A60E-CF6E86C5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297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各自從零解析原始資料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7295A92-F0D7-4F59-B4B7-2061BA9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70916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86F3A1-4AF6-46B1-A2CF-086E43C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86460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結論 2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D1171EC-5146-4DF3-B9CF-C60F8173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0"/>
            <a:ext cx="329184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DE0B2E-EE6B-4BBC-9A7F-1BFA227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86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Gemini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5DAA32-6C2B-413E-B66A-9EC34EF0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297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各自從零解析原始資料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6DF9F93-8D0F-482E-A242-616F1F9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219F725-42E2-49B3-88C2-8C0ECE5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6460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結論 3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858B298-F4A0-4B98-AD30-6E2F3111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95182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2FB35A-3900-478B-8AAB-47B8256C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70E589-13E9-4862-A182-B9F5C855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0B4B2A2-968E-4574-B4A7-4AE29415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我們要建立 AI 與今天訓練決定之間的一層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E157979-E25D-40FF-9297-C76B0247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把多來源資料整理、判斷、說明，讓任何 AI 都能讀到同一份「這個人現在怎麼樣」。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D21561-4D3A-4138-B6CD-765CD220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10817352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E822FC-26C0-4C02-BA79-4A9C81C1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93008"/>
            <a:ext cx="9875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個人化的健康與訓練決策層</a:t>
            </a:r>
            <a:endParaRPr sz="3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2ADB46-B0A9-4090-A882-A2D9EE4F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96512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E0C4"/>
                </a:solidFill>
                <a:latin typeface="Arial"/>
                <a:ea typeface="Arial"/>
                <a:cs typeface="Arial"/>
              </a:rPr>
              <a:t>整理資料  →  形成判斷  →  說明結果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BF7DC26-1337-439E-8B65-C10FB23C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2080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3C9D6"/>
                </a:solidFill>
                <a:latin typeface="Arial"/>
                <a:ea typeface="Arial"/>
                <a:cs typeface="Arial"/>
              </a:rPr>
              <a:t>產品不是畫面。ChatGPT、Claude、手錶或語音，都只是使用這一層的入口。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716FE13-6B34-4D4A-B760-4DECF60D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03631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267CCD-A5C9-467B-A3E2-CA2DA063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5CDD72-F820-44FE-BF1F-AB991F55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805F81-3980-49B6-9B75-ADC45FE8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AI 負責溝通，Pacevera 負責做決定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E6631E-409F-420B-A866-29B76023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AI 負責理解問題與說明結果；Pacevera 在使用者控制的資料範圍內負責計算、判斷與追溯。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8472B9-00CC-4695-B713-D17DF733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B87543-4384-45CD-9F05-9B1E9C2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使用者要的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216167F-4355-41A0-B57B-7CBE88F9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今天照不照原課表、具體改成什麼、為什麼、缺什麼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646501E-3B66-4B99-891D-5D3564B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BAA14A7-24A0-4937-9FD2-85F33DAF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使用者不要的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6423794-1ECA-4A93-831E-3128A9C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不讓每個 AI 服務各自保存完整健康歷史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EBB1D7B-9309-4843-8C9B-9EFC167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本機版本可以保存資料；遠端服務只處理這次回答所需的最少資料。兩種模式的隱私承諾不同。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7E89C5A-A525-4511-BDE2-770E75E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2770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9E6DFC-E2AE-4604-AE48-39350AD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C091C1-A332-44FA-8520-43D2804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AC8895-A3C2-4BA2-AAC2-64A7FD7F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資料留在你的控制範圍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EC1064-2160-4A22-82BC-722510A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匯出檔、使用者口述與使用者日誌，現在就能作為有效資料來源；未來接上連接器後也不會失效。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14BD125-5E36-4678-8486-A132574A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0CB9821-6F42-405A-8A0D-541DFB23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7530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A1B0"/>
                </a:solidFill>
                <a:latin typeface="Arial"/>
                <a:ea typeface="Arial"/>
                <a:cs typeface="Arial"/>
              </a:rPr>
              <a:t>使用者控制環境保存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FF3B73-AB05-4116-A8BE-AAAB47B1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匯出檔 · 使用者口述 · 使用者日誌 · 連線憑證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06DDD8-D299-45CF-9E67-583A23AD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D46C02-3D8A-4BE7-BF50-ADEEBED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5546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AI 每次只取得必要資料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BD8D3BE-6D34-4A0F-8FB3-30F7011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2122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>原定訓練 · 今日訓練 · 判斷理由 · 缺少資料 · 可追溯紀錄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4F96DE-833E-4316-AD25-CB8AE909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30531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312607-1592-4E43-9EF2-CB4B7CA5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4ADB61-6EB4-44A3-AE3B-39DE8656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93D3C3-2E6A-48E1-8BC0-94CE3EAF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輸出不是分數，是今天的調整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BC7E46-9AFB-4843-A42A-799857D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Pacevera 回傳決定、動作、理由，以及信心與資料完整度；AI 讀到的是可以直接說明的結果。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DBAE556-69C5-41FE-8504-75B6A98F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51206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5AC8039-3D66-4FA1-960D-C6F9430C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64992"/>
            <a:ext cx="45720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健康狀態：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恢復程度：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62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疲勞程度：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48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訓練準備程度：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55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近期負荷 ACWR：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1.52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信心：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0.71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</a:t>
            </a: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缺少資料：RPE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B518C8-9886-4298-93C6-20FDD930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54680"/>
            <a:ext cx="5148072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18208F-F698-4763-8FB7-7BB09D5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64992"/>
            <a:ext cx="45720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決定：調整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動作：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原定訓練：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VO₂max Intervals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今日訓練：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 Zone 2 · 45 min</a:t>
            </a:r>
          </a:p>
          <a:p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理由：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- ACWR 1.52 &gt; 1.40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- 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睡眠不足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· HRV -12%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7431D1-2805-4F30-A4CC-F1FE3C37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43693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2C37C0-3063-4E72-9452-266C3BBD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ED80DE-36BF-4045-9365-568ADB8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第一部分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DA139E-31E0-45F1-9562-C1EFC2B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四層架構：資料邊界與決策責任分開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9178D4-2C2C-4F33-8D15-30A6E2E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AI 可以替換，決定可以重現，資料與登入憑證留在使用者控制的範圍內。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DD3A18-FABC-44AC-8541-C43ADE1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D06CA8-CAEF-4082-A433-F44C75B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9981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5017F56-17A1-4ACB-8343-6003073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926080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AI／使用介面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09553F-12D3-4A0A-A6EB-A2BDDB17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26080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Claude · ChatGPT · Gemini · </a:t>
            </a: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網頁</a:t>
            </a: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 · </a:t>
            </a: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手機</a:t>
            </a: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 · </a:t>
            </a: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團隊系統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2756BAC-8512-4013-9465-CB4BAA75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39F69-F34F-45C3-81D5-2972082B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9534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69D0099-D671-4857-89F7-C3422F26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721608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Pacevera 介面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7ED017-1FC9-440D-93D5-ED69575B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21608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桌面版 · 私人連線 · 遠端服務 · 未來 </a:t>
            </a: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系統介面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836E19-5F69-4397-AE62-E73AEF2E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C1F3CB-3FF2-4A85-A34F-1C102A01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9087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06B89D9-7432-4148-866F-F69C0FBC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17136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決策基礎設施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AA7E1B-0E92-4192-9136-9933537D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17136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健康狀態 · 決策引擎 · 規則與決定流程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73D1C12-23E9-42F3-9E7A-BC0CEB09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2664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E1697D9-DBB8-4FE6-91EB-8E594EBD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6FE4DAD-EC8F-4742-A077-246DF658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312664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使用者控制的資料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8262B0E-78DB-40D2-B2F5-C87B743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2664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本機連接器 · 登入憑證 · 原始歷史 · 計畫 · 執行結果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D77FE56-326A-4251-8B64-170237A4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11027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9EA9B7-226B-4869-8576-ABE395C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EC1D0F-E1C5-49ED-A13A-09152AB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8AD4D9-4869-411F-994D-789868CB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我們給的是決策，不是建議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3EB26F-794A-401C-8D67-C0BDAB04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建議可以直接說出口；可執行的決定則必須知道今天原本排了什麼，才能說明要如何調整。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67FF9C-DE6D-402D-8895-4A8841D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93712B-9EDF-4A5F-9820-91B66BD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7530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A1B0"/>
                </a:solidFill>
                <a:latin typeface="Arial"/>
                <a:ea typeface="Arial"/>
                <a:cs typeface="Arial"/>
              </a:rPr>
              <a:t>一般建議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A52D56-77C2-4891-AB55-C3364B7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「建議今天跑 Zone 2」 —— 憑空發出,GPT-6 也做得到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E1F19A7-1CFE-44D4-95DC-B92A459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DB3FC03-0EEC-4918-8C42-67201766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5546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可執行的決定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79FBA0-30C9-4864-90E4-F1EA905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2122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「今天的 VO₂max Intervals → 45 分鐘 Zone 2」 —— 對既有計畫的變更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53413A0-71AE-403B-AA3F-18304161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645204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1E0AC19-1516-448C-AA07-060C9541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8912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</a:t>
            </a: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核心功能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9EEC18-E4DB-49CA-98A1-77E842C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86384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 負責溝通，Pacevera 負責做決定。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E9CD20C-0798-410F-9A3A-71FD0FF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9692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8645C"/>
                </a:solidFill>
                <a:latin typeface="Arial"/>
                <a:ea typeface="Arial"/>
                <a:cs typeface="Arial"/>
              </a:rPr>
              <a:t>一句自然語言問題，透過資料與固定規則，轉成可以執行的訓練調整。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97AF12-183C-490B-AD9B-E06C6E65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一個完整的決定流程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E0AB9DC-0C82-41F8-862F-892207F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20116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1  </a:t>
            </a: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 教練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理解問題 · 呼叫工具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6F515C1-85FD-453F-8C55-60CBC158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2706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AD22DC1-6D29-4A0C-886A-52DFB4F7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331720"/>
            <a:ext cx="2331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B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2  Pacevera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C9D0C8"/>
                </a:solidFill>
                <a:latin typeface="Arial"/>
                <a:ea typeface="Arial"/>
                <a:cs typeface="Arial"/>
              </a:rPr>
              <a:t>計算 · 做決定 · 記錄理由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37AE18B-699B-46AE-AE3F-4831AAB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706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98CB918-2C44-43A5-9951-52C5EEA1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31720"/>
            <a:ext cx="2148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3  </a:t>
            </a: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資料與規則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恢復 · 疲勞 · 負荷 · 計畫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F3FF54-6713-4425-871F-07515687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706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A0DDC99-69E2-4422-9B4A-BB4DFCB2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331720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4  </a:t>
            </a: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可執行的決定</a:t>
            </a: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+ </a:t>
            </a: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理由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維持 · 調整 · 延後 · 只改今天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70E1D86-0EBF-4349-9439-2D85B957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05072"/>
            <a:ext cx="1074420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CD905D-C9E3-499A-9228-D13D41A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24528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Pacevera 回傳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086BB2C-3AB7-4AD4-9A15-3125609B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17136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一個可以直接執行的調整，並附上理由與限制。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8E94C3-F2D6-40A3-9856-93B6DC5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22452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原定訓練 → 今日訓練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DAC6483-0DEC-4728-ABDE-4A2A9D7C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224528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理由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2C794-7DF7-480A-AFF8-A25D9E3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24528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缺少資料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EFA6B11-450B-4EA1-90B3-A5E536B2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2452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信心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2F50FD7-16DC-41C5-8CE2-1683AEBE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553712"/>
            <a:ext cx="1143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Tempo → Moderate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6041730-52B6-46B5-B60F-0B0BF996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55371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F1E1D"/>
                </a:solidFill>
                <a:latin typeface="Arial"/>
                <a:ea typeface="Arial"/>
                <a:cs typeface="Arial"/>
              </a:rPr>
              <a:t>準備程度低於門檻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05CB06-0584-4036-A859-76510C4C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553712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1E1D"/>
                </a:solidFill>
                <a:latin typeface="Arial"/>
                <a:ea typeface="Arial"/>
                <a:cs typeface="Arial"/>
              </a:rPr>
              <a:t>sleep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1CF5335-92B2-4153-8604-A2ECC744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53712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中等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FC243E1-FE67-4786-9C6F-4A4C0D8D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144768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8645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9229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7A9F21-BA18-4D07-952B-D393B96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7A50B9-346E-451B-8A2D-F56D37A5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782908-8B31-4188-B822-8AD5AADF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先整理資料，再用規則做決策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46BD5B-D830-48FE-8637-D6F7830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先把不同來源的資料整理成同一套格式，再用固定規則算出決定，最後才交給 AI 說明。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90F3E2-8CEA-4643-9DC7-3F2BB69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0440"/>
            <a:ext cx="512064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62D81C-8A7A-42A4-8BAC-9FF63FA1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03320"/>
            <a:ext cx="4480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如果近期負荷 ACWR &gt; 1.40</a:t>
            </a:r>
            <a:endParaRPr sz="140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 + </a:t>
            </a: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睡眠不足</a:t>
            </a:r>
            <a:endParaRPr sz="140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 </a:t>
            </a: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+ 昨天腿部疲勞</a:t>
            </a:r>
            <a:endParaRPr sz="140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 Intervals → Zone 2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4D7B78-50C8-4701-8DF1-3170EFCC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20440"/>
            <a:ext cx="5148072" cy="48463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CE1151B-01A6-48BE-A895-9333E0E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5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D0C81F4-09FD-4185-8CE4-5655C20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20440"/>
            <a:ext cx="17373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整理資料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6C83D1B-10B8-43A7-B6A4-0E30211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520440"/>
            <a:ext cx="25603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不同來源的資料整理成一份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DFC6554-A56B-4D7B-AB07-D225147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096512"/>
            <a:ext cx="5148072" cy="48463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8B8262E-40D0-4854-8564-13C26858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A39650E-EF8F-43B6-92E1-CC65CE21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96512"/>
            <a:ext cx="17373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規則引擎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B014C92-6B8B-41B2-8121-24824F9E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096512"/>
            <a:ext cx="25603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固定計算與安全底線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0937514-58F9-4368-A965-AFB73042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72584"/>
            <a:ext cx="5148072" cy="48463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0683F73-55A6-4237-8795-A63B738B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80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2A7C38-F564-49A9-A74F-D15824C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672584"/>
            <a:ext cx="17373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 說明層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56C361E-CDA9-4A3E-B20C-4DD81C9C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72584"/>
            <a:ext cx="25603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把結果說成人聽得懂的話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3FD05AB-728B-4ED5-9578-1BF72762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2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我們的程式不呼叫模型來產生決策 —— 同樣的證據送兩次,必須得到同一個決策。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B13B1E-2E91-48A9-BDFB-614A083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9151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ADB783-B090-4712-B5F0-11F2174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5033DD-7B13-48DD-8A3A-791E7E4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3074D4-0B01-43C3-A074-A12EC8C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從計畫到今天：改動要能執行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104EA0-E1B9-408D-94A4-DECC7949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把目標、歷程、時間、器材、恢復一起算進去,產出可執行的多週期計畫。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7DA29BE-4BC4-4E72-B0D9-E0F285C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62471D-10A7-466F-A4E1-07DEDD8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目標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BF1C61-8FFD-4953-BB1A-079BBF7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81296C-73E0-4885-8112-2A4E853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歷史紀錄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528B029-3156-4028-8F6D-AF1B103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2816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4018B2-5931-44CA-A288-53E572AC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2816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時間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24EE4-2B1D-4C8C-B4F8-974C65ED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9744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82637C-A9B0-4123-89BB-5F4656E1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9744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器材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8D0A8F9-8C48-42E4-9DE4-18CF067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6672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50097D7-E0F0-4B91-86FA-883BB67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6672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恢復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347A122-807A-4306-973B-8C2532FE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160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5A6376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918E87A-258E-41C5-A4E7-0890073C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2926080" cy="2505456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80E001-992F-46D6-B883-73ECBDA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2926080" cy="2505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600"/>
              </a:lnSpc>
              <a:buNone/>
            </a:pPr>
            <a:r>
              <a:rPr sz="20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訓練規劃</a:t>
            </a:r>
            <a:endParaRPr sz="2000"/>
          </a:p>
          <a:p xmlns:a="http://schemas.openxmlformats.org/drawingml/2006/main">
            <a:pPr marL="0" indent="0" algn="ctr">
              <a:lnSpc>
                <a:spcPts val="2600"/>
              </a:lnSpc>
              <a:buNone/>
            </a:pPr>
            <a:r>
              <a:rPr sz="20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引擎</a:t>
            </a:r>
            <a:endParaRPr sz="2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8C98744-8123-4850-9F45-40827CFC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160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5A6376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3C34781-650F-47FA-A77A-5005887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8960"/>
            <a:ext cx="3502152" cy="2505456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ADE816-9066-415B-9302-DDB9E6F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12 週半馬計畫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F04D57B-75EC-49E4-BE8E-9C833FC6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86200"/>
            <a:ext cx="30175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第 1 週 — 建立基礎</a:t>
            </a:r>
            <a:endParaRPr sz="1300"/>
          </a:p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第 4 週 — 出差，自動降低負荷</a:t>
            </a:r>
            <a:endParaRPr sz="1300"/>
          </a:p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第 8 週 — 強度訓練</a:t>
            </a:r>
            <a:endParaRPr sz="1300"/>
          </a:p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第 12 週 — 賽前減量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D520812-FA11-49AF-97C8-928BB02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8165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A0B8D17-6BA9-452C-A0C7-4649C287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017BF6-9533-4E8B-B780-2DE30D67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A95E37E-A8F7-4E79-9794-D408EE96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知識圖譜只在系統內部支援判斷，不是對外產品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BFA58F-AD47-410C-BDA3-0947CC91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889 節點 / 5,785 邊,</a:t>
            </a: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只在系統內部支援判斷；對外提供的是決定，不是圖本身。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D9E384-3235-49E8-94CD-F081D230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59EE924-9786-4527-9430-90978457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8300F8-1DF0-45D7-97AC-FC96F62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使用者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3CAB0E-6622-4958-8B4E-4E84AEE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目標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健康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恢復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偏好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傷勢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行事曆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6C1137C-CD88-4543-9D06-F22930AF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EF2D5F5-17EB-416B-92FD-3CA62C3D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A02A2A4-1422-4266-B962-0B83B41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動作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8C39886-5D9B-413B-85BA-9E8643B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肌群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關節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器材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動作模式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風險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變化動作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41E98B2-26B5-4FF8-9905-CBABC84F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E7894E3-D506-48F9-A205-C72AF5DE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495C00-EF61-4E69-A940-32AC57A4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單次訓練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745A9D-C448-482D-91DE-1CA86CB6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動作</a:t>
            </a: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s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訓練量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強度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疲勞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恢復</a:t>
            </a: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 Cost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D5DB18B-EE75-49C0-8446-FF5D4EB3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243939D-00B5-4E96-BBC7-F9F68824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3DEBBB7-EE7A-4B88-95D6-DCE08BEF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訓練計畫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E072786-6D7B-4067-A2D2-DEE4EBF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目標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週數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週期安排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單次訓練</a:t>
            </a: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s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2E56F43-81D3-4373-B484-5E369012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978250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75BCBC-CA6C-4703-9B22-AB6EC9A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531325-2B36-4F47-A4B9-CCD5349F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8EC69D-56E2-4990-AC40-A3B6F6CA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動作之間的關係先整理好，不靠每次對話重新猜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78AED98-0775-4196-BBE1-8F70106C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「找替代動作」變成一次圖查詢,而不是每次靠語言重新猜一遍。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39930AF-492F-4CF3-9BFC-DE91E186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0755ABD-5339-462C-9175-C8F86A7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Goblet Squat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065255-5F2A-4658-93FE-D6AE7C8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429000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是變化動作</a:t>
            </a: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→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288409-8167-4E3D-A062-40E9E13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29000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CAFAF6-C3AB-4A0E-BCB6-5445B707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29000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Squat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BFAF1A0-8AB6-4A98-BAA7-28B8306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0000D7-8140-49C1-86E7-C026BEF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背部</a:t>
            </a: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Squat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CD7C6B9-00AD-4EB8-A921-F4C082D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42232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可進階到</a:t>
            </a: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→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D122B1-FF99-43CA-9EA4-D322665A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42232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2C82437-B60A-4D07-A737-4C6A8AA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42232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Front Squat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9F48F4-A367-49D5-953F-E958B25B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5464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5F8B0C9-2D8F-4F17-BB8B-DAC3CE0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5464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Split Squat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62CB42-F445-4837-BF12-C4629444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855464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和它相似</a:t>
            </a: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→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83F3C-FEE4-4DAC-AC41-2AA0C0D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855464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1E22016-0C61-4484-AC22-65B4C7EE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855464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Lunge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9C0C1F-3FD6-449A-931C-1E514CD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每個動作還有主要肌群、關節、器材、難度、恢復成本與受傷風險等資料。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6EA9EAA-F6C7-40CB-8701-AC13AC0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586234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A24B20-4A7F-495B-8308-8ECDFF9D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C416C5-4AE1-483D-BDB6-C0677CD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8F295BA-7ED8-4F1B-B5C4-145E2CD7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疲勞要落到肌群,不能只有一個全身分數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9C8949-E56B-47BB-A2C3-5B1C4B9C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「今天不要再練胸」這種建議,前提是系統知道胸還剩多少。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1E9158-3D36-4B47-8B97-4ACE9EEC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399"/>
            <a:ext cx="4206240" cy="2685393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85BC07-121A-4308-B586-2F1D1EB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01568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全身負荷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F8EFBC-817E-42D8-91B2-EA793EF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40480"/>
            <a:ext cx="3611880" cy="1950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單次訓練</a:t>
            </a:r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  →  </a:t>
            </a:r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訓練負荷</a:t>
            </a:r>
            <a:endParaRPr sz="1500"/>
          </a:p>
          <a:p xmlns:a="http://schemas.openxmlformats.org/drawingml/2006/main">
            <a:pPr marL="0" indent="0">
              <a:lnSpc>
                <a:spcPts val="2600"/>
              </a:lnSpc>
              <a:buNone/>
            </a:pPr>
            <a:endParaRPr sz="1500"/>
          </a:p>
          <a:p xmlns:a="http://schemas.openxmlformats.org/drawingml/2006/main"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ATL 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（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短期訓練負荷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）</a:t>
            </a:r>
          </a:p>
          <a:p xmlns:a="http://schemas.openxmlformats.org/drawingml/2006/main"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急性訓練負荷（短期疲勞）</a:t>
            </a:r>
            <a:endParaRPr sz="1200" b="1">
              <a:solidFill>
                <a:schemeClr val="bg1">
                  <a:lumMod val="75000"/>
                </a:schemeClr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CTL 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（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長期訓練負荷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）</a:t>
            </a:r>
          </a:p>
          <a:p xmlns:a="http://schemas.openxmlformats.org/drawingml/2006/main"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慢性訓練負荷（長期體能）</a:t>
            </a:r>
            <a:endParaRPr sz="1200">
              <a:solidFill>
                <a:schemeClr val="bg1">
                  <a:lumMod val="75000"/>
                </a:schemeClr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5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TSB</a:t>
            </a:r>
            <a:r>
              <a:rPr sz="15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  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（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訓練壓力平衡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）</a:t>
            </a:r>
          </a:p>
          <a:p xmlns:a="http://schemas.openxmlformats.org/drawingml/2006/main"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訓練壓力平衡（恢復程度）</a:t>
            </a:r>
            <a:endParaRPr sz="1200">
              <a:solidFill>
                <a:schemeClr val="bg1">
                  <a:lumMod val="75000"/>
                </a:schemeClr>
              </a:solidFill>
            </a:endParaRPr>
          </a:p>
          <a:p xmlns:a="http://schemas.openxmlformats.org/drawingml/2006/main"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682325-C37E-4604-A987-51A5B5D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6245352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CEEB01-AB28-4C5D-87FA-EBD8E4D6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401568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肌群疲勞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C860AE-70F3-47F8-B94C-588755C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877056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0C8"/>
                </a:solidFill>
                <a:latin typeface="Arial"/>
                <a:ea typeface="Arial"/>
                <a:cs typeface="Arial"/>
              </a:rPr>
              <a:t>胸部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0BD5126-1208-48CE-92DE-82CCD98C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950208"/>
            <a:ext cx="36576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1E095BD-6C9A-4EC2-8131-262C39C1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950208"/>
            <a:ext cx="292608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4F37455-18BD-4839-8BAB-FD86A639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877056"/>
            <a:ext cx="777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80%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EEFE3D-83E8-470C-960E-61683DEF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389120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0C8"/>
                </a:solidFill>
                <a:latin typeface="Arial"/>
                <a:ea typeface="Arial"/>
                <a:cs typeface="Arial"/>
              </a:rPr>
              <a:t>背部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9DAA450-7A78-44A4-9854-A70A611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62272"/>
            <a:ext cx="36576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C77D702-A800-4B1B-8CC6-C2E753A1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62272"/>
            <a:ext cx="219456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64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BE898B9-B1E1-488F-BF80-6DD0C51D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389120"/>
            <a:ext cx="777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60%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391E53-683A-4EAC-82D6-0F2DDF08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901184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0C8"/>
                </a:solidFill>
                <a:latin typeface="Arial"/>
                <a:ea typeface="Arial"/>
                <a:cs typeface="Arial"/>
              </a:rPr>
              <a:t>腿部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EF874AD-2974-459F-859C-51CA962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74336"/>
            <a:ext cx="36576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F7B2F11-3BEA-4589-87F5-8A5C060C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74336"/>
            <a:ext cx="128016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25D56D9-B568-49F3-80B2-2AD6F719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901184"/>
            <a:ext cx="777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35%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95749FA-570F-4B51-A032-AFFB58B9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466727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594C36-27A0-4436-A89E-47666D67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6A71CC-50FE-48B3-AD4B-52C31144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F6FEDE-52F3-4A78-BC3B-D101E25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把不同來源對齊成同一套語彙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AAD13F-6745-4C31-A10B-2D2DA60A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統一單位與時間軸,廠商算好的分數不重算;每筆讀數還帶著是哪台裝置寫的。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6F241AB-80D2-445C-92F9-6A3AC150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1752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DD40EE9-C5B2-4E29-A252-C12EE3D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015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原始指標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DE954D-CAD1-4287-B1CF-27792484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94760"/>
            <a:ext cx="23774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睡眠</a:t>
            </a:r>
            <a:endParaRPr sz="15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HRV</a:t>
            </a:r>
            <a:endParaRPr sz="15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心率</a:t>
            </a:r>
            <a:endParaRPr sz="15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壓力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D8DF52-14E4-44F0-B6DC-1854316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14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AFB5C2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0FF6FF9-4512-40A3-879E-623033F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3464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2B1106-5328-4D8E-B368-2142337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015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資料整理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43D8BE-1CB8-4D96-ACB2-D7B919D3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94760"/>
            <a:ext cx="23774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統一單位</a:t>
            </a:r>
            <a:endParaRPr sz="14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統一時間軸</a:t>
            </a:r>
            <a:endParaRPr sz="14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統一名稱</a:t>
            </a:r>
            <a:endParaRPr sz="14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複合分數不重算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50E4B7-0465-481D-9FDE-F79D233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14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AFB5C2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572BB93-067C-4735-8092-010D19E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3730752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3C75AD-0033-4AA9-82BA-7FD0868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401568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AI 看到的全部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563D7B6-E8D4-4596-8D62-BBEDFA1E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94760"/>
            <a:ext cx="32004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100"/>
              </a:lnSpc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恢復</a:t>
            </a: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 Score</a:t>
            </a:r>
            <a:endParaRPr sz="1800"/>
          </a:p>
          <a:p xmlns:a="http://schemas.openxmlformats.org/drawingml/2006/main">
            <a:pPr marL="0" indent="0">
              <a:lnSpc>
                <a:spcPts val="3100"/>
              </a:lnSpc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疲勞</a:t>
            </a: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 Score</a:t>
            </a:r>
            <a:endParaRPr sz="1800"/>
          </a:p>
          <a:p xmlns:a="http://schemas.openxmlformats.org/drawingml/2006/main">
            <a:pPr marL="0" indent="0">
              <a:lnSpc>
                <a:spcPts val="3100"/>
              </a:lnSpc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訓練準備程度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9B98B3F-4745-497D-9B8A-DD607543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025752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EB07A1-0384-4CA4-9B1B-9928E75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7B6AB0-438F-4FD0-B0DE-76482E1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DD04CF-9E3F-4958-98AC-AFD1AD2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資料連接器由你的環境執行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A844B-D669-4665-BB96-CD28D2E1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下一個核心工程是本機私人引擎：先定義連線權限、登入憑證保存、訓練紀錄保存與刪除方式，再談手機入口。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1AF6DE1-A95A-47FF-A394-C56F500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096809-D1FA-485D-BA0F-4EBE1C46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授權登入</a:t>
            </a:r>
            <a:endParaRPr sz="1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A33616-0F4F-4447-B2E0-F6E9B65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3EFBFF-E3DB-4BA1-AFDC-A6F1F1F2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同步</a:t>
            </a:r>
            <a:endParaRPr sz="1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1656327-253A-452A-8912-349D9C4C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AEC9CA-E837-4E4D-9E5F-90EF1E1C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撤銷授權</a:t>
            </a:r>
            <a:endParaRPr sz="1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EC05795-C82F-466E-9560-EDA949C0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D61A700-C82B-4924-89F8-ACF4FD72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整理資料</a:t>
            </a:r>
            <a:endParaRPr sz="1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C92AA24-74B6-40A0-88A8-BF99CFFF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536192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CBC1D0-7C80-42A9-97CB-A2EF806E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5361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Apple </a:t>
            </a: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健康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DA9101-0B13-4D3C-9261-689E09E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21A088-6AA1-4FC8-9589-3FC7E518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Garmin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E392BCF-5E25-4975-86BB-BC46B06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CDC608-1AAB-42D3-8DF7-8123F618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Strava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B7379E4-9146-4096-AFB8-E52279C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188A9A4-C57D-467A-BEF4-29DDF7A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Oura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9DA6307-F6D1-4678-ABD5-62B5F470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4526280"/>
            <a:ext cx="1632204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02C2676-F3AE-436C-9BD0-82730429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4526280"/>
            <a:ext cx="16322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WHOOP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CF17FCC-8F6B-4CD3-9354-F0E855B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956" y="4526280"/>
            <a:ext cx="1824228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AD33D5-3DFD-47B1-8C58-22C6B4C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956" y="4526280"/>
            <a:ext cx="18242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手動／匯入檔案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57820B8-0CF7-4A49-9692-BA55D3D1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C366133-2FB5-4C43-9A5F-08139F0B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Google </a:t>
            </a: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健康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108F493-DBA9-4773-90BE-7D27D0F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目前已接上 6 個資料來源；Oura／WHOOP 仍待完成去識別化測試。新增來源不會改變決定方式。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3D940AA-A250-4CFF-BB14-BDC4224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89922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E5EF63-06C7-4414-9624-D539C954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14D9C7-85D4-4A9F-8C5F-DC16444A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E79811-F612-418E-80CC-98A0005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v0.5.0：把一個完整的決定流程做出來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4C425FF-D41B-445C-A277-019FB7F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v0.4.2 已公開 6 個工具；v0.5.0 將補上訓練、資料完整度、決策理由與結果回報。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62927AC-B35D-4356-BD12-1EDB6C6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31F6BA2-7E11-42BB-A275-C0369E7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644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27FCE6-2661-4439-AB75-EE0F369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9125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評估身體狀態</a:t>
            </a:r>
            <a:br/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檢查資料完整度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39546F-0718-4DB4-ACED-E40B5848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1188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狀態與資料完整度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C9F0E9D-5101-4635-BA89-35D5E69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06324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A97C5D-9E2D-4C00-B4A9-F768336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2644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BA8D2D5-6067-4B93-A738-680FEC4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19125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決定今天怎麼練</a:t>
            </a:r>
            <a:br/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說明決定理由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5446A4-110F-4280-B5DF-DC586018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1188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決策與可追溯的理由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3C42186-4E48-4A19-B6E7-1C86E3E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06324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92FEB7B-14E1-4D43-8AFE-8458096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2644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7F5279B-C3C6-4CDD-A669-638BBB9C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19125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尋找等效替代動作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5EB78AC-3EFA-4CE8-92E2-0FCFE29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1188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換一個等效的動作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935A1-C2F8-462F-BC3B-1D18F0A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791AFDC-B663-4D75-83BB-330CAFA9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818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AAD0F13-33CA-4252-823E-C30E516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4573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產生多週計畫</a:t>
            </a:r>
            <a:br/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安排單次訓練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6E9765D-3736-406C-8724-9F347B22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66359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多週計畫與單次訓練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F6A4AE6-664C-41BB-9D6E-996569D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1772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642DF3E-9D7C-42D4-8B0C-D333C6C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818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64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E0017E4-FC9B-463A-A538-2EFE11E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74573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預覽調整後的計畫</a:t>
            </a:r>
            <a:endParaRPr sz="13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A292C18-FC70-4411-8F48-07B4A52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166359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先看調整後的計畫長什麼樣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9B9BFCA-3006-41B9-9906-4656CD2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1772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93F6D12-EB2E-414A-9109-7285BBE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818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041A054-96AC-4837-97A2-604E4CF3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74573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確認調整後的計畫</a:t>
            </a:r>
            <a:br/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回報實際結果</a:t>
            </a:r>
            <a:endParaRPr sz="13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C392A9-EF0D-4670-B604-38B77BE6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5166359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確認計畫並回報實際結果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DDD8F3D-B771-495C-8842-FFC26874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545686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399A3A-F691-45F8-B722-C9B65E2B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E816AD-A5CD-4A67-A1FD-0900BCB2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</a:t>
            </a: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工具是否值得保留的判準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792393-A4B0-4507-B2E1-15A004D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536FD3-93F6-4F99-BF7A-E6362AA6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「AI 已經知道所有運動知識，這個工具還有價值嗎？」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2D7666-40B8-4554-A2A1-4DE6151A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再強的 AI 也取代不了的三件事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87E656-EA2A-4F3B-B1A3-AB206ED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3A61AA3-FC94-4130-A1AC-1F30AB2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4AA5E2-CC1C-4A3B-8512-7D64491F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 —— 它沒有這個人的資料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081048-38B6-4839-B62A-76A3852F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54E4A4F-8782-4714-BCD9-26D50D60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A58CBA0-73EC-468B-A0B7-D6EA108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計算 —— 它不會替你持續追蹤變化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6206B0D-17B2-4716-9C57-EFE5CAB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F30EB37-7A67-4179-B076-15C5282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9103C35-BEFC-4B80-A989-AC01612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保證 —— 固定的安全規則不能被說服繞過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8B7C60-9AD4-4195-BA17-3263534D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判準怎麼用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4127961-7F5F-4E0A-9236-14B91F95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CCF8C3F-21C7-49C1-9A0D-A5B947EB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否 → 砍掉或降為內部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FFDEC9E-F741-4CB6-AA8E-3F4C269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AI 可以取代的是單純的知識查詢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19E7826-9553-4A92-ADB2-CD4113D7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488869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7FC1B-76F4-4B8F-A0CD-97A1FF42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AF5A1A-E045-42BF-BDAA-618CC78D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第二部分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BB15913-A4EA-4299-9CF1-ADB5E4CB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同一套引擎，三種使用方式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FA72D2-D7E9-4DC6-9D4D-D33A8FC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同一套決策引擎與規則，可以放在不同入口使用；真正的差別是資料、登入憑證、紀錄與計算由誰控制。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D24F6A2-4FC4-46C0-B18E-6CBF3186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51358D-44DC-4527-8ED6-C48F11A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661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9A13ACC-030A-4B3C-9421-F23CDE7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39242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本機桌面版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BB0501-698B-478D-BD04-C6CDEAE4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77647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今天可用：本機桌面版與手動匯入資料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3B70EE6-C77F-410C-9F6F-807E4975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4612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B8FA29D-7E0F-49B2-9CFE-7CF269D0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661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8C1566-7906-4156-9D1D-B982A3E9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39242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使用者控制的私人環境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4F66BFF-489F-4487-A22E-495175C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77647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第二階段：連接器、紀錄與訓練計畫都留在你的環境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3C06A80-711A-4054-8E34-C1833D62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4DD518-5523-49CF-A023-F543145D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463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8234610-0B20-4B56-9ABA-B8B04C10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67258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受控的手機入口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10340F-90F4-45B8-AB18-367E7CDE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505663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第三階段：手機先安全連回你的私人引擎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1A5D7D-E4B7-42D2-BA46-2F658A9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2628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2426CD8-1BA3-4760-B0A3-536E14DC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463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6E003AF-DE5E-4553-8402-0292EA6A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67258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遠端服務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1193ADE-B67C-41CD-8873-9D43E282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505663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遠端服務：解決的是接觸面，不是資料主權；不會因為有遠端連線，就自動取得 Apple Health 或 Garmin 的資料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2D5828F-7F89-4AC9-8F28-7D954DA2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39976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E04BF2-263D-4E5D-8088-528A379E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A381D8-25BC-4A1D-9887-A8D1D81D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第三部分 — 應用情境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19C0D4-2FF5-4538-A273-AAF0C22D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六種使用者真的會問的問題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CACA12-C5DA-4D17-9882-FAF82BF7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這六題答得出來,產品就成立;答不出來,架構就白做了。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15F63D-9E00-4D76-9932-14FB002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2035412-B011-4E22-96FD-ABF4368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0B536B7-321A-49FB-B3ED-3E64F8D8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DDC0BD-D1DA-43E1-AB72-1CAF2CE6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00400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「今天適合跑嗎？昨天腿很酸」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9C2DF3E-155A-4CF9-B267-27252C85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00400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04E010-16EC-47F4-A846-883939D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20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3CEFA4-AAF0-44EF-A362-330C508A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2044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B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044966-1183-4D59-8567-ECED150C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200400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「下週出差，重新安排課表」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896C8A5-112E-4D3B-9B29-30D759CC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200400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436B9A1-A5B0-4738-8641-BF2E25B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520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34F888-03CA-442D-9CD2-7C66284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52044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C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898F16-4BAD-4DDD-BE1F-8BC5C3A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「找 Goblet Squat 的替代動作」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84C2B5B-5EB1-48B2-B261-F68F1582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8848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31C3A22-E06C-4B6D-87F9-8B3262D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2E08EAD-7615-4388-B96B-6B1E661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D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D4238AE-915C-4729-8B80-8CC78A32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498848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「左膝有傷,不要排跳的」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302C26F-6F82-41B2-A87C-8C99D6C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98848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EB88825-579C-4BE0-9E7B-9C1C53E5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046FC5A-AACB-4723-8253-13B3CCB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E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0ABDD85-014D-45BA-8CA0-DC0CE938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498848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「分析這個月訓練，瓶頸在哪」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EAA4BB5-EF0A-4203-BD0D-A6399B2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98848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B61989D-2050-4D3D-8946-BF83F33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584AA4F-4BA5-427F-9A6F-4D805518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F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A81503F-C159-4680-9B36-E4972DE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98848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語音：「今天怎麼樣？」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B42BF98-C645-4105-8EB5-2B76D348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873947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6BC3FB-1E1D-47B7-9A29-1C383782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BC641C-5678-4C0E-A950-0288C96F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A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1203F6C-910C-4BBF-830C-A5ECDB05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3A10A3-C893-448D-A307-B3CE172E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「今天適合跑嗎？昨天腿很酸」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259D3C-D5DB-4EAE-95BA-FFB9EA7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1FC5B3C-C8FA-43AD-B5CF-24C6884E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302632-5011-462E-BDA8-49232CD1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1C52BE4-CC52-4C71-A574-942CB5C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昨天實際做了什麼（不同來源的紀錄）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24C57D-30BC-4C30-A093-226538A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2BC02F7-734E-46B7-B9FA-B1E806C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A5D9F4-AAD1-407F-8DA3-81CC453F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今天的恢復狀態與準備程度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397E5EB-55D0-47D9-B7C7-7E892F68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328193E-DC70-4BAB-A26B-6F4E0DD0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D13995-C0A6-4AD9-9500-58B8AD30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腿部肌群的殘餘疲勞百分比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D7E6F3-7DDF-456F-9EE9-DAEC5753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20D3F03-F752-4520-8D03-F91DF7E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CCBA4F-E772-4E6E-817D-34461B94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讀取不同來源的紀錄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C2ED8C0-B141-4177-B25E-56480509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健康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相關資料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3540E82-6321-465E-BA3F-811AD744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計算近期訓練負荷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0D4C803-AC9E-4387-88EE-DD40F3CD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859601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D2DA30-4AAF-4EA0-9278-6BC2AAF9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E4FA86-A474-44A8-A032-28DB31B8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B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B48030-C8B0-45E4-BCA4-45F48E3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DB0B3D-C072-41B0-8CB1-8144794C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「下週出差，重新安排課表」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12432A-6DE9-4F30-8CD7-B77AE27A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0F5B89C-D87C-4C71-993B-5E84A8B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4AF20F8-5283-470D-A95E-7E475D3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76F909-B666-4991-90F7-474F364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你的行事曆與每天可用時間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44DBE99-F010-4C49-8E2B-1A2B233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ECA2F50-D324-49E8-AAA4-D055541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126040-6BF6-48E4-8090-B9A0287E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原計畫的週期化目標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BF581C0-6173-4F8C-9BC6-83B19DA8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3A533E7-F25D-4F2E-8695-0AEF975D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BEA449-16CF-4ED4-BEAB-C23F08E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改動後剩餘週數是否足夠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77072A-83E6-41D5-BB49-1F600B2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0E61E3A-45FA-49A4-A878-8210A95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6082DF4-956A-45A9-913C-44555D20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讀取行事曆與可用時間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F4A029-2092-4A94-B423-0C81E84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理解原定訓練計畫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B52D66-20C7-4CCD-8645-97FA8681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重新安排接下來的訓練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242592-9246-496B-B706-CF91016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879392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D5835B-55A6-454B-A55D-149036F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74180F-6EE3-40EF-853C-762553D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C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4BE2EC7-B0F6-41A0-814A-E81C966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BD66D9-D1C3-479B-B595-16B3000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「找 Goblet Squat 的替代動作」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A53003-0C8C-4500-8D65-FD79EBAB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C5BD338-59CF-4AB4-9649-702CE739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A1AD21-EBCF-401E-A77D-6DA0EC0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5FE1FE-D400-454A-9061-032D13F4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動作之間的變體與相似關係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750768C-81DB-4174-A535-B1A3E967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DF4752A-2212-4D7E-9F17-EA6A9B1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601623-1ADD-498A-A425-BCB7398B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你手邊有哪些器材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7BDCEA-80E8-42B7-9557-9E29849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1EE717-30F7-4A34-BF24-63B47E59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37EA29-9D65-43FD-8322-9A35D8E6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難度與技術門檻是否相當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F66FAE-71AD-49EC-B83F-077956E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6B34B36-D6A6-4BFB-A64A-D1D47C0D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FE4EFB-0C8F-4554-927C-141C0A2F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比對動作特性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C77BD0A-829A-4C2E-925E-D5DA2824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確認手邊器材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000EB7B-59AD-4D32-9BF8-C0C668C8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175146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41D3B5-2C68-4414-8D35-BCFBBD8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94F5EE-7B61-44BB-B613-08B23880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D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041468-A554-49D5-A75D-36E216F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DD2F96-17CF-4D85-959E-8615E63F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「左膝有傷,不要排跳的」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7C8374-AA3E-488C-AC9E-D13BA40B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C20ACA5-E6AC-4E71-BE06-3D518DE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841E06-1C68-4053-9DC1-DE638ADC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072AE1-12CF-48DC-993F-48F7ABF6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這是長期約束,不是這次的要求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408F00-C5CA-4DFE-8FB4-7398FF7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DCB0B51-19EA-436C-9B9A-8EBCE2C2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CECB8F-9E0F-44BB-BD7D-A705C0FB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哪些動作牽涉到該關節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026BBB1-F1F9-45C1-BE33-FCE2FEA6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92D6961-DDA0-485F-BF4A-C54CF10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647043-1ACF-42D4-9E75-8BE8C397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替代方案要維持同樣訓練效果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2C7E91B-9B18-4A07-8149-B50B0BE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B862A39-FDD4-47D9-9120-2F9A5BFB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1CE219-4E16-443D-A108-05B227D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記住膝傷這項長期限制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9585434-1348-4EAC-8BE5-9A43D5F5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比對動作特性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35000BA-528A-4280-B14D-6394FA51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重新安排接下來的訓練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0D9A3D-F09B-463A-A0B4-188293B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815900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2760BE-310F-4860-B087-2ECC975B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CB9899-15A8-4588-BDD0-4F46A44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E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D4FEC8-7B44-40CC-8C7D-382B8B1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A569EBD-D1F7-45E4-B44D-BEEDB7E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「分析這個月訓練，瓶頸在哪」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E0C56A-7024-491A-B358-1C0091A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C02F6A1-90F4-4988-894F-D72A7901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B0767B7-5D98-43BF-8204-948C557F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A3E6E6-8CB1-41BE-B7E0-BFD16563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完整的跨來源訓練歷程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9DC46A0-B6FF-4EDE-AC92-F5FDB003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F09BF-BB04-4E7D-9A4A-AF5BFD0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56AF06A-59AF-4079-AAF6-B0DAB3DD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負荷趨勢：短期疲勞、長期體能與恢復平衡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1932C20-7B7C-469A-8CDF-D4B2EBD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68EE918-3F8C-46A0-A157-C83C88F9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C44A8ED-1242-49F9-A678-D884626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目標與實際執行的落差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54FACB-F90F-4465-ADB9-2E1DFC3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1B0234-A79F-430B-ACBA-21456C3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7B6AE8-5740-4DD1-8D3A-7492F78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整理訓練負荷趨勢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5394E03-2D74-42DB-8FB1-B91C1B7A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評估目前的身體狀態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D04F3BC-4EB8-4413-BBBF-1A097E2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40581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167A08-0D7E-4869-B205-FC5FFE18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5C099F0-E9B0-4611-96D6-183AD71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F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B1B64C0-371A-4D6F-B7C6-5A6F3E8B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E2BED5-7A27-47E1-ADFC-65E6D1BB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語音：「今天怎麼樣？」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D0A3CE-AB2E-4CC8-A9B4-EB77959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EED2AB-EAF4-45DD-80D6-7E1C951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A13204-1660-4431-A8F0-30F400FD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070528-FBB1-495D-954D-4676D1E3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當下的訓練準備程度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C204F50-73AC-4B47-9B79-CCAEAE0D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808BACF-BB04-4158-B31A-61B6EB02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1E2B7B0-55C7-4520-8A8A-FEC7D3B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推導這個結論的理由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6097BF4-CD81-4D0A-A889-97EFE86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3A9C283-6ACA-4773-BD8C-4E6EE15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F166261-A45A-4F63-A798-607B4DBA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一句話講得完的建議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45151C4-DBC7-4C39-A5CC-1A271C4C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AF63EF0-3E50-4EA3-93AC-034DB46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733C49-0E9A-479D-8F2E-98EC389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整理當下的身體狀態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C723A05-9140-4500-9BF4-2BCD2A6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說明這個判斷的理由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38A467D-5AC8-4B40-B8CD-84B3AE4D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855004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062E1B4-2B9B-486E-8AF7-FF411D11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582BF6-EB27-44AD-896D-055914C8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第三部分 — 應用情境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795636-C81F-423D-81A3-C9B8070C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共通點：先有 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資料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，才談 </a:t>
            </a:r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可執行的決定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186329-426C-42EC-B3B9-0D0077D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每一題都要求先答得出「你現在怎麼樣」,而那份答案每次都由證據重算。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90B2727-5CFE-4BCF-8CAE-A0B0973E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01B0AF4-1F63-43E5-A7AE-21E053EF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問題長得像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F0F281-294C-4E5C-90E0-FA87413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推薦一堂課、排一份課表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E33C2C0-5E82-49B8-AC74-1E45DE2E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8E526C5-FB43-4EBD-B2C8-E37F34AF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E0C4"/>
                </a:solidFill>
                <a:latin typeface="Arial"/>
                <a:ea typeface="Arial"/>
                <a:cs typeface="Arial"/>
              </a:rPr>
              <a:t>真正在問的是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39E8EB-9E45-440A-94BC-3D481E5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我現在能不能練、該練哪裡、為什麼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D67EE43-1F26-408D-838A-D07E1AA0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C3C9D6"/>
                </a:solidFill>
                <a:latin typeface="Arial"/>
                <a:ea typeface="Arial"/>
                <a:cs typeface="Arial"/>
              </a:rPr>
              <a:t>價值不在內容,在那個可重現的判斷。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9D460D-F079-4776-A440-4917D8D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283994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619AE0-B1FA-4E62-A7B0-17B63A8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1091FE-956A-4473-A3FE-389DC2BB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第三部分 —</a:t>
            </a: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 現況與待做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900799-424F-433D-8061-E232CD73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先用產品頁驗證，再進本機私人引擎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734E0D-9D5C-4B3E-A6D7-FDE477B7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先完成 v0.5.0，再用產品頁驗證市場，之後進入本機私人引擎、手機入口與團隊版本。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1B237A8-52C6-4C6E-826F-0DCFF906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7480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2BFE82B-EDE1-4ADE-9D3E-DE6CF5AE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81635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64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FC98329-A517-47D2-B50A-781892BE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8163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0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86D337-4525-4C62-942D-13B7B494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788920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已發行 v0.4.2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D9C630-6A18-4DD1-9574-320A1486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136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桌面版工具包 · 6 個公開工具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9B6F1D2-E7AA-499C-83DB-5194771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19856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0E1A53D-A442-49F8-A97F-38CD8CC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56432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引擎</a:t>
            </a: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 1.6.0 · </a:t>
            </a: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舊版規則庫</a:t>
            </a: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 1.4.0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057CD5-E15D-483E-9B69-1158860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97480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40561C-01E5-4B6F-A266-E0EE251B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81635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0A14DC-BDA2-42F7-9C4C-3582146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8163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1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5197FD-FEC9-4B00-B087-DCB351AA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788920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主線版本已完成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86DB05B-2F03-49E4-AB59-4ECDB5CA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136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理由紀錄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／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結果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／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版本延續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／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套件生命週期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9250B75-75F2-4037-A2BF-82E047ED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419856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BEAD7E-EB83-463C-B7FA-8C70218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456432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圖表檢視 · 測試工具 · 回歸檢查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4D45497-3A61-4C83-87F7-834DDED4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97480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7D20C0B-F2FC-4903-BBAC-112C15A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81635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EA4E810-0FA6-41B8-AB68-386FA53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8163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2B08D0F-0C06-488F-8BA7-2E79DA35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788920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下一版 v0.5.0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13227BB-1933-4AAF-9692-27314C82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136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10 個工具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 · 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引擎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 1.6.0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5BCD7CB-D9F8-464E-8D95-0D1B7AB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419856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19019B8-1169-4E5F-A085-CBA14CC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456432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基礎規則 1.1.0 · 訓練計畫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A4F854C-4AA3-4D51-B59E-9DA12617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912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456AFB5-7D12-42DE-8F08-717C27E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6BA67A5-C0E1-42FB-991B-FB5F1FFD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4DB9600-A895-4B1F-8263-FFD4C1AD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3959352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階段</a:t>
            </a: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0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5200207-EC9D-4083-B509-99821D6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30682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整合訓練資料／防止惡意指令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C0B9C3E-0DBE-4A3D-B1E4-C89CC5C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59028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367DD8D-1E65-4736-92D6-27890B64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626864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套件</a:t>
            </a: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· </a:t>
            </a: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檢查</a:t>
            </a: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· </a:t>
            </a: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發布</a:t>
            </a:r>
            <a:endParaRPr sz="10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FE246DA-33B3-44F0-BDB5-59E280BC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912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9C3A298-E721-4C05-8CEA-93BF2D9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FD26AE6-6503-40EE-988A-DA834040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131FE85-BF6F-4BC7-98AA-9E76F96D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959352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階段</a:t>
            </a: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1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71BF3B2-61AC-4D8B-BFFA-B6D7824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30682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pacevera.com 產品頁與真實 </a:t>
            </a: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示範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D17A7A9-E218-48BD-86AB-6E09CFA4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59028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AD51840-B7E6-4057-8E71-A3F38969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626864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5568"/>
                </a:solidFill>
                <a:latin typeface="Arial"/>
                <a:ea typeface="Arial"/>
                <a:cs typeface="Arial"/>
              </a:rPr>
              <a:t>訪談 3–5 位使用者 · 觀察開始使用與持續使用</a:t>
            </a:r>
            <a:endParaRPr sz="10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F992386-36AF-4932-B675-67EAC7B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912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9634292-EE17-4278-88DC-E8A12FC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159CF9E-FA00-40E3-BAC3-E9DEB60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2D20A65-5591-4F23-8B50-1CB6D69D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59352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階段</a:t>
            </a: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2</a:t>
            </a:r>
            <a:endParaRPr sz="13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ECF64C2-2535-4468-8F52-98B327ED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30682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本機私人引擎第一版</a:t>
            </a:r>
            <a:endParaRPr sz="10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35CA029-A111-4BF3-B8CC-1801B75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59028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22486150-F4DD-4477-AFDE-4F64F73B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626864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資料庫 · 連接器 · 版本延續</a:t>
            </a:r>
            <a:endParaRPr sz="10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AB32B322-9B91-42D1-AA25-E38D1AFB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344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9F5E3CF0-2D3C-4106-A456-77D9FA58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15721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5667639A-B5B2-452A-8395-F52DE33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15721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3EC41E8-C6BF-459E-827D-05AA9F7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5129784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階段</a:t>
            </a: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3</a:t>
            </a:r>
            <a:endParaRPr sz="13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DD238BE-2D1A-40AB-891C-4A27E6F0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47725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受控的手機入口 · 跨裝置使用</a:t>
            </a:r>
            <a:endParaRPr sz="10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AC909D9-1A7C-407D-9FE0-44BAD9E6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7607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533FCAD-8A43-416A-ABE1-D4F53AD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797296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遠端連線維持受控狀態</a:t>
            </a:r>
            <a:endParaRPr sz="100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DC646AF9-FB72-45D7-BE40-980AC4FE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38344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1E4BEBCE-64C3-4371-B7D5-1D317E8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15721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5B996FF8-26BC-4EA0-BE97-765BB2EE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15721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43947837-DC1B-4A3B-A075-3FD4B668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129784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階段</a:t>
            </a: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 4</a:t>
            </a:r>
            <a:endParaRPr sz="13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78FF263B-D409-4F70-9A77-C032A28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47725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團隊與企業版 · 系統介面</a:t>
            </a:r>
            <a:endParaRPr sz="10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6F49B45-9FE6-4A99-82D5-A610E11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7607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14B60F6D-19B6-497F-9F2C-7EEE51C9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797296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治理規範 · 私人部署 · 試點</a:t>
            </a:r>
            <a:endParaRPr sz="100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1F9A31E9-9D73-44FE-9338-1A76288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344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BE884AE-9D92-4EFB-9307-4718F58B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15721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4722A274-C4AB-4396-88FE-B392E125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15721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E53D9D13-C004-42F5-A1EC-15D5799B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5129784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遠端服務啟用條件</a:t>
            </a:r>
            <a:endParaRPr sz="13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1D4C5D8-5846-4EE0-8E79-A92B4CB0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7725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登入驗證 · 安全連線 · 敏感資料遮蔽 · 隱私檢查 · 完整測試</a:t>
            </a:r>
            <a:endParaRPr sz="105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0EBDE040-5ADF-40B3-AD07-DF253ADF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7607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DCE51732-9D01-4D89-AFDC-DCBB37A5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797296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5568"/>
                </a:solidFill>
                <a:latin typeface="Arial"/>
                <a:ea typeface="Arial"/>
                <a:cs typeface="Arial"/>
              </a:rPr>
              <a:t>全部成立且有付費需求才 </a:t>
            </a:r>
            <a:r>
              <a:rPr sz="1000" b="1">
                <a:solidFill>
                  <a:srgbClr val="4A5568"/>
                </a:solidFill>
                <a:latin typeface="Arial"/>
                <a:ea typeface="Arial"/>
                <a:cs typeface="Arial"/>
              </a:rPr>
              <a:t>啟用</a:t>
            </a:r>
            <a:endParaRPr sz="100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2DCB8891-B3A7-42C1-BBC7-A4BD850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30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73070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0A86521-AAAE-475E-A089-7A61C2FA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FA8013-427B-4822-82FE-DF850990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產品定位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8C9E9E-0EAB-4F77-80D9-EAFB468F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Pacevera 是個人訓練的決策層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4EA04E-F873-4C1F-94B9-AE92E22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我們要的是運動領域的決策基礎層:證據、規則與可追溯的訓練變更。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60DCAEA-BA2F-4472-95A2-E9C684E0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91840" cy="19202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3D4FB3-907F-4ABB-BA2E-7E962707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Plaid</a:t>
            </a:r>
            <a:endParaRPr sz="2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4483E5-2635-4E15-9E37-1385FE60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34840"/>
            <a:ext cx="2788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金融資料整合層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A3CD834-C52E-40B3-89D9-3949E09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19202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1B17A5-5DF3-4741-BC87-75C1AEC6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Stripe</a:t>
            </a:r>
            <a:endParaRPr sz="2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D665FEE-E6CC-4939-ABA2-F538C5BD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434840"/>
            <a:ext cx="2788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支付基礎設施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D4C971-E14E-4EDC-87F8-D2C3826F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0"/>
            <a:ext cx="3291840" cy="19202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2AAB25A-DA02-4517-967A-4C82843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Us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7B7766-7FCF-483E-BD88-AC5D05F3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434840"/>
            <a:ext cx="2788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FAF9F5"/>
                </a:solidFill>
                <a:latin typeface="Arial"/>
                <a:ea typeface="Arial"/>
                <a:cs typeface="Arial"/>
              </a:rPr>
              <a:t>個人訓練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FAF9F5"/>
                </a:solidFill>
                <a:latin typeface="Arial"/>
                <a:ea typeface="Arial"/>
                <a:cs typeface="Arial"/>
              </a:rPr>
              <a:t>可執行的決定</a:t>
            </a:r>
            <a:r>
              <a:rPr sz="1400">
                <a:solidFill>
                  <a:srgbClr val="FAF9F5"/>
                </a:solidFill>
                <a:latin typeface="Arial"/>
                <a:ea typeface="Arial"/>
                <a:cs typeface="Arial"/>
              </a:rPr>
              <a:t> </a:t>
            </a:r>
            <a:r>
              <a:rPr sz="1400">
                <a:solidFill>
                  <a:srgbClr val="FAF9F5"/>
                </a:solidFill>
                <a:latin typeface="Arial"/>
                <a:ea typeface="Arial"/>
                <a:cs typeface="Arial"/>
              </a:rPr>
              <a:t>層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8DD36E4-2778-4AC6-965B-ABF71B1C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07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上層可以換成任何 </a:t>
            </a:r>
            <a:r>
              <a:rPr sz="125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AI 服務</a:t>
            </a:r>
            <a:r>
              <a:rPr sz="125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,底層可以換掉任何一家裝置商 —— 中間的決策層不用動。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CCF5F8-B596-4869-BB4C-11BDC68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31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852478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0D9C21-9DB2-4F2E-9061-3CFBDE34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4048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44F88F2-C225-4672-888F-6C35C03F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71A37D-7AFD-4806-BD51-1D58924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重點整理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22050F-7C61-463B-92E3-57474A66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102412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最重要的核心資產,</a:t>
            </a:r>
            <a:endParaRPr sz="3300"/>
          </a:p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是連續 </a:t>
            </a: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資料</a:t>
            </a: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 → 可追溯 </a:t>
            </a: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可執行的決定</a:t>
            </a: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,</a:t>
            </a:r>
            <a:endParaRPr sz="3300"/>
          </a:p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而資料始終由使用者控制。</a:t>
            </a:r>
            <a:endParaRPr sz="3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140755-0270-47AB-90C6-C2D8C8DC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61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69A295-048F-4717-ACB9-9142460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C3C9D6"/>
                </a:solidFill>
                <a:latin typeface="Arial"/>
                <a:ea typeface="Arial"/>
                <a:cs typeface="Arial"/>
              </a:rPr>
              <a:t>Pacevera — </a:t>
            </a:r>
            <a:r>
              <a:rPr sz="1600" b="1">
                <a:solidFill>
                  <a:srgbClr val="C3C9D6"/>
                </a:solidFill>
                <a:latin typeface="Arial"/>
                <a:ea typeface="Arial"/>
                <a:cs typeface="Arial"/>
              </a:rPr>
              <a:t>訓練決策引擎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BBF921B-A82F-4C4A-82F6-93DD0579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8112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C8497"/>
                </a:solidFill>
                <a:latin typeface="Arial"/>
                <a:ea typeface="Arial"/>
                <a:cs typeface="Arial"/>
              </a:rPr>
              <a:t>下一步：先發布 v0.5.0 → pacevera.com 驗證 → 本機私人引擎；遠端仍是後續使用入口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95841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2026-08-12T14:43:17.2960000Z</dcterms:created>
  <dcterms:modified xsi:type="dcterms:W3CDTF">2026-08-12T14:43:17.2960000Z</dcterms:modified>
</coreProperties>
</file>
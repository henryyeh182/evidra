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00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912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問題不在模型不夠聰明,而在每個模型都得重新推理一次,結果無法收斂。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這是語意層與資料倉儲的分界線:一個存事實,一個存已經被理解過的結論。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Reasoning 是關鍵欄位:它讓建議可被稽核,也讓下一個模型知道前一個結論從哪裡來。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邏輯寫在 prompt 裡就會隨模型漂移;寫在引擎裡才可被驗證、可被回測。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計畫不是一份靜態文件:改掉其中一週,後面所有週會跟著重算。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實際分八層:Exercise、Workout、Program、User、Health、Training Load、Nutrition、Knowledge。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換掉任何一家裝置商,AI 那一側完全不用改。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這十組會收斂成四個 MCP:Workout、Health、Nutrition、Coach。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關鍵字是「昨天」和「腿」:一個要跨來源歷程,一個要分肌群疲勞。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課表必須是一張可被改寫、且會自動往下傳遞影響的圖,不是一份文字清單。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這題會撞到動作本體資料的建置成本,Phase 1 範圍界定時要先想清楚。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傷勢必須是常駐資料,不能靠使用者每次自己記得講。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這題證明語意層要保存歷程,不只保存當下狀態。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語音是最好的壓力測試:理解沒有事先存好,就不可能一句話回完。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0 沒有 demo 價值,但 transport 與 auth 之後改成本極高,不能跳過。驗收數字來自 offline evaluation set:固定 50-100 條 golden query,量 grounding rate、tool selection accuracy、plan validity rate。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F96167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474720"/>
            <a:ext cx="2926080" cy="2926080"/>
          </a:xfrm>
          <a:prstGeom prst="ellipse">
            <a:avLst/>
          </a:prstGeom>
          <a:solidFill>
            <a:srgbClr val="1FB6A6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298448"/>
            <a:ext cx="164592" cy="16459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2070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</a:t>
            </a:r>
            <a:endParaRPr lang="en-US" sz="5000" dirty="0"/>
          </a:p>
          <a:p>
            <a:pPr marL="0" indent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Fitness Layer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85800" y="39776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讓任何 AI 都能立刻知道:這個人現在怎麼樣、今天該練什麼、為什麼。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85800" y="5349240"/>
            <a:ext cx="201168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5577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49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核心概念 · 核心功能 · 應用情境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這份簡報講三件事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先講清楚我們在蓋什麼,再講它能做什麼,最後用真實情境驗收。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0584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核心概念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我們蓋的不是 App,是一層被所有 AI 共用的使用者狀態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3F4F7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0916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0916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十組工具、四個 MCP,以及背後真正做決策的引擎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9244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F3F4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41248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應用情境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1248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六個使用者真的會問的問題,以及每一題打到哪幾層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身體是連續的,資料卻是被切開的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睡眠在一個 App、跑步在另一個、重訓在第三個,沒有人負責把它們接成同一個人。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9418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Health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418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睡眠 · HRV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290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3F4F7"/>
          </a:solidFill>
          <a:ln/>
        </p:spPr>
      </p:sp>
      <p:sp>
        <p:nvSpPr>
          <p:cNvPr id="10" name="Text 8"/>
          <p:cNvSpPr/>
          <p:nvPr/>
        </p:nvSpPr>
        <p:spPr>
          <a:xfrm>
            <a:off x="36850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Garmin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850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恢復 · 訓練狀態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3F4F7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Strava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282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跑步 · 騎車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154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10131A"/>
          </a:solidFill>
          <a:ln/>
        </p:spPr>
      </p:sp>
      <p:sp>
        <p:nvSpPr>
          <p:cNvPr id="16" name="Text 14"/>
          <p:cNvSpPr/>
          <p:nvPr/>
        </p:nvSpPr>
        <p:spPr>
          <a:xfrm>
            <a:off x="91714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健身房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714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BA3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沒有任何紀錄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每一段都是真的,合起來卻拼不出「他今天到底能不能練」。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所以使用者每一次都要重新自我介紹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換一個模型、換一個對話視窗,理解就歸零 —— 而人的身體狀態是連續的。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結論 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8912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/>
        </p:spPr>
      </p:sp>
      <p:sp>
        <p:nvSpPr>
          <p:cNvPr id="12" name="Text 10"/>
          <p:cNvSpPr/>
          <p:nvPr/>
        </p:nvSpPr>
        <p:spPr>
          <a:xfrm>
            <a:off x="470916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0916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916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結論 2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9244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3F4F7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41248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結論 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我們要蓋的,是中間那一層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把多來源資料正規化、推理、語意化,讓任何 AI 讀到同一份「這個人現在怎麼樣」。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91840"/>
            <a:ext cx="10817352" cy="1463040"/>
          </a:xfrm>
          <a:prstGeom prst="roundRect">
            <a:avLst>
              <a:gd name="adj" fmla="val 8750"/>
            </a:avLst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349300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Fitness Layer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188720" y="409651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E3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  →  Reasoning  →  Semantic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5212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產品不是 UI。任何介面 —— ChatGPT、Claude、手錶、語音 —— 都只是這一層的 Client。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關鍵設計:儲存的不是資料,是推理結果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平台不重算一次 HRV,平台記住的是「這個人已經連續第 3 天處於過度負荷」。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57530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A1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資料層記錄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394106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HRV 42ms · 睡眠 5h20m · 昨日 TSS 148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470916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10131A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85546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語意層記錄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522122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累積疲勞偏高 · 恢復不足第 3 天 · 建議降載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語意層具體長這樣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狀態、建議、理由都被寫下來 —— AI 讀到的是結論,不是待處理的資料。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5120640" cy="2514600"/>
          </a:xfrm>
          <a:prstGeom prst="roundRect">
            <a:avLst>
              <a:gd name="adj" fmla="val 3636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364992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UserState: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recovery_score: 82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fatigue_score: 45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readiness_score: 88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focus: "Strength"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available_time: 45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preferred_location: "Gym"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3154680"/>
            <a:ext cx="5148072" cy="2514600"/>
          </a:xfrm>
          <a:prstGeom prst="roundRect">
            <a:avLst>
              <a:gd name="adj" fmla="val 3636"/>
            </a:avLst>
          </a:prstGeom>
          <a:solidFill>
            <a:srgbClr val="1B1F2B"/>
          </a:solidFill>
          <a:ln/>
        </p:spPr>
      </p:sp>
      <p:sp>
        <p:nvSpPr>
          <p:cNvPr id="9" name="Text 7"/>
          <p:cNvSpPr/>
          <p:nvPr/>
        </p:nvSpPr>
        <p:spPr>
          <a:xfrm>
            <a:off x="6675120" y="3364992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Recommendations: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Heavy Upper Body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Avoid Heavy Legs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Protein Target: 160g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Reasoning: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Yesterday: Leg Day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B3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HRV: +12% · Sleep: 8h12m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四層架構:Client 在最上面,Data 在最下面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每一層只做一件事,而且都可以被獨立替換。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2926080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3099816"/>
            <a:ext cx="329184" cy="32918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2926080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Layer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86200" y="2926080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ChatGPT · Claude · Gemini · Cursor · Web · Mobile App · Apple Watch · Voice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3721608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895344"/>
            <a:ext cx="329184" cy="329184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3721608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Layer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86200" y="3721608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Workout MCP · Health MCP · Nutrition MCP · Coach MCP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4517136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690872"/>
            <a:ext cx="329184" cy="329184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6" name="Text 14"/>
          <p:cNvSpPr/>
          <p:nvPr/>
        </p:nvSpPr>
        <p:spPr>
          <a:xfrm>
            <a:off x="1463040" y="4517136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Layer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86200" y="4517136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Planning · Recommendation · Recovery · Nutrition · Analytics · Knowledge Graph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85800" y="5312664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" y="5486400"/>
            <a:ext cx="329184" cy="329184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20" name="Text 18"/>
          <p:cNvSpPr/>
          <p:nvPr/>
        </p:nvSpPr>
        <p:spPr>
          <a:xfrm>
            <a:off x="1463040" y="5312664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886200" y="5312664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Apple Health · Garmin · Strava · WHOOP · Oura · TrainingPeaks · Calendar · Notion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是 Orchestrator,不做計算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恢復分數、訓練量、課表,全部由引擎決定;LLM 負責理解、呼叫、解釋與調整。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585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146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 MCP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873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34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Engine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161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Engine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449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010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5737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8298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B1F2B"/>
          </a:solidFill>
          <a:ln/>
        </p:spPr>
      </p:sp>
      <p:sp>
        <p:nvSpPr>
          <p:cNvPr id="22" name="Text 20"/>
          <p:cNvSpPr/>
          <p:nvPr/>
        </p:nvSpPr>
        <p:spPr>
          <a:xfrm>
            <a:off x="98755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5800" y="47548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1B1F2B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91947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做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51560" y="52852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理解語意 · 呼叫工具 · 解釋結果 · 依回饋調整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63640" y="47548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1B1F2B"/>
          </a:solidFill>
          <a:ln/>
        </p:spPr>
      </p:sp>
      <p:sp>
        <p:nvSpPr>
          <p:cNvPr id="27" name="Text 25"/>
          <p:cNvSpPr/>
          <p:nvPr/>
        </p:nvSpPr>
        <p:spPr>
          <a:xfrm>
            <a:off x="6629400" y="491947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不做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29400" y="52852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算恢復分數 · 決定訓練量 · 憑空生成課表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Recommendation Engine 不是一個 LLM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先用規則保證安全與可解釋,再用模型處理個體差異,最後才交給 LLM 講人話。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520440"/>
            <a:ext cx="5120640" cy="1691640"/>
          </a:xfrm>
          <a:prstGeom prst="roundRect">
            <a:avLst>
              <a:gd name="adj" fmla="val 6486"/>
            </a:avLst>
          </a:prstGeom>
          <a:solidFill>
            <a:srgbClr val="10131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703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 HRV low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Sleep bad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Yesterday leg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9EEB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Recovery Ride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3520440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F3F4F7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367588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0" name="Text 8"/>
          <p:cNvSpPr/>
          <p:nvPr/>
        </p:nvSpPr>
        <p:spPr>
          <a:xfrm>
            <a:off x="6995160" y="352044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Engine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78240" y="3520440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安全底線與可解釋性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55080" y="4096512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F3F4F7"/>
          </a:solidFill>
          <a:ln/>
        </p:spPr>
      </p:sp>
      <p:sp>
        <p:nvSpPr>
          <p:cNvPr id="13" name="Shape 11"/>
          <p:cNvSpPr/>
          <p:nvPr/>
        </p:nvSpPr>
        <p:spPr>
          <a:xfrm>
            <a:off x="6629400" y="4251960"/>
            <a:ext cx="182880" cy="18288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14" name="Text 12"/>
          <p:cNvSpPr/>
          <p:nvPr/>
        </p:nvSpPr>
        <p:spPr>
          <a:xfrm>
            <a:off x="6995160" y="409651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778240" y="4096512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個體差異與趨勢預測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55080" y="4672584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F3F4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0" y="4828032"/>
            <a:ext cx="182880" cy="18288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8" name="Text 16"/>
          <p:cNvSpPr/>
          <p:nvPr/>
        </p:nvSpPr>
        <p:spPr>
          <a:xfrm>
            <a:off x="6995160" y="467258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778240" y="4672584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翻譯成人聽得懂的話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5800" y="5532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順序很重要:規則在前,是為了讓錯誤的建議不會發生在身體上。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Planning Engine 是整個產品最大的價值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把目標、歷程、時間、器材、恢復一起算進去,產出可執行的多週期計畫。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1089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3675888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67588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242816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24281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809744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80974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5376672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B1F2B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537667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490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3108960"/>
            <a:ext cx="2926080" cy="2505456"/>
          </a:xfrm>
          <a:prstGeom prst="roundRect">
            <a:avLst>
              <a:gd name="adj" fmla="val 4380"/>
            </a:avLst>
          </a:prstGeom>
          <a:solidFill>
            <a:srgbClr val="1B1F2B"/>
          </a:solidFill>
          <a:ln/>
        </p:spPr>
      </p:sp>
      <p:sp>
        <p:nvSpPr>
          <p:cNvPr id="18" name="Text 16"/>
          <p:cNvSpPr/>
          <p:nvPr/>
        </p:nvSpPr>
        <p:spPr>
          <a:xfrm>
            <a:off x="4343400" y="3108960"/>
            <a:ext cx="292608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2000" dirty="0"/>
          </a:p>
          <a:p>
            <a:pPr marL="0" indent="0" algn="ctr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4066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A63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001000" y="3108960"/>
            <a:ext cx="3502152" cy="2505456"/>
          </a:xfrm>
          <a:prstGeom prst="roundRect">
            <a:avLst>
              <a:gd name="adj" fmla="val 4380"/>
            </a:avLst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832104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週半馬計畫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321040" y="3886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1 — 建立基礎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4 — 出差,自動降載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8 — 強度區塊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12 — 賽前減量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Knowledge Graph 是所有推理的共同底座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四棵主幹撐起整張圖,價值出現在它們互相連起來的地方。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941832" y="3310128"/>
            <a:ext cx="274320" cy="2743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13075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418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90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3685032" y="3310128"/>
            <a:ext cx="274320" cy="27432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40507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850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Muscle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Movement Pattern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Variations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6428232" y="3310128"/>
            <a:ext cx="274320" cy="27432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16" name="Text 14"/>
          <p:cNvSpPr/>
          <p:nvPr/>
        </p:nvSpPr>
        <p:spPr>
          <a:xfrm>
            <a:off x="67939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282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Exercises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Intensity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Fatigue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Cost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154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9171432" y="3310128"/>
            <a:ext cx="274320" cy="27432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20" name="Text 18"/>
          <p:cNvSpPr/>
          <p:nvPr/>
        </p:nvSpPr>
        <p:spPr>
          <a:xfrm>
            <a:off x="95371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714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Periodization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動作的關係寫進圖裡,不寫進 Prompt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「找替代動作」變成一次圖查詢,而不是每次靠語言重新猜一遍。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429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Goblet Squat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IS_VARIANT_OF →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20840" y="342900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10" name="Text 8"/>
          <p:cNvSpPr/>
          <p:nvPr/>
        </p:nvSpPr>
        <p:spPr>
          <a:xfrm>
            <a:off x="6720840" y="3429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414223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41422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Squat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414223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PROGRESSES_TO →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20840" y="414223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15" name="Text 13"/>
          <p:cNvSpPr/>
          <p:nvPr/>
        </p:nvSpPr>
        <p:spPr>
          <a:xfrm>
            <a:off x="6720840" y="41422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Squat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48554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8554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Squat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40480" y="485546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SIMILAR_TO 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20840" y="48554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F3F4F7"/>
          </a:solidFill>
          <a:ln/>
        </p:spPr>
      </p:sp>
      <p:sp>
        <p:nvSpPr>
          <p:cNvPr id="20" name="Text 18"/>
          <p:cNvSpPr/>
          <p:nvPr/>
        </p:nvSpPr>
        <p:spPr>
          <a:xfrm>
            <a:off x="6720840" y="48554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" y="5669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每個動作還掛著:主/次要肌群、關節、器材、難度、恢復成本、受傷風險、METS。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疲勞要落到肌群,不能只有一個全身分數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「今天不要再練胸」這種建議,前提是系統知道胸還剩多少。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399"/>
            <a:ext cx="4206240" cy="2685393"/>
          </a:xfrm>
          <a:prstGeom prst="roundRect">
            <a:avLst>
              <a:gd name="adj" fmla="val 4800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4015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全身負荷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840480"/>
            <a:ext cx="361188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  →  Training Load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endParaRPr lang="en-US" sz="1500" dirty="0"/>
          </a:p>
          <a:p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 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（</a:t>
            </a:r>
            <a:r>
              <a:rPr lang="en" altLang="zh-TW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Acute Training Load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）</a:t>
            </a:r>
          </a:p>
          <a:p>
            <a:r>
              <a:rPr lang="zh-TW" altLang="en-US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急性訓練負荷（短期疲勞）</a:t>
            </a:r>
            <a:endParaRPr lang="en-US" altLang="zh-TW" sz="1200" b="1" dirty="0">
              <a:solidFill>
                <a:schemeClr val="bg1">
                  <a:lumMod val="7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CTL 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（</a:t>
            </a:r>
            <a:r>
              <a:rPr lang="en" altLang="zh-TW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Chronic Training Load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）</a:t>
            </a:r>
          </a:p>
          <a:p>
            <a:r>
              <a:rPr lang="zh-TW" altLang="en-US" sz="1200" b="1" dirty="0">
                <a:solidFill>
                  <a:schemeClr val="bg1">
                    <a:lumMod val="7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慢性訓練負荷（長期體能）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lang="en-US" sz="15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r>
              <a:rPr lang="en-US" sz="1500" b="1" dirty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Microsoft JhengHei" panose="020B0604030504040204" pitchFamily="34" charset="-120"/>
                <a:cs typeface="Arial" pitchFamily="34" charset="-120"/>
              </a:rPr>
              <a:t>TSB</a:t>
            </a:r>
            <a:r>
              <a:rPr lang="zh-TW" altLang="en-US" sz="1500" b="1" dirty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Microsoft JhengHei" panose="020B0604030504040204" pitchFamily="34" charset="-120"/>
                <a:cs typeface="Arial" pitchFamily="34" charset="-120"/>
              </a:rPr>
              <a:t>  </a:t>
            </a:r>
            <a:r>
              <a:rPr lang="zh-TW" altLang="en-US" sz="1200" b="1" dirty="0">
                <a:solidFill>
                  <a:schemeClr val="bg1">
                    <a:lumMod val="75000"/>
                  </a:schemeClr>
                </a:solidFill>
                <a:latin typeface="Arial" pitchFamily="34" charset="0"/>
                <a:ea typeface="Microsoft JhengHei" panose="020B0604030504040204" pitchFamily="34" charset="-120"/>
                <a:cs typeface="Arial" pitchFamily="34" charset="-120"/>
              </a:rPr>
              <a:t>（</a:t>
            </a:r>
            <a:r>
              <a:rPr lang="en" altLang="zh-TW" sz="1200" b="1" dirty="0">
                <a:solidFill>
                  <a:schemeClr val="bg1">
                    <a:lumMod val="75000"/>
                  </a:schemeClr>
                </a:solidFill>
              </a:rPr>
              <a:t>Training Stress Balance</a:t>
            </a:r>
            <a:r>
              <a:rPr lang="zh-TW" altLang="en" sz="1200" b="1" dirty="0">
                <a:solidFill>
                  <a:schemeClr val="bg1">
                    <a:lumMod val="75000"/>
                  </a:schemeClr>
                </a:solidFill>
              </a:rPr>
              <a:t>）</a:t>
            </a:r>
          </a:p>
          <a:p>
            <a:r>
              <a:rPr lang="zh-TW" altLang="en-US" sz="1200" b="1" dirty="0">
                <a:solidFill>
                  <a:schemeClr val="bg1">
                    <a:lumMod val="75000"/>
                  </a:schemeClr>
                </a:solidFill>
              </a:rPr>
              <a:t>訓練壓力平衡（恢復程度）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257800" y="3200400"/>
            <a:ext cx="6245352" cy="2286000"/>
          </a:xfrm>
          <a:prstGeom prst="roundRect">
            <a:avLst>
              <a:gd name="adj" fmla="val 4800"/>
            </a:avLst>
          </a:prstGeom>
          <a:solidFill>
            <a:srgbClr val="1B1F2B"/>
          </a:solidFill>
          <a:ln/>
        </p:spPr>
      </p:sp>
      <p:sp>
        <p:nvSpPr>
          <p:cNvPr id="10" name="Text 8"/>
          <p:cNvSpPr/>
          <p:nvPr/>
        </p:nvSpPr>
        <p:spPr>
          <a:xfrm>
            <a:off x="5577840" y="34015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肌群疲勞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0" y="38770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3950208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2C3242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0" y="3950208"/>
            <a:ext cx="2926080" cy="219456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14" name="Text 12"/>
          <p:cNvSpPr/>
          <p:nvPr/>
        </p:nvSpPr>
        <p:spPr>
          <a:xfrm>
            <a:off x="10469880" y="387705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77840" y="43891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75120" y="446227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2C3242"/>
          </a:solidFill>
          <a:ln/>
        </p:spPr>
      </p:sp>
      <p:sp>
        <p:nvSpPr>
          <p:cNvPr id="17" name="Shape 15"/>
          <p:cNvSpPr/>
          <p:nvPr/>
        </p:nvSpPr>
        <p:spPr>
          <a:xfrm>
            <a:off x="6675120" y="44622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8A93A6"/>
          </a:solidFill>
          <a:ln/>
        </p:spPr>
      </p:sp>
      <p:sp>
        <p:nvSpPr>
          <p:cNvPr id="18" name="Text 16"/>
          <p:cNvSpPr/>
          <p:nvPr/>
        </p:nvSpPr>
        <p:spPr>
          <a:xfrm>
            <a:off x="10469880" y="43891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77840" y="49011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75120" y="4974336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2C3242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0" y="4974336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FB6A6"/>
          </a:solidFill>
          <a:ln/>
        </p:spPr>
      </p:sp>
      <p:sp>
        <p:nvSpPr>
          <p:cNvPr id="22" name="Text 20"/>
          <p:cNvSpPr/>
          <p:nvPr/>
        </p:nvSpPr>
        <p:spPr>
          <a:xfrm>
            <a:off x="10469880" y="490118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FD4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各家指標正規化,最後只留三個分數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不該處理四種睡眠分數,它只需要知道這個人準備好了沒有。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017520" cy="2286000"/>
          </a:xfrm>
          <a:prstGeom prst="roundRect">
            <a:avLst>
              <a:gd name="adj" fmla="val 4800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4015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原始指標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79476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Sleep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HRV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 Rate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F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43400" y="3200400"/>
            <a:ext cx="2834640" cy="2286000"/>
          </a:xfrm>
          <a:prstGeom prst="roundRect">
            <a:avLst>
              <a:gd name="adj" fmla="val 4800"/>
            </a:avLst>
          </a:prstGeom>
          <a:solidFill>
            <a:srgbClr val="F3F4F7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34015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B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統一量表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統一單位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統一時間軸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3A40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來源被抽象掉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694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FB5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772400" y="3200400"/>
            <a:ext cx="3730752" cy="2286000"/>
          </a:xfrm>
          <a:prstGeom prst="roundRect">
            <a:avLst>
              <a:gd name="adj" fmla="val 4800"/>
            </a:avLst>
          </a:prstGeom>
          <a:solidFill>
            <a:srgbClr val="10131A"/>
          </a:solidFill>
          <a:ln/>
        </p:spPr>
      </p:sp>
      <p:sp>
        <p:nvSpPr>
          <p:cNvPr id="15" name="Text 13"/>
          <p:cNvSpPr/>
          <p:nvPr/>
        </p:nvSpPr>
        <p:spPr>
          <a:xfrm>
            <a:off x="8092440" y="34015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看到的全部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92440" y="37947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Score</a:t>
            </a:r>
            <a:endParaRPr lang="en-US" sz="1800" dirty="0"/>
          </a:p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Fatigue Score</a:t>
            </a:r>
            <a:endParaRPr lang="en-US" sz="1800" dirty="0"/>
          </a:p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Score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Connector Layer:AI 永遠不碰 API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 Connector </a:t>
            </a:r>
            <a:r>
              <a:rPr lang="en-US" sz="2000" dirty="0" err="1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只負責四件事,把外部世界的</a:t>
            </a:r>
            <a:r>
              <a:rPr lang="zh-CN" alt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數據雜亂資料</a:t>
            </a:r>
            <a:r>
              <a:rPr lang="en-US" sz="2000" dirty="0" err="1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關在平台邊界之外</a:t>
            </a: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4290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1722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</p:sp>
      <p:sp>
        <p:nvSpPr>
          <p:cNvPr id="11" name="Text 9"/>
          <p:cNvSpPr/>
          <p:nvPr/>
        </p:nvSpPr>
        <p:spPr>
          <a:xfrm>
            <a:off x="61722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9154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0131A"/>
          </a:solidFill>
          <a:ln/>
        </p:spPr>
      </p:sp>
      <p:sp>
        <p:nvSpPr>
          <p:cNvPr id="13" name="Text 11"/>
          <p:cNvSpPr/>
          <p:nvPr/>
        </p:nvSpPr>
        <p:spPr>
          <a:xfrm>
            <a:off x="89154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85800" y="4526280"/>
            <a:ext cx="1536192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52628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Apple Health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404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17" name="Text 15"/>
          <p:cNvSpPr/>
          <p:nvPr/>
        </p:nvSpPr>
        <p:spPr>
          <a:xfrm>
            <a:off x="2404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Garmin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47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19" name="Text 17"/>
          <p:cNvSpPr/>
          <p:nvPr/>
        </p:nvSpPr>
        <p:spPr>
          <a:xfrm>
            <a:off x="3547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Strava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33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25" name="Text 23"/>
          <p:cNvSpPr/>
          <p:nvPr/>
        </p:nvSpPr>
        <p:spPr>
          <a:xfrm>
            <a:off x="5833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Fitbit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976872" y="4526280"/>
            <a:ext cx="1632204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27" name="Text 25"/>
          <p:cNvSpPr/>
          <p:nvPr/>
        </p:nvSpPr>
        <p:spPr>
          <a:xfrm>
            <a:off x="6976872" y="4526280"/>
            <a:ext cx="1632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TrainingPeaks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91956" y="4526280"/>
            <a:ext cx="1824228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29" name="Text 27"/>
          <p:cNvSpPr/>
          <p:nvPr/>
        </p:nvSpPr>
        <p:spPr>
          <a:xfrm>
            <a:off x="8791956" y="4526280"/>
            <a:ext cx="18242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Calendar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690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F3F4F7"/>
          </a:solidFill>
          <a:ln/>
        </p:spPr>
      </p:sp>
      <p:sp>
        <p:nvSpPr>
          <p:cNvPr id="31" name="Text 29"/>
          <p:cNvSpPr/>
          <p:nvPr/>
        </p:nvSpPr>
        <p:spPr>
          <a:xfrm>
            <a:off x="4690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Notion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5806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新增一家資料源,不需要動到上面任何一層。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對外開放的十組工具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這就是產品的能力清單 —— 任何支援 MCP 的客戶端都能直接呼叫。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06324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886968" y="3264408"/>
            <a:ext cx="182880" cy="18288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32095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86968" y="35935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get_profile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update_goal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880360" y="306324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3081528" y="32644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32095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081528" y="35935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search_workout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recommend_workout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74920" y="306324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276088" y="3264408"/>
            <a:ext cx="182880" cy="18288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16" name="Text 14"/>
          <p:cNvSpPr/>
          <p:nvPr/>
        </p:nvSpPr>
        <p:spPr>
          <a:xfrm>
            <a:off x="5577840" y="32095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276088" y="35935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search_exercise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compare_exercise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69480" y="306324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0648" y="3264408"/>
            <a:ext cx="182880" cy="18288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0" y="32095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470648" y="35935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generate_plan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next_workout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464040" y="306324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23" name="Shape 21"/>
          <p:cNvSpPr/>
          <p:nvPr/>
        </p:nvSpPr>
        <p:spPr>
          <a:xfrm>
            <a:off x="9665208" y="3264408"/>
            <a:ext cx="182880" cy="182880"/>
          </a:xfrm>
          <a:prstGeom prst="ellipse">
            <a:avLst/>
          </a:prstGeom>
          <a:solidFill>
            <a:srgbClr val="8A93A6"/>
          </a:solidFill>
          <a:ln/>
        </p:spPr>
      </p:sp>
      <p:sp>
        <p:nvSpPr>
          <p:cNvPr id="24" name="Text 22"/>
          <p:cNvSpPr/>
          <p:nvPr/>
        </p:nvSpPr>
        <p:spPr>
          <a:xfrm>
            <a:off x="9966960" y="32095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665208" y="35935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calculate_recovery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recommend_rest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85800" y="461772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27" name="Shape 25"/>
          <p:cNvSpPr/>
          <p:nvPr/>
        </p:nvSpPr>
        <p:spPr>
          <a:xfrm>
            <a:off x="886968" y="481888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28" name="Text 26"/>
          <p:cNvSpPr/>
          <p:nvPr/>
        </p:nvSpPr>
        <p:spPr>
          <a:xfrm>
            <a:off x="1188720" y="476402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86968" y="51480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weekly_summary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VO2 prediction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880360" y="461772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31" name="Shape 29"/>
          <p:cNvSpPr/>
          <p:nvPr/>
        </p:nvSpPr>
        <p:spPr>
          <a:xfrm>
            <a:off x="3081528" y="4818888"/>
            <a:ext cx="182880" cy="18288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32" name="Text 30"/>
          <p:cNvSpPr/>
          <p:nvPr/>
        </p:nvSpPr>
        <p:spPr>
          <a:xfrm>
            <a:off x="3383280" y="476402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3081528" y="51480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move_workout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74920" y="461772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35" name="Shape 33"/>
          <p:cNvSpPr/>
          <p:nvPr/>
        </p:nvSpPr>
        <p:spPr>
          <a:xfrm>
            <a:off x="5276088" y="4818888"/>
            <a:ext cx="182880" cy="18288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6" name="Text 34"/>
          <p:cNvSpPr/>
          <p:nvPr/>
        </p:nvSpPr>
        <p:spPr>
          <a:xfrm>
            <a:off x="5577840" y="476402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276088" y="51480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get_sleep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get_hrv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269480" y="461772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39" name="Shape 37"/>
          <p:cNvSpPr/>
          <p:nvPr/>
        </p:nvSpPr>
        <p:spPr>
          <a:xfrm>
            <a:off x="7470648" y="4818888"/>
            <a:ext cx="182880" cy="18288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0" y="476402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Nutrition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7470648" y="51480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recommend_protein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464040" y="461772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F3F4F7"/>
          </a:solidFill>
          <a:ln/>
        </p:spPr>
      </p:sp>
      <p:sp>
        <p:nvSpPr>
          <p:cNvPr id="43" name="Shape 41"/>
          <p:cNvSpPr/>
          <p:nvPr/>
        </p:nvSpPr>
        <p:spPr>
          <a:xfrm>
            <a:off x="9665208" y="4818888"/>
            <a:ext cx="182880" cy="182880"/>
          </a:xfrm>
          <a:prstGeom prst="ellipse">
            <a:avLst/>
          </a:prstGeom>
          <a:solidFill>
            <a:srgbClr val="8A93A6"/>
          </a:solidFill>
          <a:ln/>
        </p:spPr>
      </p:sp>
      <p:sp>
        <p:nvSpPr>
          <p:cNvPr id="44" name="Text 42"/>
          <p:cNvSpPr/>
          <p:nvPr/>
        </p:nvSpPr>
        <p:spPr>
          <a:xfrm>
            <a:off x="9966960" y="476402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9665208" y="51480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why_today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收斂成四個各司其職的 MCP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拆開之後,客戶端可以只掛需要的那一顆,權限與演進也能各自獨立。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4612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" y="3566160"/>
            <a:ext cx="402336" cy="402336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8" name="Text 6"/>
          <p:cNvSpPr/>
          <p:nvPr/>
        </p:nvSpPr>
        <p:spPr>
          <a:xfrm>
            <a:off x="1581912" y="33924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Workout MCP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81912" y="37764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課表、動作、組數與執行紀錄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324612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6583680" y="3566160"/>
            <a:ext cx="402336" cy="402336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12" name="Text 10"/>
          <p:cNvSpPr/>
          <p:nvPr/>
        </p:nvSpPr>
        <p:spPr>
          <a:xfrm>
            <a:off x="7159752" y="33924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MCP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59752" y="37764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睡眠、HRV、恢復與身體狀態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52628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5840" y="4846320"/>
            <a:ext cx="402336" cy="402336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16" name="Text 14"/>
          <p:cNvSpPr/>
          <p:nvPr/>
        </p:nvSpPr>
        <p:spPr>
          <a:xfrm>
            <a:off x="1581912" y="46725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Nutrition MCP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81912" y="5056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熱量、營養素與飲食紀錄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63640" y="452628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0" y="484632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0" name="Text 18"/>
          <p:cNvSpPr/>
          <p:nvPr/>
        </p:nvSpPr>
        <p:spPr>
          <a:xfrm>
            <a:off x="7159752" y="46725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13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 MCP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159752" y="5056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規劃、調整與教練式對話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應用情境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六個使用者真的會問的問題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這六題答得出來,產品就成立;答不出來,架構就白做了。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960120" y="352044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「今天適合跑嗎?昨天腿很酸」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352044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1208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「下週出差,重新安排課表」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244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6760" y="3520440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91540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「找 Goblet Squat 的替代動作」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" y="4818888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0876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「左膝有傷,不要排跳的」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8912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23" name="Shape 21"/>
          <p:cNvSpPr/>
          <p:nvPr/>
        </p:nvSpPr>
        <p:spPr>
          <a:xfrm>
            <a:off x="4663440" y="4818888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1208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「分析這個月訓練,瓶頸在哪」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9244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F3F4F7"/>
          </a:solidFill>
          <a:ln/>
        </p:spPr>
      </p:sp>
      <p:sp>
        <p:nvSpPr>
          <p:cNvPr id="27" name="Shape 25"/>
          <p:cNvSpPr/>
          <p:nvPr/>
        </p:nvSpPr>
        <p:spPr>
          <a:xfrm>
            <a:off x="8366760" y="4818888"/>
            <a:ext cx="402336" cy="40233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8" name="Text 26"/>
          <p:cNvSpPr/>
          <p:nvPr/>
        </p:nvSpPr>
        <p:spPr>
          <a:xfrm>
            <a:off x="836676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91540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語音:「今天怎麼樣?」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「今天適合跑嗎?昨天腿很酸」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昨天實際做了什麼(跨來源)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今天的恢復與 Readiness 分數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腿部肌群的殘餘疲勞百分比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Connector Layer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Health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Training Load Graph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B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「下週出差,重新安排課表」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你的行事曆與每天可用時間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原計畫的週期化目標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改動後剩餘週數是否足夠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Calendar Connector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Program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Planning Engine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「找 Goblet Squat 的替代動作」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動作之間的變體與相似關係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你手邊有哪些器材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難度與技術門檻是否相當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Exercise Graph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User Graph — Equipment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「左膝有傷,不要排跳的」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這是長期約束,不是這次的要求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哪些動作牽涉到該關節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替代方案要維持同樣訓練效果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User Graph — Injury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Exercise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Planning Engine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「分析這個月訓練,瓶頸在哪」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完整的跨來源訓練歷程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負荷趨勢:ATL / CTL / TSB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目標與實際執行的落差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Training Graph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Analytics Engine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情境 F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0131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語音:「今天怎麼樣?」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當下的 Readiness 分數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推導這個結論的理由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C31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一句話講得完的建議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0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Semantic Layer — UserState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FD4D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 Semantic Layer — Reasoning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應用情境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六題的共通點:先理解人,才談推薦什麼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每一題都要求系統先答得出「你是誰、你現在怎麼樣」,那份理解就是產品本身。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1B1F2B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A93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問題長得像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推薦一堂課、排一份課表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6364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E3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真正在問的是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我現在能不能練、該練哪裡、為什麼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5440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3C9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價值不在內容,在對使用者的理解。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— 怎麼開始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九個階段,每一階段都有可量測的出場條件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沒通過驗收就不進下一階段;每組 golden query 在三家模型分開記分。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7" name="Shape 5"/>
          <p:cNvSpPr/>
          <p:nvPr/>
        </p:nvSpPr>
        <p:spPr>
          <a:xfrm>
            <a:off x="905256" y="2816352"/>
            <a:ext cx="274320" cy="274320"/>
          </a:xfrm>
          <a:prstGeom prst="ellipse">
            <a:avLst/>
          </a:prstGeom>
          <a:solidFill>
            <a:srgbClr val="8A93A6"/>
          </a:solidFill>
          <a:ln/>
        </p:spPr>
      </p:sp>
      <p:sp>
        <p:nvSpPr>
          <p:cNvPr id="8" name="Text 6"/>
          <p:cNvSpPr/>
          <p:nvPr/>
        </p:nvSpPr>
        <p:spPr>
          <a:xfrm>
            <a:off x="9052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710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骨架與不可逆決策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052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Transport、OAuth、Schema 先鎖定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052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93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三家 client 都能完成 handshake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4562856" y="2816352"/>
            <a:ext cx="274320" cy="2743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45628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286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Workout Knowledge Base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628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動作本體與課表結構化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628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628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替代動作合理率 ≥ 85%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010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0456" y="2816352"/>
            <a:ext cx="274320" cy="27432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22" name="Text 20"/>
          <p:cNvSpPr/>
          <p:nvPr/>
        </p:nvSpPr>
        <p:spPr>
          <a:xfrm>
            <a:off x="82204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862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MCP Read API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04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六個唯讀工具,零副作用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204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04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Tool 選對率 ≥ 90%,Grounding ≥ 99%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28" name="Shape 26"/>
          <p:cNvSpPr/>
          <p:nvPr/>
        </p:nvSpPr>
        <p:spPr>
          <a:xfrm>
            <a:off x="905256" y="3986784"/>
            <a:ext cx="274320" cy="27432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29" name="Text 27"/>
          <p:cNvSpPr/>
          <p:nvPr/>
        </p:nvSpPr>
        <p:spPr>
          <a:xfrm>
            <a:off x="9052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2710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Rule-based Recommendation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052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確定性規則先於模型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52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52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傷病禁忌違反率 = 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434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2856" y="3986784"/>
            <a:ext cx="274320" cy="27432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36" name="Text 34"/>
          <p:cNvSpPr/>
          <p:nvPr/>
        </p:nvSpPr>
        <p:spPr>
          <a:xfrm>
            <a:off x="45628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286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Planning Engine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628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多週期計畫由引擎產生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628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628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計畫合法率 = 100%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010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42" name="Shape 40"/>
          <p:cNvSpPr/>
          <p:nvPr/>
        </p:nvSpPr>
        <p:spPr>
          <a:xfrm>
            <a:off x="8220456" y="3986784"/>
            <a:ext cx="274320" cy="2743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3" name="Text 41"/>
          <p:cNvSpPr/>
          <p:nvPr/>
        </p:nvSpPr>
        <p:spPr>
          <a:xfrm>
            <a:off x="82204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5862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Health Integration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2204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Connector 與 Readiness 分數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2204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204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3 個 connector 穩定同步 30 天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58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49" name="Shape 47"/>
          <p:cNvSpPr/>
          <p:nvPr/>
        </p:nvSpPr>
        <p:spPr>
          <a:xfrm>
            <a:off x="905256" y="5157216"/>
            <a:ext cx="274320" cy="274320"/>
          </a:xfrm>
          <a:prstGeom prst="ellipse">
            <a:avLst/>
          </a:prstGeom>
          <a:solidFill>
            <a:srgbClr val="1FB6A6"/>
          </a:solidFill>
          <a:ln/>
        </p:spPr>
      </p:sp>
      <p:sp>
        <p:nvSpPr>
          <p:cNvPr id="50" name="Text 48"/>
          <p:cNvSpPr/>
          <p:nvPr/>
        </p:nvSpPr>
        <p:spPr>
          <a:xfrm>
            <a:off x="9052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2710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Write Actions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52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兩階段提交與稽核軌跡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052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B6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重複提交只產生一筆變更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3434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56" name="Shape 54"/>
          <p:cNvSpPr/>
          <p:nvPr/>
        </p:nvSpPr>
        <p:spPr>
          <a:xfrm>
            <a:off x="4562856" y="5157216"/>
            <a:ext cx="274320" cy="274320"/>
          </a:xfrm>
          <a:prstGeom prst="ellipse">
            <a:avLst/>
          </a:prstGeom>
          <a:solidFill>
            <a:srgbClr val="10131A"/>
          </a:solidFill>
          <a:ln/>
        </p:spPr>
      </p:sp>
      <p:sp>
        <p:nvSpPr>
          <p:cNvPr id="57" name="Text 55"/>
          <p:cNvSpPr/>
          <p:nvPr/>
        </p:nvSpPr>
        <p:spPr>
          <a:xfrm>
            <a:off x="45628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9286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Cross-LLM 深化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5628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體驗對齊與 MCP Apps UI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628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628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三家模型指標差距 &lt; 10pp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80010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F3F4F7"/>
          </a:solidFill>
          <a:ln/>
        </p:spPr>
      </p:sp>
      <p:sp>
        <p:nvSpPr>
          <p:cNvPr id="63" name="Shape 61"/>
          <p:cNvSpPr/>
          <p:nvPr/>
        </p:nvSpPr>
        <p:spPr>
          <a:xfrm>
            <a:off x="8220456" y="5157216"/>
            <a:ext cx="274320" cy="274320"/>
          </a:xfrm>
          <a:prstGeom prst="ellipse">
            <a:avLst/>
          </a:prstGeom>
          <a:solidFill>
            <a:srgbClr val="4A5568"/>
          </a:solidFill>
          <a:ln/>
        </p:spPr>
      </p:sp>
      <p:sp>
        <p:nvSpPr>
          <p:cNvPr id="64" name="Text 62"/>
          <p:cNvSpPr/>
          <p:nvPr/>
        </p:nvSpPr>
        <p:spPr>
          <a:xfrm>
            <a:off x="82204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5862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Ecosystem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82204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主動代理與第三方開放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82204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2204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  持續演進,無固定出場點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E76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13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Plaid 之於金融,Stripe 之於支付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353A4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我們要的是運動領域的同一個位置:資料整合 + AI 規劃 + MCP 的基礎層。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F3F4F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金融資料整合層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F3F4F7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A4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0916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支付基礎設施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9244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10131A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41248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The Personal Fitness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D6DA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Intelligence Layer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5760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E768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上層可以換成 AR 眼鏡,底層可以換掉任何一家裝置商 —— 中間這一層不用動。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A8AE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1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206240" cy="4206240"/>
          </a:xfrm>
          <a:prstGeom prst="ellipse">
            <a:avLst/>
          </a:prstGeom>
          <a:solidFill>
            <a:srgbClr val="F96167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最重要的核心資產,</a:t>
            </a:r>
            <a:endParaRPr lang="en-US" sz="33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是那份被儲存下來的理解,</a:t>
            </a:r>
            <a:endParaRPr lang="en-US" sz="33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不是模型本身。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85800" y="4800600"/>
            <a:ext cx="201168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3C9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Fitness MCP — Semantic Fitness Layer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54681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C849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下一步:Phase 1 範圍界定,以及情境 A 的端到端驗證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1446</Words>
  <Application>Microsoft Macintosh PowerPoint</Application>
  <PresentationFormat>寬螢幕</PresentationFormat>
  <Paragraphs>477</Paragraphs>
  <Slides>29</Slides>
  <Notes>29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5" baseType="lpstr">
      <vt:lpstr>Microsoft JhengHei</vt:lpstr>
      <vt:lpstr>新細明體</vt:lpstr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Fitness MCP — Semantic Fitness Layer</dc:title>
  <dc:subject>PptxGenJS Presentation</dc:subject>
  <dc:creator>Henry</dc:creator>
  <cp:lastModifiedBy>Microsoft Office User</cp:lastModifiedBy>
  <cp:revision>3</cp:revision>
  <dcterms:created xsi:type="dcterms:W3CDTF">2026-07-24T06:11:41Z</dcterms:created>
  <dcterms:modified xsi:type="dcterms:W3CDTF">2026-07-24T15:31:38Z</dcterms:modified>
</cp:coreProperties>
</file>
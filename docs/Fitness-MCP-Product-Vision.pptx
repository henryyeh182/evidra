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36"/>
    <p:sldId id="262" r:id="rId7"/>
    <p:sldId id="263" r:id="rId8"/>
    <p:sldId id="264" r:id="rId9"/>
    <p:sldId id="265" r:id="rId37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3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6.xml"/><Relationship Id="rId37" Type="http://schemas.openxmlformats.org/officeDocument/2006/relationships/slide" Target="slides/slide10.xml"/><Relationship Id="rId38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912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問題不在模型不夠聰明,而在每個模型都得重新推理一次,結果無法收斂。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這是隱私界線,不是效能設計。計畫與決策紀錄由呼叫端持有:Phase 1 存在 AI host 的記憶,Phase 2 存在使用者自己的資料庫 —— 兩種情況 hosted 都不留。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每個輸出都帶 confidence、evidence、signalCoverage、limits。缺的訊號列進 missing 並下調信心,不補造數值 —— 沒有 RPE 就是沒有,不是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Phase 1 的界線:不直接連資料供應商、不持有來源 OAuth refresh token、不把 raw Evidence 寫入 database、file、object storage、queue 或 analytics。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邏輯寫在 prompt 裡就會隨模型漂移;寫在引擎裡才可被驗證、可被回測。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計畫不是一份靜態文件:改掉其中一週,後面所有週會跟著重算。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Graph 實際分八層:Exercise、Workout、Program、User、Health、Training Load、Nutrition、Knowledge。我們這端的學習發生在引擎規則與知識圖譜(跨使用者的通則),不在個人資料。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換掉任何一家裝置商,AI 那一側完全不用改。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目前實作 3 家 parser(Apple Health／Garmin／Strava,Strava 含 API 與 bulk export 兩種方言),schema registry 涵蓋 6 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六個都通過 GPT-6 Test:每一個都需要這個人的證據、需要縱向計算,或提供確定性保證。search_exercise、compare_exercise 這類純知識查詢已經拿掉。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Phase 2 是核心宗旨要的那個版本,不是高隱私情境的選配。持久化只能存在於 Phase 2 —— raw payload、HRV／睡眠、每日狀態那些表在 hosted 一張都不能建。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關鍵字是「昨天」和「腿」:一個要跨來源歷程,一個要分肌群疲勞。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課表必須是一張可被改寫、且會自動往下傳遞影響的圖,不是一份文字清單。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這題會撞到動作本體資料的建置成本,Phase 1 範圍界定時要先想清楚。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傷勢必須是常駐資料,不能靠使用者每次自己記得講。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歷程由呼叫端隨呼叫傳入 —— hosted 不保存歷程,所以這一題的完整度取決於呼叫端手上有多少。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語音是最好的壓力測試:證據要夠小、計算要夠快 —— 實測單次決策 0.443 ms、零次外部 API 呼叫。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已完成的三項附實測數字;未完成的不給沒有出處的門檻數字 —— 原本的「替代動作合理率 ≥ 85%」、「Tool 選對率 ≥ 90%」都沒有出處,已移除。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對外只能說「只處理呼叫端送進來的最小化健康證據,不留存、不販售、不訓練、不作無關用途」;不能說「完全不碰健康資料」—— 接收並計算 Evidence 本身就是 transient processing。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決策型別:keep、adjust、substitute、defer、advance —— keep 也是決策。推論:計畫是決策的基底,沒有計畫只能推薦。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這條判準是每個 tool 的准入門檻,也是為什麼知識圖譜是內部證據來源而不是對外產品。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F96167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3474720"/>
            <a:ext cx="2926080" cy="2926080"/>
          </a:xfrm>
          <a:prstGeom prst="ellipse">
            <a:avLst/>
          </a:prstGeom>
          <a:solidFill>
            <a:srgbClr val="1FB6A6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298448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VISION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Pacevera</a:t>
            </a:r>
            <a:endParaRPr lang="en-US" sz="5000" dirty="0"/>
          </a:p>
          <a:p>
            <a:pPr marL="0" indent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Decision Engine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85800" y="39776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C3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讓你熟悉的 AI 根據連續 Evidence 做出可重現的訓練決策 —— 健康歷史仍由你控制。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4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產品終局 · v0.4.2 → v0.5.0 · Phase 0–4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這份簡報講三件事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先看產品終局,再看已交付能力,最後用真實情境與 roadmap 驗收。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200400"/>
            <a:ext cx="3291840" cy="2377440"/>
          </a:xfrm>
          <a:prstGeom prst="roundRect">
            <a:avLst>
              <a:gd name="adj" fmla="val 538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5262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我們蓋的不是 App,是一個確定性的訓練決策引擎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3200400"/>
            <a:ext cx="3291840" cy="2377440"/>
          </a:xfrm>
          <a:prstGeom prst="roundRect">
            <a:avLst>
              <a:gd name="adj" fmla="val 538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0916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45262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6 tools、下一版 10 tools,以及版本化的 Engine 與 Rule Packages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3200400"/>
            <a:ext cx="3291840" cy="2377440"/>
          </a:xfrm>
          <a:prstGeom prst="roundRect">
            <a:avLst>
              <a:gd name="adj" fmla="val 538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1248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1248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應用情境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45262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六個真實問題,以及從 v0.5.0 到 private engine 的交付順序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核心概念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身體是連續的,資料卻是被切開的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睡眠在一個 App、跑步在另一個、重訓在第三個,沒有人負責把它們接成同一個人。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56616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41832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Health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41832" y="4206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睡眠 · HRV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356616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85032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Garmin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85032" y="4206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恢復 · 訓練狀態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56616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28232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Strava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28232" y="4206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跑步 · 騎車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15400" y="356616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71432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健身房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71432" y="4206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A3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沒有任何紀錄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每一段都是真的,合起來卻拼不出「他今天到底能不能練」。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核心概念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所以使用者每一次都要重新自我介紹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換一個模型、換一個對話視窗,理解就歸零 —— 而人的身體狀態是連續的。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各自從零解析原始資料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4709160"/>
            <a:ext cx="265176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4864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結論 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0" y="365760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0916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各自從零解析原始資料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4709160"/>
            <a:ext cx="265176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09160" y="4864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結論 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365760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1248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各自從零解析原始資料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0" y="4709160"/>
            <a:ext cx="265176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0" y="4864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結論 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核心概念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我們要蓋的,是中間那一層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D6D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把多來源資料正規化、推理、語意化,讓任何 AI 讀到同一份「這個人現在怎麼樣」。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291840"/>
            <a:ext cx="10817352" cy="1463040"/>
          </a:xfrm>
          <a:prstGeom prst="roundRect">
            <a:avLst>
              <a:gd name="adj" fmla="val 875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88720" y="349300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Fitness Layer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40965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E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 →  Reasoning  →  Semantic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5212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3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產品不是 UI。任何介面 —— ChatGPT、Claude、手錶、語音 —— 都只是這一層的 Client。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核心概念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使用者要連續的決策能力,不要再交出健康歷史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D6D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host 負責理解與表達;Pacevera 在使用者控制的資料邊界內負責計算、仲裁與追溯。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383280"/>
            <a:ext cx="5120640" cy="1737360"/>
          </a:xfrm>
          <a:prstGeom prst="roundRect">
            <a:avLst>
              <a:gd name="adj" fmla="val 7368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93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使用者要的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今天照不照原課表、具體改成什麼、為什麼、缺什麼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63640" y="3383280"/>
            <a:ext cx="5120640" cy="1737360"/>
          </a:xfrm>
          <a:prstGeom prst="roundRect">
            <a:avLst>
              <a:gd name="adj" fmla="val 7368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3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使用者不要的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40690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AI host 或 Pacevera hosted service 各自保存完整健康歷史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5440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3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Local／private 保存 state;hosted 只做最小化 transient processing。兩者不能共用同一句隱私承諾。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核心概念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關鍵設計:資料由使用者控制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Local／private 可保存可重算的 state、plan 與 decision history;hosted 不保存 raw Evidence。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429000"/>
            <a:ext cx="10820095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35753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A1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使用者控制環境保存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94106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40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Raw Evidence · provider token · longitudinal state · plan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4709160"/>
            <a:ext cx="10820095" cy="1051560"/>
          </a:xfrm>
          <a:prstGeom prst="roundRect">
            <a:avLst>
              <a:gd name="adj" fmla="val 10435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48554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host 最小化取得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522122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 from → to · reason · missing signals · versioned trace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核心概念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輸出具體長這樣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D6D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決策、動作、理由,外加信心與訊號覆蓋 —— host 讀到的是結論,不是待處理的資料。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154680"/>
            <a:ext cx="5120640" cy="2514600"/>
          </a:xfrm>
          <a:prstGeom prst="roundRect">
            <a:avLst>
              <a:gd name="adj" fmla="val 3636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3364992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9E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FitnessState: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9E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recovery: 62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9E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fatigue: 48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9E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readiness: 55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9E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acwr: 1.52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9E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confidence: 0.71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9E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missing: ["rpe"]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3154680"/>
            <a:ext cx="5148072" cy="2514600"/>
          </a:xfrm>
          <a:prstGeom prst="roundRect">
            <a:avLst>
              <a:gd name="adj" fmla="val 3636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0" y="3364992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adjust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from: VO₂max Intervals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to:   Zone 2 · 45 min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Reason: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ACWR 1.52 &gt; 1.40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Sleep debt · HRV -12%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核心概念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四層架構:資料邊界與決策責任分開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可替換、Decision Engine 可重現、Evidence 與 token 留在 user-controlled boundary。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926080"/>
            <a:ext cx="10820095" cy="676656"/>
          </a:xfrm>
          <a:prstGeom prst="roundRect">
            <a:avLst>
              <a:gd name="adj" fmla="val 13514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3099816"/>
            <a:ext cx="329184" cy="32918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63040" y="292608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Client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86200" y="2926080"/>
            <a:ext cx="7406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· ChatGPT · Gemini · Web · Mobile · Team systems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721608"/>
            <a:ext cx="10820095" cy="676656"/>
          </a:xfrm>
          <a:prstGeom prst="roundRect">
            <a:avLst>
              <a:gd name="adj" fmla="val 13514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60120" y="3895344"/>
            <a:ext cx="329184" cy="329184"/>
          </a:xfrm>
          <a:prstGeom prst="ellipse">
            <a:avLst/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372160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Pacevera Interface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86200" y="3721608"/>
            <a:ext cx="7406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Desktop MCPB · private MCP · hosted remote · future REST / SDK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517136"/>
            <a:ext cx="10820095" cy="676656"/>
          </a:xfrm>
          <a:prstGeom prst="roundRect">
            <a:avLst>
              <a:gd name="adj" fmla="val 13514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690872"/>
            <a:ext cx="329184" cy="32918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45171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Infrastructure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86200" y="4517136"/>
            <a:ext cx="7406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Semantic State · Decision Engine · Rule Packages · Decision Graph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5312664"/>
            <a:ext cx="10820095" cy="676656"/>
          </a:xfrm>
          <a:prstGeom prst="roundRect">
            <a:avLst>
              <a:gd name="adj" fmla="val 13514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0120" y="5486400"/>
            <a:ext cx="329184" cy="329184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531266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User-controlled Evidence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86200" y="5312664"/>
            <a:ext cx="7406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 connectors · provider tokens · raw history · plans · outcomes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核心功能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我們給的是決策,不是建議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建議可以憑空發出;決策必須知道「今天原本要做什麼」,並寫成 from → to。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429000"/>
            <a:ext cx="10820095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35753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A1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94106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40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「建議今天跑 Zone 2」 —— 憑空發出,GPT-6 也做得到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4709160"/>
            <a:ext cx="10820095" cy="1051560"/>
          </a:xfrm>
          <a:prstGeom prst="roundRect">
            <a:avLst>
              <a:gd name="adj" fmla="val 10435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48554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522122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「今天的 VO₂max Intervals → 45 分鐘 Zone 2」 —— 對既有計畫的變更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核心功能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是 Orchestrator,不做計算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D6D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恢復分數、訓練量、課表,全部由引擎決定;LLM 負責理解、呼叫、解釋與調整。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38328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33832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58568" y="37216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14600" y="338328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60320" y="33832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MCP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87368" y="37216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43400" y="338328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89120" y="33832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16168" y="37216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338328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17920" y="33832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44968" y="37216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01000" y="338328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46720" y="33832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Engine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73768" y="37216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829800" y="338328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875520" y="33832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+ Reason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475488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51560" y="491947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B6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5285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理解語意 · 呼叫工具 · 解釋結果 · 依回饋調整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475488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29400" y="491947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不做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5285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算恢復分數 · 決定訓練量 · 憑空生成課表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核心功能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決策引擎不是一個模型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先把各家證據對齊,再用確定性規則算出決策,最後才交給 host 的模型講人話。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52044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37033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9E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ACWR &gt; 1.40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9E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Sleep debt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9E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Yesterday leg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9E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Intervals → Zone 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3520440"/>
            <a:ext cx="5148072" cy="484632"/>
          </a:xfrm>
          <a:prstGeom prst="roundRect">
            <a:avLst>
              <a:gd name="adj" fmla="val 16981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629400" y="3675888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95160" y="3520440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0" y="3520440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各家證據對齊成一份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4096512"/>
            <a:ext cx="5148072" cy="484632"/>
          </a:xfrm>
          <a:prstGeom prst="roundRect">
            <a:avLst>
              <a:gd name="adj" fmla="val 16981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629400" y="4251960"/>
            <a:ext cx="182880" cy="182880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995160" y="4096512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0" y="4096512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確定性計算與安全底線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4672584"/>
            <a:ext cx="5148072" cy="484632"/>
          </a:xfrm>
          <a:prstGeom prst="roundRect">
            <a:avLst>
              <a:gd name="adj" fmla="val 16981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629400" y="4828032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995160" y="4672584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LLM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4672584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翻譯成人聽得懂的話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5532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我們的程式不呼叫模型來產生決策 —— 同樣的證據送兩次,必須得到同一個決策。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核心功能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Planning Engine 是整個產品最大的價值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D6D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把目標、歷程、時間、器材、恢復一起算進去,產出可執行的多週期計畫。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108960"/>
            <a:ext cx="2834640" cy="475488"/>
          </a:xfrm>
          <a:prstGeom prst="roundRect">
            <a:avLst>
              <a:gd name="adj" fmla="val 17308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3108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675888"/>
            <a:ext cx="2834640" cy="475488"/>
          </a:xfrm>
          <a:prstGeom prst="roundRect">
            <a:avLst>
              <a:gd name="adj" fmla="val 17308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36758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242816"/>
            <a:ext cx="2834640" cy="475488"/>
          </a:xfrm>
          <a:prstGeom prst="roundRect">
            <a:avLst>
              <a:gd name="adj" fmla="val 17308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4242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809744"/>
            <a:ext cx="2834640" cy="475488"/>
          </a:xfrm>
          <a:prstGeom prst="roundRect">
            <a:avLst>
              <a:gd name="adj" fmla="val 17308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4809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5376672"/>
            <a:ext cx="2834640" cy="475488"/>
          </a:xfrm>
          <a:prstGeom prst="roundRect">
            <a:avLst>
              <a:gd name="adj" fmla="val 17308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53766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43400" y="3108960"/>
            <a:ext cx="2926080" cy="2505456"/>
          </a:xfrm>
          <a:prstGeom prst="roundRect">
            <a:avLst>
              <a:gd name="adj" fmla="val 4380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43400" y="3108960"/>
            <a:ext cx="292608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20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06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01000" y="3108960"/>
            <a:ext cx="3502152" cy="2505456"/>
          </a:xfrm>
          <a:prstGeom prst="roundRect">
            <a:avLst>
              <a:gd name="adj" fmla="val 438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2104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週半馬計畫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21040" y="3886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FFE3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1 — 建立基礎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FFE3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4 — 出差,自動降載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FFE3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8 — 強度區塊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FFE3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12 — 賽前減量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核心功能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知識圖譜是內部支撐,不是對外產品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889 節點 / 5,785 邊,只在引擎內部被查詢;對外開放的是決策,不是圖。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1089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41832" y="3310128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07592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37490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31089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85032" y="3310128"/>
            <a:ext cx="274320" cy="27432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050792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85032" y="37490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Pattern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31089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28232" y="3310128"/>
            <a:ext cx="274320" cy="274320"/>
          </a:xfrm>
          <a:prstGeom prst="ellipse">
            <a:avLst/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93992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28232" y="37490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Intensity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Cost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15400" y="31089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71432" y="3310128"/>
            <a:ext cx="274320" cy="274320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537192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71432" y="37490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Periodization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核心功能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動作的關係寫進圖裡,不寫進 Prompt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「找替代動作」變成一次圖查詢,而不是每次靠語言重新猜一遍。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429000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3429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Goblet Squat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3429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IS_VARIANT_OF →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20840" y="3429000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20840" y="3429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142232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41422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Squat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41422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PROGRESSES_TO →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4142232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720840" y="41422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Squat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855464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485546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Squat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48554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SIMILAR_TO 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4855464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20840" y="485546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669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每個動作還掛著:主/次要肌群、關節、器材、難度、恢復成本、受傷風險、METS。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核心功能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疲勞要落到肌群,不能只有一個全身分數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D6D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「今天不要再練胸」這種建議,前提是系統知道胸還剩多少。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200399"/>
            <a:ext cx="4206240" cy="2685393"/>
          </a:xfrm>
          <a:prstGeom prst="roundRect">
            <a:avLst>
              <a:gd name="adj" fmla="val 4800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3401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B6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全身負荷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361188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 →  Training Load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endParaRPr lang="en-US" sz="1500" dirty="0"/>
          </a:p>
          <a:p>
            <a:r>
              <a:rPr lang="en-US" sz="1500" b="1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 </a:t>
            </a:r>
            <a:r>
              <a:rPr lang="zh-TW" altLang="en" sz="1200" b="1" dirty="0">
                <a:solidFill>
                  <a:schemeClr val="bg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" altLang="zh-TW" sz="1200" b="1" dirty="0">
                <a:solidFill>
                  <a:schemeClr val="bg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Acute Training Load</a:t>
            </a:r>
            <a:r>
              <a:rPr lang="zh-TW" altLang="en" sz="1200" b="1" dirty="0">
                <a:solidFill>
                  <a:schemeClr val="bg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</a:p>
          <a:p>
            <a:r>
              <a:rPr lang="zh-TW" altLang="en-US" sz="1200" b="1" dirty="0">
                <a:solidFill>
                  <a:schemeClr val="bg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急性訓練負荷（短期疲勞）</a:t>
            </a:r>
            <a:endParaRPr lang="en-US" altLang="zh-TW" sz="1200" b="1" dirty="0">
              <a:solidFill>
                <a:schemeClr val="bg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sz="1500" b="1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CTL </a:t>
            </a:r>
            <a:r>
              <a:rPr lang="zh-TW" altLang="en" sz="1200" b="1" dirty="0">
                <a:solidFill>
                  <a:schemeClr val="bg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" altLang="zh-TW" sz="1200" b="1" dirty="0">
                <a:solidFill>
                  <a:schemeClr val="bg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Chronic Training Load</a:t>
            </a:r>
            <a:r>
              <a:rPr lang="zh-TW" altLang="en" sz="1200" b="1" dirty="0">
                <a:solidFill>
                  <a:schemeClr val="bg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</a:p>
          <a:p>
            <a:r>
              <a:rPr lang="zh-TW" altLang="en-US" sz="1200" b="1" dirty="0">
                <a:solidFill>
                  <a:schemeClr val="bg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慢性訓練負荷（長期體能）</a:t>
            </a:r>
            <a:endParaRPr lang="zh-TW" altLang="en-US" sz="1200" dirty="0">
              <a:solidFill>
                <a:schemeClr val="bg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sz="1500" b="1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500" b="1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Microsoft JhengHei" panose="020B0604030504040204" pitchFamily="34" charset="-120"/>
                <a:cs typeface="Arial" pitchFamily="34" charset="-120"/>
              </a:rPr>
              <a:t>TSB</a:t>
            </a:r>
            <a:r>
              <a:rPr lang="zh-TW" altLang="en-US" sz="1500" b="1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Microsoft JhengHei" panose="020B0604030504040204" pitchFamily="34" charset="-120"/>
                <a:cs typeface="Arial" pitchFamily="34" charset="-120"/>
              </a:rPr>
              <a:t>  </a:t>
            </a:r>
            <a:r>
              <a:rPr lang="zh-TW" altLang="en-US" sz="1200" b="1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Microsoft JhengHei" panose="020B0604030504040204" pitchFamily="34" charset="-120"/>
                <a:cs typeface="Arial" pitchFamily="34" charset="-120"/>
              </a:rPr>
              <a:t>（</a:t>
            </a:r>
            <a:r>
              <a:rPr lang="en" altLang="zh-TW" sz="1200" b="1" dirty="0">
                <a:solidFill>
                  <a:schemeClr val="bg1">
                    <a:lumMod val="75000"/>
                  </a:schemeClr>
                </a:solidFill>
              </a:rPr>
              <a:t>Training Stress Balance</a:t>
            </a:r>
            <a:r>
              <a:rPr lang="zh-TW" altLang="en" sz="1200" b="1" dirty="0">
                <a:solidFill>
                  <a:schemeClr val="bg1">
                    <a:lumMod val="75000"/>
                  </a:schemeClr>
                </a:solidFill>
              </a:rPr>
              <a:t>）</a:t>
            </a:r>
          </a:p>
          <a:p>
            <a:r>
              <a:rPr lang="zh-TW" altLang="en-US" sz="1200" b="1" dirty="0">
                <a:solidFill>
                  <a:schemeClr val="bg1">
                    <a:lumMod val="75000"/>
                  </a:schemeClr>
                </a:solidFill>
              </a:rPr>
              <a:t>訓練壓力平衡（恢復程度）</a:t>
            </a:r>
            <a:endParaRPr lang="zh-TW" alt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257800" y="3200400"/>
            <a:ext cx="6245352" cy="2286000"/>
          </a:xfrm>
          <a:prstGeom prst="roundRect">
            <a:avLst>
              <a:gd name="adj" fmla="val 4800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577840" y="3401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肌群疲勞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387705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3950208"/>
            <a:ext cx="3657600" cy="219456"/>
          </a:xfrm>
          <a:prstGeom prst="roundRect">
            <a:avLst>
              <a:gd name="adj" fmla="val 50000"/>
            </a:avLst>
          </a:prstGeom>
          <a:solidFill>
            <a:srgbClr val="2C3242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675120" y="3950208"/>
            <a:ext cx="2926080" cy="219456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69880" y="38770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4389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4462272"/>
            <a:ext cx="3657600" cy="219456"/>
          </a:xfrm>
          <a:prstGeom prst="roundRect">
            <a:avLst>
              <a:gd name="adj" fmla="val 50000"/>
            </a:avLst>
          </a:prstGeom>
          <a:solidFill>
            <a:srgbClr val="2C3242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675120" y="4462272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8A93A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469880" y="43891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4901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4974336"/>
            <a:ext cx="3657600" cy="219456"/>
          </a:xfrm>
          <a:prstGeom prst="roundRect">
            <a:avLst>
              <a:gd name="adj" fmla="val 50000"/>
            </a:avLst>
          </a:prstGeom>
          <a:solidFill>
            <a:srgbClr val="2C324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675120" y="4974336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469880" y="490118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核心功能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各家指標對齊,廠商算好的分數直接收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統一單位與時間軸,廠商算好的分數不重算;每筆讀數還帶著是哪台裝置寫的。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200400"/>
            <a:ext cx="3017520" cy="2286000"/>
          </a:xfrm>
          <a:prstGeom prst="roundRect">
            <a:avLst>
              <a:gd name="adj" fmla="val 4800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3401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原始指標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7947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00" dirty="0">
                <a:solidFill>
                  <a:srgbClr val="3A4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</a:t>
            </a:r>
            <a:endParaRPr lang="en-US" sz="15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500" dirty="0">
                <a:solidFill>
                  <a:srgbClr val="3A4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HRV</a:t>
            </a:r>
            <a:endParaRPr lang="en-US" sz="15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500" dirty="0">
                <a:solidFill>
                  <a:srgbClr val="3A4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</a:t>
            </a:r>
            <a:endParaRPr lang="en-US" sz="15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500" dirty="0">
                <a:solidFill>
                  <a:srgbClr val="3A4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F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3200400"/>
            <a:ext cx="2834640" cy="2286000"/>
          </a:xfrm>
          <a:prstGeom prst="roundRect">
            <a:avLst>
              <a:gd name="adj" fmla="val 4800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7720" y="3401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400" dirty="0">
                <a:solidFill>
                  <a:srgbClr val="3A40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統一單位</a:t>
            </a:r>
            <a:endParaRPr lang="en-US" sz="14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400" dirty="0">
                <a:solidFill>
                  <a:srgbClr val="3A40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統一時間軸</a:t>
            </a:r>
            <a:endParaRPr lang="en-US" sz="14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400" dirty="0">
                <a:solidFill>
                  <a:srgbClr val="3A40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canonical 命名</a:t>
            </a:r>
            <a:endParaRPr lang="en-US" sz="14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400" dirty="0">
                <a:solidFill>
                  <a:srgbClr val="3A40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複合分數不重算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694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F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0" y="3200400"/>
            <a:ext cx="3730752" cy="2286000"/>
          </a:xfrm>
          <a:prstGeom prst="roundRect">
            <a:avLst>
              <a:gd name="adj" fmla="val 4800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92440" y="3401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看到的全部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92440" y="3794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Score</a:t>
            </a:r>
            <a:endParaRPr lang="en-US" sz="1800" dirty="0"/>
          </a:p>
          <a:p>
            <a:pPr marL="0" indent="0">
              <a:lnSpc>
                <a:spcPts val="3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 Score</a:t>
            </a:r>
            <a:endParaRPr lang="en-US" sz="1800" dirty="0"/>
          </a:p>
          <a:p>
            <a:pPr marL="0" indent="0">
              <a:lnSpc>
                <a:spcPts val="3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Score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核心功能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Connector 跑在你的環境,不在我們的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在使用者控制環境完成授權、同步、正規化與撤銷;hosted 不持有 provider token。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24612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32461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429000" y="324612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32461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324612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172200" y="32461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915400" y="324612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915400" y="32461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1536192" cy="502920"/>
          </a:xfrm>
          <a:prstGeom prst="roundRect">
            <a:avLst>
              <a:gd name="adj" fmla="val 49091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452628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Apple Health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04872" y="4526280"/>
            <a:ext cx="960120" cy="502920"/>
          </a:xfrm>
          <a:prstGeom prst="roundRect">
            <a:avLst>
              <a:gd name="adj" fmla="val 49091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404872" y="45262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Garmin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47872" y="4526280"/>
            <a:ext cx="960120" cy="502920"/>
          </a:xfrm>
          <a:prstGeom prst="roundRect">
            <a:avLst>
              <a:gd name="adj" fmla="val 49091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47872" y="45262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Strava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33872" y="4526280"/>
            <a:ext cx="960120" cy="502920"/>
          </a:xfrm>
          <a:prstGeom prst="roundRect">
            <a:avLst>
              <a:gd name="adj" fmla="val 49091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833872" y="45262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Oura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76872" y="4526280"/>
            <a:ext cx="1632204" cy="502920"/>
          </a:xfrm>
          <a:prstGeom prst="roundRect">
            <a:avLst>
              <a:gd name="adj" fmla="val 49091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76872" y="4526280"/>
            <a:ext cx="16322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WHOOP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791956" y="4526280"/>
            <a:ext cx="1824228" cy="502920"/>
          </a:xfrm>
          <a:prstGeom prst="roundRect">
            <a:avLst>
              <a:gd name="adj" fmla="val 49091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791956" y="4526280"/>
            <a:ext cx="18242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Manual / CSV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90872" y="4526280"/>
            <a:ext cx="960120" cy="502920"/>
          </a:xfrm>
          <a:prstGeom prst="roundRect">
            <a:avLst>
              <a:gd name="adj" fmla="val 49091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90872" y="45262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Health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5806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6 家 parser;Oura／WHOOP 尚待真實去識別化 fixture。新增來源不改 Decision Engine。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核心功能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v0.5.0 規劃的十個 public tools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v0.4.2 已公開 6 個;v0.5.0 整合完成後新增 workout 與 coverage／trace／outcome。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0632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86968" y="3264408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88720" y="3191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assess_fitness_state
get_evidence_coverage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6968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狀態與訊號覆蓋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30632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90288" y="3264408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92040" y="3191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decide_session
explain_decision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90288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決策與版本化 trace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92440" y="30632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93608" y="3264408"/>
            <a:ext cx="182880" cy="182880"/>
          </a:xfrm>
          <a:prstGeom prst="ellipse">
            <a:avLst/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95360" y="3191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decide_exercise_substitution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08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換一個等效的動作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46177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86968" y="4818888"/>
            <a:ext cx="182880" cy="182880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88720" y="4745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generate_plan
generate_workout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86968" y="5166359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多週計畫與單次 workout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0" y="46177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90288" y="4818888"/>
            <a:ext cx="182880" cy="182880"/>
          </a:xfrm>
          <a:prstGeom prst="ellipse">
            <a:avLst/>
          </a:prstGeom>
          <a:solidFill>
            <a:srgbClr val="8A93A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92040" y="4745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preview_adjust_plan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90288" y="5166359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先看調整後的計畫長什麼樣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92440" y="46177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293608" y="4818888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595360" y="4745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commit_adjust_plan
submit_outcome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93608" y="5166359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提交計畫與結果回報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工具准入判準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10820095" cy="1143000"/>
          </a:xfrm>
          <a:prstGeom prst="roundRect">
            <a:avLst>
              <a:gd name="adj" fmla="val 11200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9601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「GPT-6 已經知道所有運動知識,這個 Tool 還有價值嗎?」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 殺不死的三樣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3035808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5880" y="28529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 —— 它沒有這個人的資料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511296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60120" y="3694176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25880" y="351129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—— 它沒有執行縱向運算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169664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4352544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25880" y="41696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保證 —— 確定性過濾器不會被說服繞過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7804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判準怎麼用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2852928"/>
            <a:ext cx="4325112" cy="1865376"/>
          </a:xfrm>
          <a:prstGeom prst="roundRect">
            <a:avLst>
              <a:gd name="adj" fmla="val 5882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0" y="3127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 → 砍掉或降為內部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0" y="3657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 殺死的是知識查詢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核心功能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三種部署,三句不同的隱私承諾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同一顆 Engine 與 Rule Packages;差別是 Evidence、token、state 與計算由誰控制。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24612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05840" y="3566160"/>
            <a:ext cx="402336" cy="402336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81912" y="33924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desktop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81912" y="37764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今天可用:本機 MCPB 與手動／匯出 Evidence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324612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83680" y="3566160"/>
            <a:ext cx="402336" cy="402336"/>
          </a:xfrm>
          <a:prstGeom prst="ellipse">
            <a:avLst/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59752" y="33924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User-controlled private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59752" y="37764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2:connectors、state、plan、decision 都在你的環境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05840" y="4846320"/>
            <a:ext cx="402336" cy="402336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581912" y="46725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mobile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81912" y="5056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3:pairing／tunnel 先連回 private engine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452628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583680" y="4846320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59752" y="46725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remote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59752" y="5056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只承諾最小化、transient、不留存;目前 Blocked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應用情境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六個使用者真的會問的問題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這六題答得出來,產品就成立;答不出來,架構就白做了。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20040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3520440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3200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「今天適合跑嗎?昨天腿很酸」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320040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63440" y="3520440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6344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3200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「下週出差,重新安排課表」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320040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66760" y="3520440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6676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15400" y="3200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「找 Goblet Squat 的替代動作」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498848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0120" y="481888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60120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49884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「左膝有傷,不要排跳的」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89120" y="4498848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663440" y="481888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63440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449884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「分析這個月訓練,瓶頸在哪」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92440" y="4498848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366760" y="481888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366760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15400" y="449884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語音:「今天怎麼樣?」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10820095" cy="1143000"/>
          </a:xfrm>
          <a:prstGeom prst="roundRect">
            <a:avLst>
              <a:gd name="adj" fmla="val 11200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9601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「今天適合跑嗎?昨天腿很酸」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系統必須先知道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3035808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5880" y="28529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昨天實際做了什麼(跨來源)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511296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60120" y="3694176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25880" y="351129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今天的恢復與 Readiness 分數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169664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4352544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25880" y="41696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腿部肌群的殘餘疲勞百分比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7804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這一題落在哪幾層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2852928"/>
            <a:ext cx="4325112" cy="1865376"/>
          </a:xfrm>
          <a:prstGeom prst="roundRect">
            <a:avLst>
              <a:gd name="adj" fmla="val 5882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0" y="3127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Connector Layer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0" y="3657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Health Graph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98080" y="4187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Training Load Graph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10820095" cy="1143000"/>
          </a:xfrm>
          <a:prstGeom prst="roundRect">
            <a:avLst>
              <a:gd name="adj" fmla="val 11200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9601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「下週出差,重新安排課表」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系統必須先知道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3035808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5880" y="28529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你的行事曆與每天可用時間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511296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60120" y="3694176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25880" y="351129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原計畫的週期化目標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169664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4352544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25880" y="41696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改動後剩餘週數是否足夠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7804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這一題落在哪幾層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2852928"/>
            <a:ext cx="4325112" cy="1865376"/>
          </a:xfrm>
          <a:prstGeom prst="roundRect">
            <a:avLst>
              <a:gd name="adj" fmla="val 5882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0" y="3127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Calendar Connector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0" y="3657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Program Graph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98080" y="4187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Planning Engine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10820095" cy="1143000"/>
          </a:xfrm>
          <a:prstGeom prst="roundRect">
            <a:avLst>
              <a:gd name="adj" fmla="val 11200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9601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「找 Goblet Squat 的替代動作」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系統必須先知道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3035808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5880" y="28529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動作之間的變體與相似關係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511296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60120" y="3694176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25880" y="351129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你手邊有哪些器材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169664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4352544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25880" y="41696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難度與技術門檻是否相當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7804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這一題落在哪幾層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2852928"/>
            <a:ext cx="4325112" cy="1865376"/>
          </a:xfrm>
          <a:prstGeom prst="roundRect">
            <a:avLst>
              <a:gd name="adj" fmla="val 5882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0" y="3127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Exercise Graph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0" y="3657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User Graph — Equipment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10820095" cy="1143000"/>
          </a:xfrm>
          <a:prstGeom prst="roundRect">
            <a:avLst>
              <a:gd name="adj" fmla="val 11200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9601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「左膝有傷,不要排跳的」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系統必須先知道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3035808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5880" y="28529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這是長期約束,不是這次的要求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511296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60120" y="3694176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25880" y="351129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哪些動作牽涉到該關節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169664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4352544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25880" y="41696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替代方案要維持同樣訓練效果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7804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這一題落在哪幾層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2852928"/>
            <a:ext cx="4325112" cy="1865376"/>
          </a:xfrm>
          <a:prstGeom prst="roundRect">
            <a:avLst>
              <a:gd name="adj" fmla="val 5882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0" y="3127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User Graph — Injury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0" y="3657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Exercise Graph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98080" y="4187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Planning Engine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10820095" cy="1143000"/>
          </a:xfrm>
          <a:prstGeom prst="roundRect">
            <a:avLst>
              <a:gd name="adj" fmla="val 11200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9601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「分析這個月訓練,瓶頸在哪」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系統必須先知道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3035808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5880" y="28529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完整的跨來源訓練歷程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511296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60120" y="3694176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25880" y="351129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負荷趨勢:ATL / CTL / TSB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169664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4352544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25880" y="41696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目標與實際執行的落差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7804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這一題落在哪幾層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2852928"/>
            <a:ext cx="4325112" cy="1865376"/>
          </a:xfrm>
          <a:prstGeom prst="roundRect">
            <a:avLst>
              <a:gd name="adj" fmla="val 5882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0" y="3127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Training Load 計算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0" y="3657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assess_fitness_state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10820095" cy="1143000"/>
          </a:xfrm>
          <a:prstGeom prst="roundRect">
            <a:avLst>
              <a:gd name="adj" fmla="val 11200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9601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語音:「今天怎麼樣?」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系統必須先知道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3035808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5880" y="28529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當下的 Readiness 分數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511296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60120" y="3694176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25880" y="351129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推導這個結論的理由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169664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4352544"/>
            <a:ext cx="182880" cy="18288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25880" y="41696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一句話講得完的建議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7804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這一題落在哪幾層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2852928"/>
            <a:ext cx="4325112" cy="1865376"/>
          </a:xfrm>
          <a:prstGeom prst="roundRect">
            <a:avLst>
              <a:gd name="adj" fmla="val 5882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0" y="3127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Semantic Layer — UserState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0" y="3657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FD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Semantic Layer — Reasoning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應用情境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六題的共通點:先有證據,才談決策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D6D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每一題都要求先答得出「你現在怎麼樣」,而那份答案每次都由證據重算。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383280"/>
            <a:ext cx="5120640" cy="1737360"/>
          </a:xfrm>
          <a:prstGeom prst="roundRect">
            <a:avLst>
              <a:gd name="adj" fmla="val 7368"/>
            </a:avLst>
          </a:prstGeom>
          <a:solidFill>
            <a:srgbClr val="1B1F2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93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問題長得像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推薦一堂課、排一份課表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63640" y="3383280"/>
            <a:ext cx="5120640" cy="1737360"/>
          </a:xfrm>
          <a:prstGeom prst="roundRect">
            <a:avLst>
              <a:gd name="adj" fmla="val 7368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3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真正在問的是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40690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我現在能不能練、該練哪裡、為什麼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5440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3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價值不在內容,在那個可重現的判斷。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現況與待做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從已發行版本倒推下一階段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先關閉 v0.5.0,再用產品頁驗證市場,之後進入 private engine、mobile 與 team。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3474720" cy="1051560"/>
          </a:xfrm>
          <a:prstGeom prst="roundRect">
            <a:avLst>
              <a:gd name="adj" fmla="val 956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05256" y="2816352"/>
            <a:ext cx="274320" cy="274320"/>
          </a:xfrm>
          <a:prstGeom prst="ellipse">
            <a:avLst/>
          </a:prstGeom>
          <a:solidFill>
            <a:srgbClr val="8A93A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05256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71016" y="2788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已發行 v0.4.2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" y="31363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Desktop MCPB · 6 public tools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05256" y="3419856"/>
            <a:ext cx="301752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05256" y="34564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93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Engine 1.6.0 · legacy Library 1.4.0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2697480"/>
            <a:ext cx="3474720" cy="1051560"/>
          </a:xfrm>
          <a:prstGeom prst="roundRect">
            <a:avLst>
              <a:gd name="adj" fmla="val 956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62856" y="2816352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62856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28616" y="2788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 已完成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62856" y="31363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trace／outcome／continuity／package lifecycle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62856" y="3419856"/>
            <a:ext cx="301752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62856" y="34564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graph viewer · harness · regression gate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01000" y="2697480"/>
            <a:ext cx="3474720" cy="1051560"/>
          </a:xfrm>
          <a:prstGeom prst="roundRect">
            <a:avLst>
              <a:gd name="adj" fmla="val 956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220456" y="2816352"/>
            <a:ext cx="274320" cy="27432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0456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86216" y="2788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下一版 v0.5.0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0456" y="31363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tools · Engine 1.6.0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0456" y="3419856"/>
            <a:ext cx="301752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0456" y="34564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B6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base_rules 1.1.0 · planned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3867912"/>
            <a:ext cx="3474720" cy="1051560"/>
          </a:xfrm>
          <a:prstGeom prst="roundRect">
            <a:avLst>
              <a:gd name="adj" fmla="val 956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05256" y="3986784"/>
            <a:ext cx="274320" cy="274320"/>
          </a:xfrm>
          <a:prstGeom prst="ellipse">
            <a:avLst/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05256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71016" y="39593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5256" y="43068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 workout／防注入與 privacy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5256" y="4590288"/>
            <a:ext cx="301752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05256" y="462686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pack · gates · publish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3867912"/>
            <a:ext cx="3474720" cy="1051560"/>
          </a:xfrm>
          <a:prstGeom prst="roundRect">
            <a:avLst>
              <a:gd name="adj" fmla="val 956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562856" y="3986784"/>
            <a:ext cx="274320" cy="274320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62856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28616" y="39593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62856" y="43068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pacevera.com 產品頁與真實 demo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62856" y="4590288"/>
            <a:ext cx="301752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562856" y="462686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3–5 interviews · activation／retention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01000" y="3867912"/>
            <a:ext cx="3474720" cy="1051560"/>
          </a:xfrm>
          <a:prstGeom prst="roundRect">
            <a:avLst>
              <a:gd name="adj" fmla="val 956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220456" y="3986784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220456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86216" y="39593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220456" y="43068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 private engine MVP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220456" y="4590288"/>
            <a:ext cx="301752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220456" y="462686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repository · connectors · continuity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5800" y="5038344"/>
            <a:ext cx="3474720" cy="1051560"/>
          </a:xfrm>
          <a:prstGeom prst="roundRect">
            <a:avLst>
              <a:gd name="adj" fmla="val 956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905256" y="5157216"/>
            <a:ext cx="274320" cy="274320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05256" y="5157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271016" y="51297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05256" y="54772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Controlled mobile · cross-host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05256" y="5760720"/>
            <a:ext cx="301752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905256" y="579729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B6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hosted remote 維持 Blocked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343400" y="5038344"/>
            <a:ext cx="3474720" cy="1051560"/>
          </a:xfrm>
          <a:prstGeom prst="roundRect">
            <a:avLst>
              <a:gd name="adj" fmla="val 956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4562856" y="5157216"/>
            <a:ext cx="274320" cy="274320"/>
          </a:xfrm>
          <a:prstGeom prst="ellipse">
            <a:avLst/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562856" y="5157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928616" y="51297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62856" y="54772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Team／Enterprise · REST／SDK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562856" y="5760720"/>
            <a:ext cx="301752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4562856" y="579729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governance · private deployment · pilot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001000" y="5038344"/>
            <a:ext cx="3474720" cy="1051560"/>
          </a:xfrm>
          <a:prstGeom prst="roundRect">
            <a:avLst>
              <a:gd name="adj" fmla="val 9565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8220456" y="5157216"/>
            <a:ext cx="274320" cy="274320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0456" y="5157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586216" y="51297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Remote GO gate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8220456" y="54772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 · HTTPS · redaction · privacy · E2E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8220456" y="5760720"/>
            <a:ext cx="301752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8220456" y="579729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全部成立且有付費需求才 GO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5457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1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Plaid 之於金融,Stripe 之於支付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353A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我們要的是運動領域的決策基礎層:證據、規則與可追溯的 from → to。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3291840" cy="192024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4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44348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金融資料整合層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3657600"/>
            <a:ext cx="3291840" cy="192024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0916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4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9160" y="44348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支付基礎設施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3657600"/>
            <a:ext cx="3291840" cy="1920240"/>
          </a:xfrm>
          <a:prstGeom prst="roundRect">
            <a:avLst>
              <a:gd name="adj" fmla="val 6667"/>
            </a:avLst>
          </a:prstGeom>
          <a:solidFill>
            <a:srgbClr val="10131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1248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0" y="44348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D6D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Personal Fitness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D6D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5760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6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上層可以換成任何 AI host,底層可以換掉任何一家裝置商 —— 中間的決策層不用動。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865815" y="6144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206240" cy="4206240"/>
          </a:xfrm>
          <a:prstGeom prst="ellipse">
            <a:avLst/>
          </a:prstGeom>
          <a:solidFill>
            <a:srgbClr val="F96167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85800" y="5669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41832" y="4846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最重要的核心資產,</a:t>
            </a:r>
            <a:endParaRPr lang="en-US" sz="33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是連續 Evidence → 可追溯 Decision,</a:t>
            </a:r>
            <a:endParaRPr lang="en-US" sz="33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而資料始終由使用者控制。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85800" y="480060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5029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3C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Pacevera — Fitness Decision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5468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84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下一步:先發布 v0.5.0 → pacevera.com 驗證 → local private engine;remote 仍是後續 access channel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1446</Words>
  <Application>Microsoft Macintosh PowerPoint</Application>
  <PresentationFormat>寬螢幕</PresentationFormat>
  <Paragraphs>477</Paragraphs>
  <Slides>29</Slides>
  <Notes>29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5" baseType="lpstr">
      <vt:lpstr>Microsoft JhengHei</vt:lpstr>
      <vt:lpstr>新細明體</vt:lpstr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MCP — Semantic Fitness Layer</dc:title>
  <dc:subject>PptxGenJS Presentation</dc:subject>
  <dc:creator>Henry</dc:creator>
  <cp:lastModifiedBy>Microsoft Office User</cp:lastModifiedBy>
  <cp:revision>3</cp:revision>
  <dcterms:created xsi:type="dcterms:W3CDTF">2026-07-24T06:11:41Z</dcterms:created>
  <dcterms:modified xsi:type="dcterms:W3CDTF">2026-07-24T15:31:38Z</dcterms:modified>
</cp:coreProperties>
</file>
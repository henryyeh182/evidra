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36"/>
    <p:sldId id="262" r:id="rId7"/>
    <p:sldId id="263" r:id="rId8"/>
    <p:sldId id="264" r:id="rId9"/>
    <p:sldId id="265" r:id="rId37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38"/>
    <p:sldId id="276" r:id="rId19"/>
    <p:sldId id="277" r:id="rId20"/>
    <p:sldId id="278" r:id="rId21"/>
    <p:sldId id="279" r:id="rId22"/>
    <p:sldId id="280" r:id="rId23"/>
    <p:sldId id="281" r:id="rId24"/>
    <p:sldId id="282" r:id="rId25"/>
    <p:sldId id="283" r:id="rId26"/>
    <p:sldId id="284" r:id="rId27"/>
    <p:sldId id="285" r:id="rId28"/>
    <p:sldId id="286" r:id="rId29"/>
    <p:sldId id="287" r:id="rId3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0"/>
    <p:restoredTop sz="94610"/>
  </p:normalViewPr>
  <p:slideViewPr>
    <p:cSldViewPr snapToGrid="0" snapToObjects="1">
      <p:cViewPr varScale="1">
        <p:scale>
          <a:sx n="121" d="100"/>
          <a:sy n="121" d="100"/>
        </p:scale>
        <p:origin x="200" y="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19" Type="http://schemas.openxmlformats.org/officeDocument/2006/relationships/slide" Target="slides/slide21.xml"/><Relationship Id="rId20" Type="http://schemas.openxmlformats.org/officeDocument/2006/relationships/slide" Target="slides/slide22.xml"/><Relationship Id="rId21" Type="http://schemas.openxmlformats.org/officeDocument/2006/relationships/slide" Target="slides/slide23.xml"/><Relationship Id="rId22" Type="http://schemas.openxmlformats.org/officeDocument/2006/relationships/slide" Target="slides/slide24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7.xml"/><Relationship Id="rId26" Type="http://schemas.openxmlformats.org/officeDocument/2006/relationships/slide" Target="slides/slide28.xml"/><Relationship Id="rId27" Type="http://schemas.openxmlformats.org/officeDocument/2006/relationships/slide" Target="slides/slide29.xml"/><Relationship Id="rId28" Type="http://schemas.openxmlformats.org/officeDocument/2006/relationships/slide" Target="slides/slide30.xml"/><Relationship Id="rId29" Type="http://schemas.openxmlformats.org/officeDocument/2006/relationships/slide" Target="slides/slide31.xml"/><Relationship Id="rId30" Type="http://schemas.openxmlformats.org/officeDocument/2006/relationships/slide" Target="slides/slide32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Relationship Id="rId36" Type="http://schemas.openxmlformats.org/officeDocument/2006/relationships/slide" Target="slides/slide6.xml"/><Relationship Id="rId37" Type="http://schemas.openxmlformats.org/officeDocument/2006/relationships/slide" Target="slides/slide10.xml"/><Relationship Id="rId38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909121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問題不在模型不夠聰明,而在每個模型都得重新推理一次,結果無法收斂。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這是隱私界線,不是效能設計。計畫與決策紀錄由呼叫端持有:Phase 1 存在 AI host 的記憶,Phase 2 存在使用者自己的資料庫 —— 兩種情況 hosted 都不留。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每個輸出都帶 confidence、evidence、signalCoverage、limits。缺的訊號列進 missing 並下調信心,不補造數值 —— 沒有 RPE 就是沒有,不是 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Phase 1 的界線:不直接連資料供應商、不持有來源 OAuth refresh token、不把 raw Evidence 寫入 database、file、object storage、queue 或 analytics。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邏輯寫在 prompt 裡就會隨模型漂移;寫在引擎裡才可被驗證、可被回測。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計畫不是一份靜態文件:改掉其中一週,後面所有週會跟著重算。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Graph 實際分八層:Exercise、Workout、Program、User、Health、Training Load、Nutrition、Knowledge。我們這端的學習發生在引擎規則與知識圖譜(跨使用者的通則),不在個人資料。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換掉任何一家裝置商,AI 那一側完全不用改。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目前實作 3 家 parser(Apple Health／Garmin／Strava,Strava 含 API 與 bulk export 兩種方言),schema registry 涵蓋 6 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六個都通過 GPT-6 Test:每一個都需要這個人的證據、需要縱向計算,或提供確定性保證。search_exercise、compare_exercise 這類純知識查詢已經拿掉。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Phase 2 是核心宗旨要的那個版本,不是高隱私情境的選配。持久化只能存在於 Phase 2 —— raw payload、HRV／睡眠、每日狀態那些表在 hosted 一張都不能建。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關鍵字是「昨天」和「腿」:一個要跨來源歷程,一個要分肌群疲勞。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課表必須是一張可被改寫、且會自動往下傳遞影響的圖,不是一份文字清單。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這題會撞到動作本體資料的建置成本,Phase 1 範圍界定時要先想清楚。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傷勢必須是常駐資料,不能靠使用者每次自己記得講。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歷程由呼叫端隨呼叫傳入 —— hosted 不保存歷程,所以這一題的完整度取決於呼叫端手上有多少。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語音是最好的壓力測試:證據要夠小、計算要夠快 —— 實測單次決策 0.443 ms、零次外部 API 呼叫。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已完成的三項附實測數字;未完成的不給沒有出處的門檻數字 —— 原本的「替代動作合理率 ≥ 85%」、「Tool 選對率 ≥ 90%」都沒有出處,已移除。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對外只能說「只處理呼叫端送進來的最小化健康證據,不留存、不販售、不訓練、不作無關用途」;不能說「完全不碰健康資料」—— 接收並計算 Evidence 本身就是 transient processing。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決策型別:keep、adjust、substitute、defer、advance —— keep 也是決策。推論:計畫是決策的基底,沒有計畫只能推薦。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這條判準是每個 tool 的准入門檻,也是為什麼知識圖譜是內部證據來源而不是對外產品。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5120640" cy="5120640"/>
          </a:xfrm>
          <a:prstGeom prst="ellipse">
            <a:avLst/>
          </a:prstGeom>
          <a:solidFill>
            <a:srgbClr val="157554">
              <a:alpha val="12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058400" y="3474720"/>
            <a:ext cx="2926080" cy="2926080"/>
          </a:xfrm>
          <a:prstGeom prst="ellipse">
            <a:avLst/>
          </a:prstGeom>
          <a:solidFill>
            <a:srgbClr val="157554">
              <a:alpha val="12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85800" y="1298448"/>
            <a:ext cx="164592" cy="164592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60120" y="120700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9FAEBE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PRODUCT VISION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783080"/>
            <a:ext cx="8778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6000"/>
              </a:lnSpc>
              <a:buNone/>
            </a:pPr>
            <a:r>
              <a:rPr lang="en-US" sz="5000" b="1" dirty="0">
                <a:solidFill>
                  <a:srgbClr val="FAF9F5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Pacevera</a:t>
            </a:r>
            <a:endParaRPr lang="en-US" sz="5000" dirty="0"/>
          </a:p>
          <a:p>
            <a:pPr marL="0" indent="0">
              <a:lnSpc>
                <a:spcPts val="6000"/>
              </a:lnSpc>
              <a:buNone/>
            </a:pPr>
            <a:r>
              <a:rPr lang="en-US" sz="5000" b="1" dirty="0">
                <a:solidFill>
                  <a:srgbClr val="FAF9F5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Fitness Decision Engine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685800" y="397764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>
                <a:solidFill>
                  <a:srgbClr val="FAF9F5"/>
                </a:solidFill>
                <a:latin typeface="STHeiti"/>
              </a:rPr>
              <a:t>把 Evidence 轉成今天可執行、可追溯的訓練變更。健康歷史仍由你控制。</a:t>
            </a:r>
          </a:p>
        </p:txBody>
      </p:sp>
      <p:sp>
        <p:nvSpPr>
          <p:cNvPr id="8" name="Shape 6"/>
          <p:cNvSpPr/>
          <p:nvPr/>
        </p:nvSpPr>
        <p:spPr>
          <a:xfrm>
            <a:off x="685800" y="5349240"/>
            <a:ext cx="2011680" cy="0"/>
          </a:xfrm>
          <a:prstGeom prst="line">
            <a:avLst/>
          </a:prstGeom>
          <a:noFill/>
          <a:ln w="38100">
            <a:solidFill>
              <a:srgbClr val="F96167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5800" y="5577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>
                <a:solidFill>
                  <a:srgbClr val="FAF9F5"/>
                </a:solidFill>
                <a:latin typeface="STHeiti"/>
              </a:rPr>
              <a:t>Public preview · Desktop MCPB · v0.5.0 → local private engine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這份簡報講三件事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>
                <a:solidFill>
                  <a:srgbClr val="1F1E1D"/>
                </a:solidFill>
                <a:latin typeface="STHeiti"/>
              </a:rPr>
              <a:t>先看今天的決策，再看 evidence chain 與 privacy boundary，最後看產品驗證與 roadmap。</a:t>
            </a:r>
          </a:p>
        </p:txBody>
      </p:sp>
      <p:sp>
        <p:nvSpPr>
          <p:cNvPr id="6" name="Shape 4"/>
          <p:cNvSpPr/>
          <p:nvPr/>
        </p:nvSpPr>
        <p:spPr>
          <a:xfrm>
            <a:off x="685800" y="3200400"/>
            <a:ext cx="3291840" cy="2377440"/>
          </a:xfrm>
          <a:prstGeom prst="roundRect">
            <a:avLst>
              <a:gd name="adj" fmla="val 5385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05840" y="34290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57554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005840" y="4023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核心概念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4526280"/>
            <a:ext cx="2788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>
                <a:solidFill>
                  <a:srgbClr val="1F1E1D"/>
                </a:solidFill>
                <a:latin typeface="STHeiti"/>
              </a:rPr>
              <a:t>從原定課表到今天要做什麼</a:t>
            </a:r>
          </a:p>
        </p:txBody>
      </p:sp>
      <p:sp>
        <p:nvSpPr>
          <p:cNvPr id="10" name="Shape 8"/>
          <p:cNvSpPr/>
          <p:nvPr/>
        </p:nvSpPr>
        <p:spPr>
          <a:xfrm>
            <a:off x="4389120" y="3200400"/>
            <a:ext cx="3291840" cy="2377440"/>
          </a:xfrm>
          <a:prstGeom prst="roundRect">
            <a:avLst>
              <a:gd name="adj" fmla="val 5385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709160" y="34290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57554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709160" y="4023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核心功能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709160" y="4526280"/>
            <a:ext cx="2788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>
                <a:solidFill>
                  <a:srgbClr val="1F1E1D"/>
                </a:solidFill>
                <a:latin typeface="STHeiti"/>
              </a:rPr>
              <a:t>證據、理由、缺失與信心都可檢查</a:t>
            </a:r>
          </a:p>
        </p:txBody>
      </p:sp>
      <p:sp>
        <p:nvSpPr>
          <p:cNvPr id="14" name="Shape 12"/>
          <p:cNvSpPr/>
          <p:nvPr/>
        </p:nvSpPr>
        <p:spPr>
          <a:xfrm>
            <a:off x="8092440" y="3200400"/>
            <a:ext cx="3291840" cy="2377440"/>
          </a:xfrm>
          <a:prstGeom prst="roundRect">
            <a:avLst>
              <a:gd name="adj" fmla="val 5385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412480" y="34290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412480" y="4023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應用情境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412480" y="4526280"/>
            <a:ext cx="2788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>
                <a:solidFill>
                  <a:srgbClr val="1F1E1D"/>
                </a:solidFill>
                <a:latin typeface="STHeiti"/>
              </a:rPr>
              <a:t>AI coach 可替換，健康歷史留在你的控制邊界</a:t>
            </a:r>
          </a:p>
        </p:txBody>
      </p:sp>
      <p:sp>
        <p:nvSpPr>
          <p:cNvPr id="18" name="Text 16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PART 1 — 核心概念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>
                <a:solidFill>
                  <a:srgbClr val="1F1E1D"/>
                </a:solidFill>
                <a:latin typeface="STHeiti"/>
              </a:rPr>
              <a:t>一般 AI 知道運動知識，卻不知道連續的你</a:t>
            </a:r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睡眠在一個 App、跑步在另一個、重訓在第三個,沒有人負責把它們接成同一個人。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56616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41832" y="3794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Apple Health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941832" y="42062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68645C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睡眠 · HRV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429000" y="356616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685032" y="3794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Garmin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685032" y="42062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68645C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恢復 · 訓練狀態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72200" y="356616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28232" y="3794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Strava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428232" y="42062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68645C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跑步 · 騎車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915400" y="356616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171432" y="3794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57554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健身房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9171432" y="42062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9BA3B4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沒有任何紀錄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85800" y="5440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8645C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每一段都是真的,合起來卻拼不出「他今天到底能不能練」。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PART 1 — 核心概念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所以使用者每一次都要重新自我介紹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換一個模型、換一個對話視窗,理解就歸零 —— 而人的身體狀態是連續的。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657600"/>
            <a:ext cx="3291840" cy="1828800"/>
          </a:xfrm>
          <a:prstGeom prst="roundRect">
            <a:avLst>
              <a:gd name="adj" fmla="val 6000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05840" y="3886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ChatGPT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4297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8645C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各自從零解析原始資料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05840" y="4709160"/>
            <a:ext cx="2651760" cy="0"/>
          </a:xfrm>
          <a:prstGeom prst="line">
            <a:avLst/>
          </a:prstGeom>
          <a:noFill/>
          <a:ln w="12700">
            <a:solidFill>
              <a:srgbClr val="D9DCE3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05840" y="48646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57554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→ 結論 1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389120" y="3657600"/>
            <a:ext cx="3291840" cy="1828800"/>
          </a:xfrm>
          <a:prstGeom prst="roundRect">
            <a:avLst>
              <a:gd name="adj" fmla="val 6000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709160" y="3886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709160" y="4297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8645C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各自從零解析原始資料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709160" y="4709160"/>
            <a:ext cx="2651760" cy="0"/>
          </a:xfrm>
          <a:prstGeom prst="line">
            <a:avLst/>
          </a:prstGeom>
          <a:noFill/>
          <a:ln w="12700">
            <a:solidFill>
              <a:srgbClr val="D9DCE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709160" y="48646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57554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→ 結論 2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092440" y="3657600"/>
            <a:ext cx="3291840" cy="1828800"/>
          </a:xfrm>
          <a:prstGeom prst="roundRect">
            <a:avLst>
              <a:gd name="adj" fmla="val 6000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412480" y="3886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Gemini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12480" y="4297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8645C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各自從零解析原始資料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412480" y="4709160"/>
            <a:ext cx="2651760" cy="0"/>
          </a:xfrm>
          <a:prstGeom prst="line">
            <a:avLst/>
          </a:prstGeom>
          <a:noFill/>
          <a:ln w="12700">
            <a:solidFill>
              <a:srgbClr val="D9DCE3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412480" y="48646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57554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→ 結論 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AEBE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PART 1 — 核心概念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>
                <a:solidFill>
                  <a:srgbClr val="FAF9F5"/>
                </a:solidFill>
                <a:latin typeface="STHeiti"/>
              </a:rPr>
              <a:t>我們要蓋的是 AI coach 與今天決策之間的一層</a:t>
            </a:r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D6DAE4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把多來源資料正規化、推理、語意化,讓任何 AI 讀到同一份「這個人現在怎麼樣」。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291840"/>
            <a:ext cx="10817352" cy="1463040"/>
          </a:xfrm>
          <a:prstGeom prst="roundRect">
            <a:avLst>
              <a:gd name="adj" fmla="val 8750"/>
            </a:avLst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188720" y="3493008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AF9F5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Semantic Fitness Layer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188720" y="4096512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E0C4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Normalize  →  Reasoning  →  Semantic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85800" y="52120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3C9D6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產品不是 UI。任何介面 —— ChatGPT、Claude、手錶、語音 —— 都只是這一層的 Client。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1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AEBE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PART 1 — 核心概念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>
                <a:solidFill>
                  <a:srgbClr val="FAF9F5"/>
                </a:solidFill>
                <a:latin typeface="STHeiti"/>
              </a:rPr>
              <a:t>Your AI can coach. Pacevera helps it decide.</a:t>
            </a:r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D6DAE4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AI host 負責理解與表達;Pacevera 在使用者控制的資料邊界內負責計算、仲裁與追溯。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383280"/>
            <a:ext cx="5120640" cy="1737360"/>
          </a:xfrm>
          <a:prstGeom prst="roundRect">
            <a:avLst>
              <a:gd name="adj" fmla="val 7368"/>
            </a:avLst>
          </a:prstGeom>
          <a:solidFill>
            <a:srgbClr val="1E2A40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97280" y="36118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FAEBE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使用者要的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4069080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FAF9F5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今天照不照原課表、具體改成什麼、為什麼、缺什麼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263640" y="3383280"/>
            <a:ext cx="5120640" cy="1737360"/>
          </a:xfrm>
          <a:prstGeom prst="roundRect">
            <a:avLst>
              <a:gd name="adj" fmla="val 7368"/>
            </a:avLst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6118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E0C4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使用者不要的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675120" y="4069080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FAF9F5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每個 AI host 或 Pacevera hosted service 各自保存完整健康歷史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85800" y="54406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3C9D6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Local／private 保存 state;hosted 只做最小化 transient processing。兩者不能共用同一句隱私承諾。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PART 1 — 核心概念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>
                <a:solidFill>
                  <a:srgbClr val="1F1E1D"/>
                </a:solidFill>
                <a:latin typeface="STHeiti"/>
              </a:rPr>
              <a:t>Evidence 留在你的控制邊界</a:t>
            </a:r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Local／private 可保存可重算的 state、plan 與 decision history;hosted 不保存 raw Evidence。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429000"/>
            <a:ext cx="10820095" cy="1051560"/>
          </a:xfrm>
          <a:prstGeom prst="roundRect">
            <a:avLst>
              <a:gd name="adj" fmla="val 10435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97280" y="357530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AA1B0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使用者控制環境保存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97280" y="3941064"/>
            <a:ext cx="9875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AD2C3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Raw Evidence · provider token · longitudinal state · plan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85800" y="4709160"/>
            <a:ext cx="10820095" cy="1051560"/>
          </a:xfrm>
          <a:prstGeom prst="roundRect">
            <a:avLst>
              <a:gd name="adj" fmla="val 10435"/>
            </a:avLst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97280" y="485546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7554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AI host 最小化取得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5221224"/>
            <a:ext cx="9875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Decision from → to · reason · missing signals · versioned trace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AEBE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PART 1 — 核心概念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>
                <a:solidFill>
                  <a:srgbClr val="FAF9F5"/>
                </a:solidFill>
                <a:latin typeface="STHeiti"/>
              </a:rPr>
              <a:t>輸出不是分數，是今天的 change</a:t>
            </a:r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D6DAE4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決策、動作、理由,外加信心與訊號覆蓋 —— host 讀到的是結論,不是待處理的資料。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154680"/>
            <a:ext cx="5120640" cy="2514600"/>
          </a:xfrm>
          <a:prstGeom prst="roundRect">
            <a:avLst>
              <a:gd name="adj" fmla="val 3636"/>
            </a:avLst>
          </a:prstGeom>
          <a:solidFill>
            <a:srgbClr val="1E2A40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05840" y="3364992"/>
            <a:ext cx="4572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49D993"/>
                </a:solidFill>
                <a:latin typeface="STHeiti" pitchFamily="34" charset="0"/>
                <a:ea typeface="Courier New" pitchFamily="34" charset="-122"/>
                <a:cs typeface="Courier New" pitchFamily="34" charset="-120"/>
              </a:rPr>
              <a:t>FitnessState: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49D993"/>
                </a:solidFill>
                <a:latin typeface="STHeiti" pitchFamily="34" charset="0"/>
                <a:ea typeface="Courier New" pitchFamily="34" charset="-122"/>
                <a:cs typeface="Courier New" pitchFamily="34" charset="-120"/>
              </a:rPr>
              <a:t>  recovery: 62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49D993"/>
                </a:solidFill>
                <a:latin typeface="STHeiti" pitchFamily="34" charset="0"/>
                <a:ea typeface="Courier New" pitchFamily="34" charset="-122"/>
                <a:cs typeface="Courier New" pitchFamily="34" charset="-120"/>
              </a:rPr>
              <a:t>  fatigue: 48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49D993"/>
                </a:solidFill>
                <a:latin typeface="STHeiti" pitchFamily="34" charset="0"/>
                <a:ea typeface="Courier New" pitchFamily="34" charset="-122"/>
                <a:cs typeface="Courier New" pitchFamily="34" charset="-120"/>
              </a:rPr>
              <a:t>  readiness: 55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49D993"/>
                </a:solidFill>
                <a:latin typeface="STHeiti" pitchFamily="34" charset="0"/>
                <a:ea typeface="Courier New" pitchFamily="34" charset="-122"/>
                <a:cs typeface="Courier New" pitchFamily="34" charset="-120"/>
              </a:rPr>
              <a:t>  acwr: 1.52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49D993"/>
                </a:solidFill>
                <a:latin typeface="STHeiti" pitchFamily="34" charset="0"/>
                <a:ea typeface="Courier New" pitchFamily="34" charset="-122"/>
                <a:cs typeface="Courier New" pitchFamily="34" charset="-120"/>
              </a:rPr>
              <a:t>  confidence: 0.71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49D993"/>
                </a:solidFill>
                <a:latin typeface="STHeiti" pitchFamily="34" charset="0"/>
                <a:ea typeface="Courier New" pitchFamily="34" charset="-122"/>
                <a:cs typeface="Courier New" pitchFamily="34" charset="-120"/>
              </a:rPr>
              <a:t>  missing: ["rpe"]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55080" y="3154680"/>
            <a:ext cx="5148072" cy="2514600"/>
          </a:xfrm>
          <a:prstGeom prst="roundRect">
            <a:avLst>
              <a:gd name="adj" fmla="val 3636"/>
            </a:avLst>
          </a:prstGeom>
          <a:solidFill>
            <a:srgbClr val="1E2A40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675120" y="3364992"/>
            <a:ext cx="4572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ECAE4D"/>
                </a:solidFill>
                <a:latin typeface="STHeiti" pitchFamily="34" charset="0"/>
                <a:ea typeface="Courier New" pitchFamily="34" charset="-122"/>
                <a:cs typeface="Courier New" pitchFamily="34" charset="-120"/>
              </a:rPr>
              <a:t>Decision: adjust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ECAE4D"/>
                </a:solidFill>
                <a:latin typeface="STHeiti" pitchFamily="34" charset="0"/>
                <a:ea typeface="Courier New" pitchFamily="34" charset="-122"/>
                <a:cs typeface="Courier New" pitchFamily="34" charset="-120"/>
              </a:rPr>
              <a:t>Action: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ECAE4D"/>
                </a:solidFill>
                <a:latin typeface="STHeiti" pitchFamily="34" charset="0"/>
                <a:ea typeface="Courier New" pitchFamily="34" charset="-122"/>
                <a:cs typeface="Courier New" pitchFamily="34" charset="-120"/>
              </a:rPr>
              <a:t>  from: VO₂max Intervals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ECAE4D"/>
                </a:solidFill>
                <a:latin typeface="STHeiti" pitchFamily="34" charset="0"/>
                <a:ea typeface="Courier New" pitchFamily="34" charset="-122"/>
                <a:cs typeface="Courier New" pitchFamily="34" charset="-120"/>
              </a:rPr>
              <a:t>  to:   Zone 2 · 45 min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ECAE4D"/>
                </a:solidFill>
                <a:latin typeface="STHeiti" pitchFamily="34" charset="0"/>
                <a:ea typeface="Courier New" pitchFamily="34" charset="-122"/>
                <a:cs typeface="Courier New" pitchFamily="34" charset="-120"/>
              </a:rPr>
              <a:t>Reason: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ECAE4D"/>
                </a:solidFill>
                <a:latin typeface="STHeiti" pitchFamily="34" charset="0"/>
                <a:ea typeface="Courier New" pitchFamily="34" charset="-122"/>
                <a:cs typeface="Courier New" pitchFamily="34" charset="-120"/>
              </a:rPr>
              <a:t>  - ACWR 1.52 &gt; 1.40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ECAE4D"/>
                </a:solidFill>
                <a:latin typeface="STHeiti" pitchFamily="34" charset="0"/>
                <a:ea typeface="Courier New" pitchFamily="34" charset="-122"/>
                <a:cs typeface="Courier New" pitchFamily="34" charset="-120"/>
              </a:rPr>
              <a:t>  - Sleep debt · HRV -12%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PART 1 — 核心概念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四層架構:資料邊界與決策責任分開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AI 可替換、Decision Engine 可重現、Evidence 與 token 留在 user-controlled boundary。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2926080"/>
            <a:ext cx="10820095" cy="676656"/>
          </a:xfrm>
          <a:prstGeom prst="roundRect">
            <a:avLst>
              <a:gd name="adj" fmla="val 13514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60120" y="3099816"/>
            <a:ext cx="329184" cy="32918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463040" y="2926080"/>
            <a:ext cx="2286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AI / Client Layer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886200" y="2926080"/>
            <a:ext cx="7406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8645C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Claude · ChatGPT · Gemini · Web · Mobile · Team systems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85800" y="3721608"/>
            <a:ext cx="10820095" cy="676656"/>
          </a:xfrm>
          <a:prstGeom prst="roundRect">
            <a:avLst>
              <a:gd name="adj" fmla="val 13514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960120" y="3895344"/>
            <a:ext cx="329184" cy="329184"/>
          </a:xfrm>
          <a:prstGeom prst="ellipse">
            <a:avLst/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463040" y="3721608"/>
            <a:ext cx="2286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Pacevera Interface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886200" y="3721608"/>
            <a:ext cx="7406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8645C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Desktop MCPB · private MCP · hosted remote · future REST / SDK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85800" y="4517136"/>
            <a:ext cx="10820095" cy="676656"/>
          </a:xfrm>
          <a:prstGeom prst="roundRect">
            <a:avLst>
              <a:gd name="adj" fmla="val 13514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960120" y="4690872"/>
            <a:ext cx="329184" cy="32918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463040" y="4517136"/>
            <a:ext cx="2286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Decision Infrastructure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886200" y="4517136"/>
            <a:ext cx="7406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8645C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Semantic State · Decision Engine · Rule Packages · Decision Graph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85800" y="5312664"/>
            <a:ext cx="10820095" cy="676656"/>
          </a:xfrm>
          <a:prstGeom prst="roundRect">
            <a:avLst>
              <a:gd name="adj" fmla="val 13514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60120" y="5486400"/>
            <a:ext cx="329184" cy="329184"/>
          </a:xfrm>
          <a:prstGeom prst="ellipse">
            <a:avLst/>
          </a:prstGeom>
          <a:solidFill>
            <a:srgbClr val="34445E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463040" y="5312664"/>
            <a:ext cx="2286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User-controlled Evidence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886200" y="5312664"/>
            <a:ext cx="7406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8645C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Local connectors · provider tokens · raw history · plans · outcomes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>
                <a:solidFill>
                  <a:srgbClr val="1F1E1D"/>
                </a:solidFill>
                <a:latin typeface="STHeiti"/>
              </a:rPr>
              <a:t>我們給的是決策，不是建議</a:t>
            </a:r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建議可以憑空發出;決策必須知道「今天原本要做什麼」,並寫成 from → to。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429000"/>
            <a:ext cx="10820095" cy="1051560"/>
          </a:xfrm>
          <a:prstGeom prst="roundRect">
            <a:avLst>
              <a:gd name="adj" fmla="val 10435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97280" y="357530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AA1B0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Recommendation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97280" y="3941064"/>
            <a:ext cx="9875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AD2C3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「建議今天跑 Zone 2」 —— 憑空發出,GPT-6 也做得到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85800" y="4709160"/>
            <a:ext cx="10820095" cy="1051560"/>
          </a:xfrm>
          <a:prstGeom prst="roundRect">
            <a:avLst>
              <a:gd name="adj" fmla="val 10435"/>
            </a:avLst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97280" y="485546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7554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5221224"/>
            <a:ext cx="9875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「今天的 VO₂max Intervals → 45 分鐘 Zone 2」 —— 對既有計畫的變更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AEBE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AF9F5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LLM 是 Orchestrator,不做計算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D6DAE4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恢復分數、訓練量、課表,全部由引擎決定;LLM 負責理解、呼叫、解釋與調整。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383280"/>
            <a:ext cx="1554480" cy="1051560"/>
          </a:xfrm>
          <a:prstGeom prst="roundRect">
            <a:avLst>
              <a:gd name="adj" fmla="val 8696"/>
            </a:avLst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338328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AF9F5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LLM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258568" y="372160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5A6376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514600" y="3383280"/>
            <a:ext cx="1554480" cy="1051560"/>
          </a:xfrm>
          <a:prstGeom prst="roundRect">
            <a:avLst>
              <a:gd name="adj" fmla="val 8696"/>
            </a:avLst>
          </a:prstGeom>
          <a:solidFill>
            <a:srgbClr val="1E2A40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560320" y="338328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>
                <a:solidFill>
                  <a:srgbClr val="FAF9F5"/>
                </a:solidFill>
                <a:latin typeface="STHeiti"/>
              </a:rPr>
              <a:t>Pacevera</a:t>
            </a:r>
          </a:p>
        </p:txBody>
      </p:sp>
      <p:sp>
        <p:nvSpPr>
          <p:cNvPr id="11" name="Text 9"/>
          <p:cNvSpPr/>
          <p:nvPr/>
        </p:nvSpPr>
        <p:spPr>
          <a:xfrm>
            <a:off x="4087368" y="372160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5A6376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343400" y="3383280"/>
            <a:ext cx="1554480" cy="1051560"/>
          </a:xfrm>
          <a:prstGeom prst="roundRect">
            <a:avLst>
              <a:gd name="adj" fmla="val 8696"/>
            </a:avLst>
          </a:prstGeom>
          <a:solidFill>
            <a:srgbClr val="1E2A4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389120" y="338328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AF9F5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916168" y="372160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5A6376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172200" y="3383280"/>
            <a:ext cx="1554480" cy="1051560"/>
          </a:xfrm>
          <a:prstGeom prst="roundRect">
            <a:avLst>
              <a:gd name="adj" fmla="val 8696"/>
            </a:avLst>
          </a:prstGeom>
          <a:solidFill>
            <a:srgbClr val="1E2A40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217920" y="338328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AF9F5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Training Load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744968" y="372160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5A6376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001000" y="3383280"/>
            <a:ext cx="1554480" cy="1051560"/>
          </a:xfrm>
          <a:prstGeom prst="roundRect">
            <a:avLst>
              <a:gd name="adj" fmla="val 8696"/>
            </a:avLst>
          </a:prstGeom>
          <a:solidFill>
            <a:srgbClr val="1E2A40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046720" y="338328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AF9F5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Decision Engine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573768" y="372160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5A6376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829800" y="3383280"/>
            <a:ext cx="1554480" cy="1051560"/>
          </a:xfrm>
          <a:prstGeom prst="roundRect">
            <a:avLst>
              <a:gd name="adj" fmla="val 8696"/>
            </a:avLst>
          </a:prstGeom>
          <a:solidFill>
            <a:srgbClr val="1E2A40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9875520" y="338328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AF9F5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Decision + Reason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85800" y="4754880"/>
            <a:ext cx="5120640" cy="1143000"/>
          </a:xfrm>
          <a:prstGeom prst="roundRect">
            <a:avLst>
              <a:gd name="adj" fmla="val 9600"/>
            </a:avLst>
          </a:prstGeom>
          <a:solidFill>
            <a:srgbClr val="1E2A40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051560" y="4919472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9D993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LLM 做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051560" y="528523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9D0C8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理解語意 · 呼叫工具 · 解釋結果 · 依回饋調整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263640" y="4754880"/>
            <a:ext cx="5120640" cy="1143000"/>
          </a:xfrm>
          <a:prstGeom prst="roundRect">
            <a:avLst>
              <a:gd name="adj" fmla="val 9600"/>
            </a:avLst>
          </a:prstGeom>
          <a:solidFill>
            <a:srgbClr val="1E2A40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629400" y="4919472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9D993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LLM 不做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629400" y="528523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9D0C8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算恢復分數 · 決定訓練量 · 憑空生成課表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>
                <a:solidFill>
                  <a:srgbClr val="1F1E1D"/>
                </a:solidFill>
                <a:latin typeface="STHeiti"/>
              </a:rPr>
              <a:t>先對齊 Evidence，再用規則做決策</a:t>
            </a:r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先把各家證據對齊,再用確定性規則算出決策,最後才交給 host 的模型講人話。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520440"/>
            <a:ext cx="5120640" cy="1691640"/>
          </a:xfrm>
          <a:prstGeom prst="roundRect">
            <a:avLst>
              <a:gd name="adj" fmla="val 6486"/>
            </a:avLst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97280" y="370332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157554"/>
                </a:solidFill>
                <a:latin typeface="STHeiti" pitchFamily="34" charset="0"/>
                <a:ea typeface="Courier New" pitchFamily="34" charset="-122"/>
                <a:cs typeface="Courier New" pitchFamily="34" charset="-120"/>
              </a:rPr>
              <a:t>IF  ACWR &gt; 1.40</a:t>
            </a:r>
            <a:endParaRPr lang="en-US" sz="14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157554"/>
                </a:solidFill>
                <a:latin typeface="STHeiti" pitchFamily="34" charset="0"/>
                <a:ea typeface="Courier New" pitchFamily="34" charset="-122"/>
                <a:cs typeface="Courier New" pitchFamily="34" charset="-120"/>
              </a:rPr>
              <a:t>  + Sleep debt</a:t>
            </a:r>
            <a:endParaRPr lang="en-US" sz="14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157554"/>
                </a:solidFill>
                <a:latin typeface="STHeiti" pitchFamily="34" charset="0"/>
                <a:ea typeface="Courier New" pitchFamily="34" charset="-122"/>
                <a:cs typeface="Courier New" pitchFamily="34" charset="-120"/>
              </a:rPr>
              <a:t>  + Yesterday leg</a:t>
            </a:r>
            <a:endParaRPr lang="en-US" sz="14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157554"/>
                </a:solidFill>
                <a:latin typeface="STHeiti" pitchFamily="34" charset="0"/>
                <a:ea typeface="Courier New" pitchFamily="34" charset="-122"/>
                <a:cs typeface="Courier New" pitchFamily="34" charset="-120"/>
              </a:rPr>
              <a:t>→  Intervals → Zone 2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55080" y="3520440"/>
            <a:ext cx="5148072" cy="484632"/>
          </a:xfrm>
          <a:prstGeom prst="roundRect">
            <a:avLst>
              <a:gd name="adj" fmla="val 16981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629400" y="3675888"/>
            <a:ext cx="182880" cy="18288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995160" y="3520440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Normalize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78240" y="3520440"/>
            <a:ext cx="25603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8645C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各家證據對齊成一份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355080" y="4096512"/>
            <a:ext cx="5148072" cy="484632"/>
          </a:xfrm>
          <a:prstGeom prst="roundRect">
            <a:avLst>
              <a:gd name="adj" fmla="val 16981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629400" y="4251960"/>
            <a:ext cx="182880" cy="182880"/>
          </a:xfrm>
          <a:prstGeom prst="ellipse">
            <a:avLst/>
          </a:prstGeom>
          <a:solidFill>
            <a:srgbClr val="34445E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995160" y="4096512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Rule Engine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778240" y="4096512"/>
            <a:ext cx="25603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8645C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確定性計算與安全底線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55080" y="4672584"/>
            <a:ext cx="5148072" cy="484632"/>
          </a:xfrm>
          <a:prstGeom prst="roundRect">
            <a:avLst>
              <a:gd name="adj" fmla="val 16981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629400" y="4828032"/>
            <a:ext cx="182880" cy="18288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995160" y="4672584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Host LLM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778240" y="4672584"/>
            <a:ext cx="25603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8645C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翻譯成人聽得懂的話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85800" y="55321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68645C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我們的程式不呼叫模型來產生決策 —— 同樣的證據送兩次,必須得到同一個決策。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AEBE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>
                <a:solidFill>
                  <a:srgbClr val="FAF9F5"/>
                </a:solidFill>
                <a:latin typeface="STHeiti"/>
              </a:rPr>
              <a:t>從計畫到今天：改動要能執行</a:t>
            </a:r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D6DAE4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把目標、歷程、時間、器材、恢復一起算進去,產出可執行的多週期計畫。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108960"/>
            <a:ext cx="2834640" cy="475488"/>
          </a:xfrm>
          <a:prstGeom prst="roundRect">
            <a:avLst>
              <a:gd name="adj" fmla="val 17308"/>
            </a:avLst>
          </a:prstGeom>
          <a:solidFill>
            <a:srgbClr val="1E2A40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85800" y="310896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D0C8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Goal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85800" y="3675888"/>
            <a:ext cx="2834640" cy="475488"/>
          </a:xfrm>
          <a:prstGeom prst="roundRect">
            <a:avLst>
              <a:gd name="adj" fmla="val 17308"/>
            </a:avLst>
          </a:prstGeom>
          <a:solidFill>
            <a:srgbClr val="1E2A40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5800" y="3675888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D0C8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History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" y="4242816"/>
            <a:ext cx="2834640" cy="475488"/>
          </a:xfrm>
          <a:prstGeom prst="roundRect">
            <a:avLst>
              <a:gd name="adj" fmla="val 17308"/>
            </a:avLst>
          </a:prstGeom>
          <a:solidFill>
            <a:srgbClr val="1E2A40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85800" y="4242816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D0C8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Time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85800" y="4809744"/>
            <a:ext cx="2834640" cy="475488"/>
          </a:xfrm>
          <a:prstGeom prst="roundRect">
            <a:avLst>
              <a:gd name="adj" fmla="val 17308"/>
            </a:avLst>
          </a:prstGeom>
          <a:solidFill>
            <a:srgbClr val="1E2A4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85800" y="4809744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D0C8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Equipment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85800" y="5376672"/>
            <a:ext cx="2834640" cy="475488"/>
          </a:xfrm>
          <a:prstGeom prst="roundRect">
            <a:avLst>
              <a:gd name="adj" fmla="val 17308"/>
            </a:avLst>
          </a:prstGeom>
          <a:solidFill>
            <a:srgbClr val="1E2A40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85800" y="5376672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D0C8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Recovery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749040" y="4160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A6376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343400" y="3108960"/>
            <a:ext cx="2926080" cy="2505456"/>
          </a:xfrm>
          <a:prstGeom prst="roundRect">
            <a:avLst>
              <a:gd name="adj" fmla="val 4380"/>
            </a:avLst>
          </a:prstGeom>
          <a:solidFill>
            <a:srgbClr val="1E2A40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343400" y="3108960"/>
            <a:ext cx="2926080" cy="2505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49D993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Planning</a:t>
            </a:r>
            <a:endParaRPr lang="en-US" sz="2000" dirty="0"/>
          </a:p>
          <a:p>
            <a:pPr marL="0" indent="0" algn="ctr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49D993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Engine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406640" y="4160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A6376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8001000" y="3108960"/>
            <a:ext cx="3502152" cy="2505456"/>
          </a:xfrm>
          <a:prstGeom prst="roundRect">
            <a:avLst>
              <a:gd name="adj" fmla="val 4380"/>
            </a:avLst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321040" y="33832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AF9F5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12 週半馬計畫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321040" y="38862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300" dirty="0">
                <a:solidFill>
                  <a:srgbClr val="FFE0C4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Week 1 — 建立基礎</a:t>
            </a:r>
            <a:endParaRPr lang="en-US" sz="13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300" dirty="0">
                <a:solidFill>
                  <a:srgbClr val="FFE0C4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Week 4 — 出差,自動降載</a:t>
            </a:r>
            <a:endParaRPr lang="en-US" sz="13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300" dirty="0">
                <a:solidFill>
                  <a:srgbClr val="FFE0C4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Week 8 — 強度區塊</a:t>
            </a:r>
            <a:endParaRPr lang="en-US" sz="13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300" dirty="0">
                <a:solidFill>
                  <a:srgbClr val="FFE0C4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Week 12 — 賽前減量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知識圖譜是內部支撐,不是對外產品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889 節點 / 5,785 邊,只在引擎內部被查詢;對外開放的是決策,不是圖。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10896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41832" y="3310128"/>
            <a:ext cx="274320" cy="27432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307592" y="327355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41832" y="374904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Goal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Health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Recovery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Preference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Injury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Calendar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29000" y="310896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685032" y="3310128"/>
            <a:ext cx="274320" cy="27432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050792" y="327355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Exercise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85032" y="374904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Muscle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Joint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Equipment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Movement Pattern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Variations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72200" y="310896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428232" y="3310128"/>
            <a:ext cx="274320" cy="274320"/>
          </a:xfrm>
          <a:prstGeom prst="ellipse">
            <a:avLst/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793992" y="327355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Workout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28232" y="374904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Exercises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Volume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Intensity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Fatigue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Recovery Cost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915400" y="310896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171432" y="3310128"/>
            <a:ext cx="274320" cy="274320"/>
          </a:xfrm>
          <a:prstGeom prst="ellipse">
            <a:avLst/>
          </a:prstGeom>
          <a:solidFill>
            <a:srgbClr val="34445E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537192" y="327355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Program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171432" y="374904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Goal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Weeks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Periodization</a:t>
            </a:r>
            <a:endParaRPr lang="en-US" sz="11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15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Workouts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動作的關係寫進圖裡,不寫進 Prompt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「找替代動作」變成一次圖查詢,而不是每次靠語言重新猜一遍。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429000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85800" y="342900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Goblet Squat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840480" y="34290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57554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— IS_VARIANT_OF →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720840" y="3429000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720840" y="342900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Squat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4142232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85800" y="4142232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Back Squat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840480" y="414223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57554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— PROGRESSES_TO →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720840" y="4142232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720840" y="4142232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Front Squat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85800" y="4855464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85800" y="485546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Split Squat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840480" y="4855464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57554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— SIMILAR_TO 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720840" y="4855464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720840" y="485546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Lunge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85800" y="56692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8645C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每個動作還掛著:主/次要肌群、關節、器材、難度、恢復成本、受傷風險、METS。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1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AEBE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AF9F5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疲勞要落到肌群,不能只有一個全身分數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D6DAE4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「今天不要再練胸」這種建議,前提是系統知道胸還剩多少。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200399"/>
            <a:ext cx="4206240" cy="2685393"/>
          </a:xfrm>
          <a:prstGeom prst="roundRect">
            <a:avLst>
              <a:gd name="adj" fmla="val 4800"/>
            </a:avLst>
          </a:prstGeom>
          <a:solidFill>
            <a:srgbClr val="1E2A40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05840" y="340156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9D993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全身負荷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3840480"/>
            <a:ext cx="3611880" cy="1950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C9D0C8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Workout  →  Training Load</a:t>
            </a:r>
            <a:endParaRPr lang="en-US" sz="1500" dirty="0"/>
          </a:p>
          <a:p>
            <a:pPr marL="0" indent="0">
              <a:lnSpc>
                <a:spcPts val="2600"/>
              </a:lnSpc>
              <a:buNone/>
            </a:pPr>
            <a:endParaRPr lang="en-US" sz="1500" dirty="0"/>
          </a:p>
          <a:p>
            <a:r>
              <a:rPr lang="en-US" sz="1500" b="1" dirty="0">
                <a:solidFill>
                  <a:srgbClr val="C9D0C8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ATL </a:t>
            </a:r>
            <a:r>
              <a:rPr lang="zh-TW" altLang="en" sz="1200" b="1" dirty="0">
                <a:solidFill>
                  <a:srgbClr val="FAF9F5"/>
                </a:solidFill>
                <a:latin typeface="STHeiti" panose="020B0604030504040204" pitchFamily="34" charset="-120"/>
                <a:ea typeface="Microsoft JhengHei" panose="020B0604030504040204" pitchFamily="34" charset="-120"/>
              </a:rPr>
              <a:t>（</a:t>
            </a:r>
            <a:r>
              <a:rPr lang="en" altLang="zh-TW" sz="1200" b="1" dirty="0">
                <a:solidFill>
                  <a:srgbClr val="FAF9F5"/>
                </a:solidFill>
                <a:latin typeface="STHeiti" panose="020B0604030504040204" pitchFamily="34" charset="-120"/>
                <a:ea typeface="Microsoft JhengHei" panose="020B0604030504040204" pitchFamily="34" charset="-120"/>
              </a:rPr>
              <a:t>Acute Training Load</a:t>
            </a:r>
            <a:r>
              <a:rPr lang="zh-TW" altLang="en" sz="1200" b="1" dirty="0">
                <a:solidFill>
                  <a:srgbClr val="FAF9F5"/>
                </a:solidFill>
                <a:latin typeface="STHeiti" panose="020B0604030504040204" pitchFamily="34" charset="-120"/>
                <a:ea typeface="Microsoft JhengHei" panose="020B0604030504040204" pitchFamily="34" charset="-120"/>
              </a:rPr>
              <a:t>）</a:t>
            </a:r>
          </a:p>
          <a:p>
            <a:r>
              <a:rPr lang="zh-TW" altLang="en-US" sz="1200" b="1" dirty="0">
                <a:solidFill>
                  <a:srgbClr val="FAF9F5"/>
                </a:solidFill>
                <a:latin typeface="STHeiti" panose="020B0604030504040204" pitchFamily="34" charset="-120"/>
                <a:ea typeface="Microsoft JhengHei" panose="020B0604030504040204" pitchFamily="34" charset="-120"/>
              </a:rPr>
              <a:t>急性訓練負荷（短期疲勞）</a:t>
            </a:r>
            <a:endParaRPr lang="en-US" altLang="zh-TW" sz="1200" b="1" dirty="0">
              <a:solidFill>
                <a:schemeClr val="bg1">
                  <a:lumMod val="7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r>
              <a:rPr lang="en-US" sz="1500" b="1" dirty="0">
                <a:solidFill>
                  <a:srgbClr val="C9D0C8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→  CTL </a:t>
            </a:r>
            <a:r>
              <a:rPr lang="zh-TW" altLang="en" sz="1200" b="1" dirty="0">
                <a:solidFill>
                  <a:srgbClr val="FAF9F5"/>
                </a:solidFill>
                <a:latin typeface="STHeiti" panose="020B0604030504040204" pitchFamily="34" charset="-120"/>
                <a:ea typeface="Microsoft JhengHei" panose="020B0604030504040204" pitchFamily="34" charset="-120"/>
              </a:rPr>
              <a:t>（</a:t>
            </a:r>
            <a:r>
              <a:rPr lang="en" altLang="zh-TW" sz="1200" b="1" dirty="0">
                <a:solidFill>
                  <a:srgbClr val="FAF9F5"/>
                </a:solidFill>
                <a:latin typeface="STHeiti" panose="020B0604030504040204" pitchFamily="34" charset="-120"/>
                <a:ea typeface="Microsoft JhengHei" panose="020B0604030504040204" pitchFamily="34" charset="-120"/>
              </a:rPr>
              <a:t>Chronic Training Load</a:t>
            </a:r>
            <a:r>
              <a:rPr lang="zh-TW" altLang="en" sz="1200" b="1" dirty="0">
                <a:solidFill>
                  <a:srgbClr val="FAF9F5"/>
                </a:solidFill>
                <a:latin typeface="STHeiti" panose="020B0604030504040204" pitchFamily="34" charset="-120"/>
                <a:ea typeface="Microsoft JhengHei" panose="020B0604030504040204" pitchFamily="34" charset="-120"/>
              </a:rPr>
              <a:t>）</a:t>
            </a:r>
          </a:p>
          <a:p>
            <a:r>
              <a:rPr lang="zh-TW" altLang="en-US" sz="1200" b="1" dirty="0">
                <a:solidFill>
                  <a:srgbClr val="FAF9F5"/>
                </a:solidFill>
                <a:latin typeface="STHeiti" panose="020B0604030504040204" pitchFamily="34" charset="-120"/>
                <a:ea typeface="Microsoft JhengHei" panose="020B0604030504040204" pitchFamily="34" charset="-120"/>
              </a:rPr>
              <a:t>慢性訓練負荷（長期體能）</a:t>
            </a:r>
            <a:endParaRPr lang="zh-TW" altLang="en-US" sz="1200" dirty="0">
              <a:solidFill>
                <a:schemeClr val="bg1">
                  <a:lumMod val="7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r>
              <a:rPr lang="en-US" sz="1500" b="1" dirty="0">
                <a:solidFill>
                  <a:srgbClr val="C9D0C8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→  </a:t>
            </a:r>
            <a:r>
              <a:rPr lang="en-US" sz="1500" b="1" dirty="0">
                <a:solidFill>
                  <a:srgbClr val="FAF9F5"/>
                </a:solidFill>
                <a:latin typeface="STHeiti" pitchFamily="34" charset="0"/>
                <a:ea typeface="Microsoft JhengHei" panose="020B0604030504040204" pitchFamily="34" charset="-120"/>
                <a:cs typeface="Arial" pitchFamily="34" charset="-120"/>
              </a:rPr>
              <a:t>TSB</a:t>
            </a:r>
            <a:r>
              <a:rPr lang="zh-TW" altLang="en-US" sz="1500" b="1" dirty="0">
                <a:solidFill>
                  <a:srgbClr val="FAF9F5"/>
                </a:solidFill>
                <a:latin typeface="STHeiti" pitchFamily="34" charset="0"/>
                <a:ea typeface="Microsoft JhengHei" panose="020B0604030504040204" pitchFamily="34" charset="-120"/>
                <a:cs typeface="Arial" pitchFamily="34" charset="-120"/>
              </a:rPr>
              <a:t>  </a:t>
            </a:r>
            <a:r>
              <a:rPr lang="zh-TW" altLang="en-US" sz="1200" b="1" dirty="0">
                <a:solidFill>
                  <a:srgbClr val="FAF9F5"/>
                </a:solidFill>
                <a:latin typeface="STHeiti" pitchFamily="34" charset="0"/>
                <a:ea typeface="Microsoft JhengHei" panose="020B0604030504040204" pitchFamily="34" charset="-120"/>
                <a:cs typeface="Arial" pitchFamily="34" charset="-120"/>
              </a:rPr>
              <a:t>（</a:t>
            </a:r>
            <a:r>
              <a:rPr lang="en" altLang="zh-TW" sz="1200" b="1" dirty="0">
                <a:solidFill>
                  <a:srgbClr val="FAF9F5"/>
                </a:solidFill>
                <a:latin typeface="STHeiti"/>
              </a:rPr>
              <a:t>Training Stress Balance</a:t>
            </a:r>
            <a:r>
              <a:rPr lang="zh-TW" altLang="en" sz="1200" b="1" dirty="0">
                <a:solidFill>
                  <a:srgbClr val="FAF9F5"/>
                </a:solidFill>
                <a:latin typeface="STHeiti"/>
              </a:rPr>
              <a:t>）</a:t>
            </a:r>
          </a:p>
          <a:p>
            <a:r>
              <a:rPr lang="zh-TW" altLang="en-US" sz="1200" b="1" dirty="0">
                <a:solidFill>
                  <a:srgbClr val="FAF9F5"/>
                </a:solidFill>
                <a:latin typeface="STHeiti"/>
              </a:rPr>
              <a:t>訓練壓力平衡（恢復程度）</a:t>
            </a:r>
            <a:endParaRPr lang="zh-TW" altLang="en-US" sz="1200" dirty="0">
              <a:solidFill>
                <a:schemeClr val="bg1">
                  <a:lumMod val="75000"/>
                </a:schemeClr>
              </a:solidFill>
            </a:endParaRPr>
          </a:p>
          <a:p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257800" y="3200400"/>
            <a:ext cx="6245352" cy="2286000"/>
          </a:xfrm>
          <a:prstGeom prst="roundRect">
            <a:avLst>
              <a:gd name="adj" fmla="val 4800"/>
            </a:avLst>
          </a:prstGeom>
          <a:solidFill>
            <a:srgbClr val="1E2A40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577840" y="340156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9D993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肌群疲勞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577840" y="387705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9D0C8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Chest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675120" y="3950208"/>
            <a:ext cx="3657600" cy="219456"/>
          </a:xfrm>
          <a:prstGeom prst="roundRect">
            <a:avLst>
              <a:gd name="adj" fmla="val 50000"/>
            </a:avLst>
          </a:prstGeom>
          <a:solidFill>
            <a:srgbClr val="34445E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675120" y="3950208"/>
            <a:ext cx="2926080" cy="219456"/>
          </a:xfrm>
          <a:prstGeom prst="roundRect">
            <a:avLst>
              <a:gd name="adj" fmla="val 50000"/>
            </a:avLst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0469880" y="3877056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D0C8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577840" y="43891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9D0C8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Back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675120" y="4462272"/>
            <a:ext cx="3657600" cy="219456"/>
          </a:xfrm>
          <a:prstGeom prst="roundRect">
            <a:avLst>
              <a:gd name="adj" fmla="val 50000"/>
            </a:avLst>
          </a:prstGeom>
          <a:solidFill>
            <a:srgbClr val="34445E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675120" y="4462272"/>
            <a:ext cx="2194560" cy="219456"/>
          </a:xfrm>
          <a:prstGeom prst="roundRect">
            <a:avLst>
              <a:gd name="adj" fmla="val 50000"/>
            </a:avLst>
          </a:prstGeom>
          <a:solidFill>
            <a:srgbClr val="68645C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0469880" y="438912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D0C8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577840" y="490118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9D0C8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Leg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675120" y="4974336"/>
            <a:ext cx="3657600" cy="219456"/>
          </a:xfrm>
          <a:prstGeom prst="roundRect">
            <a:avLst>
              <a:gd name="adj" fmla="val 50000"/>
            </a:avLst>
          </a:prstGeom>
          <a:solidFill>
            <a:srgbClr val="34445E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6675120" y="4974336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10469880" y="4901184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D0C8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35%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>
                <a:solidFill>
                  <a:srgbClr val="1F1E1D"/>
                </a:solidFill>
                <a:latin typeface="STHeiti"/>
              </a:rPr>
              <a:t>把不同來源對齊成同一套語彙</a:t>
            </a:r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統一單位與時間軸,廠商算好的分數不重算;每筆讀數還帶著是哪台裝置寫的。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200400"/>
            <a:ext cx="3017520" cy="2286000"/>
          </a:xfrm>
          <a:prstGeom prst="roundRect">
            <a:avLst>
              <a:gd name="adj" fmla="val 4800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05840" y="34015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8645C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原始指標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379476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500"/>
              </a:lnSpc>
              <a:buNone/>
            </a:pPr>
            <a:r>
              <a:rPr lang="en-US" sz="1500" dirty="0">
                <a:solidFill>
                  <a:srgbClr val="DAD2C3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Sleep</a:t>
            </a:r>
            <a:endParaRPr lang="en-US" sz="1500" dirty="0"/>
          </a:p>
          <a:p>
            <a:pPr marL="0" indent="0">
              <a:lnSpc>
                <a:spcPts val="2500"/>
              </a:lnSpc>
              <a:buNone/>
            </a:pPr>
            <a:r>
              <a:rPr lang="en-US" sz="1500" dirty="0">
                <a:solidFill>
                  <a:srgbClr val="DAD2C3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HRV</a:t>
            </a:r>
            <a:endParaRPr lang="en-US" sz="1500" dirty="0"/>
          </a:p>
          <a:p>
            <a:pPr marL="0" indent="0">
              <a:lnSpc>
                <a:spcPts val="2500"/>
              </a:lnSpc>
              <a:buNone/>
            </a:pPr>
            <a:r>
              <a:rPr lang="en-US" sz="1500" dirty="0">
                <a:solidFill>
                  <a:srgbClr val="DAD2C3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Heart Rate</a:t>
            </a:r>
            <a:endParaRPr lang="en-US" sz="1500" dirty="0"/>
          </a:p>
          <a:p>
            <a:pPr marL="0" indent="0">
              <a:lnSpc>
                <a:spcPts val="2500"/>
              </a:lnSpc>
              <a:buNone/>
            </a:pPr>
            <a:r>
              <a:rPr lang="en-US" sz="1500" dirty="0">
                <a:solidFill>
                  <a:srgbClr val="DAD2C3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Stress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840480" y="4114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FB5C2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343400" y="3200400"/>
            <a:ext cx="2834640" cy="2286000"/>
          </a:xfrm>
          <a:prstGeom prst="roundRect">
            <a:avLst>
              <a:gd name="adj" fmla="val 4800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17720" y="34015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7554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Normalization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17720" y="379476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500"/>
              </a:lnSpc>
              <a:buNone/>
            </a:pPr>
            <a:r>
              <a:rPr lang="en-US" sz="1400" dirty="0">
                <a:solidFill>
                  <a:srgbClr val="DAD2C3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統一單位</a:t>
            </a:r>
            <a:endParaRPr lang="en-US" sz="1400" dirty="0"/>
          </a:p>
          <a:p>
            <a:pPr marL="0" indent="0">
              <a:lnSpc>
                <a:spcPts val="2500"/>
              </a:lnSpc>
              <a:buNone/>
            </a:pPr>
            <a:r>
              <a:rPr lang="en-US" sz="1400" dirty="0">
                <a:solidFill>
                  <a:srgbClr val="DAD2C3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統一時間軸</a:t>
            </a:r>
            <a:endParaRPr lang="en-US" sz="1400" dirty="0"/>
          </a:p>
          <a:p>
            <a:pPr marL="0" indent="0">
              <a:lnSpc>
                <a:spcPts val="2500"/>
              </a:lnSpc>
              <a:buNone/>
            </a:pPr>
            <a:r>
              <a:rPr lang="en-US" sz="1400" dirty="0">
                <a:solidFill>
                  <a:srgbClr val="DAD2C3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canonical 命名</a:t>
            </a:r>
            <a:endParaRPr lang="en-US" sz="1400" dirty="0"/>
          </a:p>
          <a:p>
            <a:pPr marL="0" indent="0">
              <a:lnSpc>
                <a:spcPts val="2500"/>
              </a:lnSpc>
              <a:buNone/>
            </a:pPr>
            <a:r>
              <a:rPr lang="en-US" sz="1400" dirty="0">
                <a:solidFill>
                  <a:srgbClr val="DAD2C3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複合分數不重算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269480" y="4114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FB5C2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772400" y="3200400"/>
            <a:ext cx="3730752" cy="2286000"/>
          </a:xfrm>
          <a:prstGeom prst="roundRect">
            <a:avLst>
              <a:gd name="adj" fmla="val 4800"/>
            </a:avLst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092440" y="340156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7554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AI 看到的全部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092440" y="379476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100"/>
              </a:lnSpc>
              <a:buNone/>
            </a:pPr>
            <a:r>
              <a:rPr lang="en-US" sz="180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Recovery Score</a:t>
            </a:r>
            <a:endParaRPr lang="en-US" sz="1800" dirty="0"/>
          </a:p>
          <a:p>
            <a:pPr marL="0" indent="0">
              <a:lnSpc>
                <a:spcPts val="3100"/>
              </a:lnSpc>
              <a:buNone/>
            </a:pPr>
            <a:r>
              <a:rPr lang="en-US" sz="180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Fatigue Score</a:t>
            </a:r>
            <a:endParaRPr lang="en-US" sz="1800" dirty="0"/>
          </a:p>
          <a:p>
            <a:pPr marL="0" indent="0">
              <a:lnSpc>
                <a:spcPts val="3100"/>
              </a:lnSpc>
              <a:buNone/>
            </a:pPr>
            <a:r>
              <a:rPr lang="en-US" sz="180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Readiness Score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>
                <a:solidFill>
                  <a:srgbClr val="1F1E1D"/>
                </a:solidFill>
                <a:latin typeface="STHeiti"/>
              </a:rPr>
              <a:t>Connector 跑在你的環境</a:t>
            </a:r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Phase 2 在使用者控制環境完成授權、同步、正規化與撤銷;hosted 不持有 provider token。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246120"/>
            <a:ext cx="2468880" cy="960120"/>
          </a:xfrm>
          <a:prstGeom prst="roundRect">
            <a:avLst>
              <a:gd name="adj" fmla="val 11429"/>
            </a:avLst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85800" y="324612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OAuth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3429000" y="3246120"/>
            <a:ext cx="2468880" cy="960120"/>
          </a:xfrm>
          <a:prstGeom prst="roundRect">
            <a:avLst>
              <a:gd name="adj" fmla="val 11429"/>
            </a:avLst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29000" y="324612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Sync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6172200" y="3246120"/>
            <a:ext cx="2468880" cy="960120"/>
          </a:xfrm>
          <a:prstGeom prst="roundRect">
            <a:avLst>
              <a:gd name="adj" fmla="val 11429"/>
            </a:avLst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172200" y="324612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Revoke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8915400" y="3246120"/>
            <a:ext cx="2468880" cy="960120"/>
          </a:xfrm>
          <a:prstGeom prst="roundRect">
            <a:avLst>
              <a:gd name="adj" fmla="val 11429"/>
            </a:avLst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915400" y="324612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Normalize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685800" y="4526280"/>
            <a:ext cx="1536192" cy="502920"/>
          </a:xfrm>
          <a:prstGeom prst="roundRect">
            <a:avLst>
              <a:gd name="adj" fmla="val 49091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85800" y="4526280"/>
            <a:ext cx="1536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Apple Health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404872" y="4526280"/>
            <a:ext cx="960120" cy="502920"/>
          </a:xfrm>
          <a:prstGeom prst="roundRect">
            <a:avLst>
              <a:gd name="adj" fmla="val 49091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404872" y="45262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Garmin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547872" y="4526280"/>
            <a:ext cx="960120" cy="502920"/>
          </a:xfrm>
          <a:prstGeom prst="roundRect">
            <a:avLst>
              <a:gd name="adj" fmla="val 49091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3547872" y="45262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Strava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833872" y="4526280"/>
            <a:ext cx="960120" cy="502920"/>
          </a:xfrm>
          <a:prstGeom prst="roundRect">
            <a:avLst>
              <a:gd name="adj" fmla="val 49091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833872" y="45262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Oura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976872" y="4526280"/>
            <a:ext cx="1632204" cy="502920"/>
          </a:xfrm>
          <a:prstGeom prst="roundRect">
            <a:avLst>
              <a:gd name="adj" fmla="val 49091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976872" y="4526280"/>
            <a:ext cx="16322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WHOOP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791956" y="4526280"/>
            <a:ext cx="1824228" cy="502920"/>
          </a:xfrm>
          <a:prstGeom prst="roundRect">
            <a:avLst>
              <a:gd name="adj" fmla="val 49091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8791956" y="4526280"/>
            <a:ext cx="18242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Manual / CSV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690872" y="4526280"/>
            <a:ext cx="960120" cy="502920"/>
          </a:xfrm>
          <a:prstGeom prst="roundRect">
            <a:avLst>
              <a:gd name="adj" fmla="val 49091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4690872" y="45262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Google Health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85800" y="58064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8645C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目前 6 家 parser;Oura／WHOOP 尚待真實去識別化 fixture。新增來源不改 Decision Engine。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>
                <a:solidFill>
                  <a:srgbClr val="1F1E1D"/>
                </a:solidFill>
                <a:latin typeface="STHeiti"/>
              </a:rPr>
              <a:t>v0.5.0：把一個 decision loop 做完整</a:t>
            </a:r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v0.4.2 已公開 6 個;v0.5.0 整合完成後新增 workout 與 coverage／trace／outcome。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06324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86968" y="3264408"/>
            <a:ext cx="182880" cy="18288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188720" y="319125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assess_fitness_state
get_evidence_coverage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86968" y="36118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狀態與訊號覆蓋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89120" y="306324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590288" y="3264408"/>
            <a:ext cx="182880" cy="18288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892040" y="319125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decide_session
explain_decision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590288" y="36118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決策與版本化 trace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92440" y="306324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293608" y="3264408"/>
            <a:ext cx="182880" cy="182880"/>
          </a:xfrm>
          <a:prstGeom prst="ellipse">
            <a:avLst/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595360" y="319125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decide_exercise_substitution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293608" y="36118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換一個等效的動作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85800" y="461772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886968" y="4818888"/>
            <a:ext cx="182880" cy="182880"/>
          </a:xfrm>
          <a:prstGeom prst="ellipse">
            <a:avLst/>
          </a:prstGeom>
          <a:solidFill>
            <a:srgbClr val="34445E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188720" y="474573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generate_plan
generate_workout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86968" y="5166359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多週計畫與單次 workout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389120" y="461772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4590288" y="4818888"/>
            <a:ext cx="182880" cy="182880"/>
          </a:xfrm>
          <a:prstGeom prst="ellipse">
            <a:avLst/>
          </a:prstGeom>
          <a:solidFill>
            <a:srgbClr val="68645C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892040" y="474573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preview_adjust_plan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4590288" y="5166359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先看調整後的計畫長什麼樣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092440" y="461772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8293608" y="4818888"/>
            <a:ext cx="182880" cy="18288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595360" y="474573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commit_adjust_plan
submit_outcome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293608" y="5166359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提交計畫與結果回報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PART 2 — 工具准入判準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960120"/>
            <a:ext cx="10820095" cy="1143000"/>
          </a:xfrm>
          <a:prstGeom prst="roundRect">
            <a:avLst>
              <a:gd name="adj" fmla="val 11200"/>
            </a:avLst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188720" y="96012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「GPT-6 已經知道所有運動知識,這個 Tool 還有價值嗎?」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8645C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GPT-6 殺不死的三樣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852928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960120" y="3035808"/>
            <a:ext cx="182880" cy="18288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325880" y="285292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證據 —— 它沒有這個人的資料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3511296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960120" y="3694176"/>
            <a:ext cx="182880" cy="18288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325880" y="3511296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計算 —— 它沒有執行縱向運算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4169664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60120" y="4352544"/>
            <a:ext cx="182880" cy="18288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325880" y="416966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保證 —— 確定性過濾器不會被說服繞過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78040" y="2395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7554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判準怎麼用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78040" y="2852928"/>
            <a:ext cx="4325112" cy="1865376"/>
          </a:xfrm>
          <a:prstGeom prst="roundRect">
            <a:avLst>
              <a:gd name="adj" fmla="val 5882"/>
            </a:avLst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0" y="31272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9D0C8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否 → 砍掉或降為內部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498080" y="36576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9D0C8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GPT-6 殺死的是知識查詢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PART 2 — 核心功能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>
                <a:solidFill>
                  <a:srgbClr val="1F1E1D"/>
                </a:solidFill>
                <a:latin typeface="STHeiti"/>
              </a:rPr>
              <a:t>同一顆 engine，三種部署形態</a:t>
            </a:r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同一顆 Engine 與 Rule Packages;差別是 Evidence、token、state 與計算由誰控制。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246120"/>
            <a:ext cx="5120640" cy="1051560"/>
          </a:xfrm>
          <a:prstGeom prst="roundRect">
            <a:avLst>
              <a:gd name="adj" fmla="val 10435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005840" y="3566160"/>
            <a:ext cx="402336" cy="402336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581912" y="339242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Local desktop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81912" y="377647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8645C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今天可用:本機 MCPB 與手動／匯出 Evidence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3246120"/>
            <a:ext cx="5120640" cy="1051560"/>
          </a:xfrm>
          <a:prstGeom prst="roundRect">
            <a:avLst>
              <a:gd name="adj" fmla="val 10435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583680" y="3566160"/>
            <a:ext cx="402336" cy="402336"/>
          </a:xfrm>
          <a:prstGeom prst="ellipse">
            <a:avLst/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159752" y="339242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User-controlled private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159752" y="377647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8645C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Phase 2:connectors、state、plan、decision 都在你的環境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85800" y="4526280"/>
            <a:ext cx="5120640" cy="1051560"/>
          </a:xfrm>
          <a:prstGeom prst="roundRect">
            <a:avLst>
              <a:gd name="adj" fmla="val 10435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005840" y="4846320"/>
            <a:ext cx="402336" cy="402336"/>
          </a:xfrm>
          <a:prstGeom prst="ellipse">
            <a:avLst/>
          </a:prstGeom>
          <a:solidFill>
            <a:srgbClr val="34445E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581912" y="467258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Controlled mobile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81912" y="505663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8645C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Phase 3:pairing／tunnel 先連回 private engine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63640" y="4526280"/>
            <a:ext cx="5120640" cy="1051560"/>
          </a:xfrm>
          <a:prstGeom prst="roundRect">
            <a:avLst>
              <a:gd name="adj" fmla="val 10435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583680" y="4846320"/>
            <a:ext cx="402336" cy="402336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159752" y="467258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Hosted remote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159752" y="505663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8645C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只承諾最小化、transient、不留存;目前 Blocked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PART 3 — 應用情境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>
                <a:solidFill>
                  <a:srgbClr val="1F1E1D"/>
                </a:solidFill>
                <a:latin typeface="STHeiti"/>
              </a:rPr>
              <a:t>六種使用者真的會問的問題</a:t>
            </a:r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這六題答得出來,產品就成立;答不出來,架構就白做了。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200400"/>
            <a:ext cx="3291840" cy="1051560"/>
          </a:xfrm>
          <a:prstGeom prst="roundRect">
            <a:avLst>
              <a:gd name="adj" fmla="val 10435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60120" y="3520440"/>
            <a:ext cx="402336" cy="402336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60120" y="35204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508760" y="3200400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「今天適合跑嗎?昨天腿很酸」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89120" y="3200400"/>
            <a:ext cx="3291840" cy="1051560"/>
          </a:xfrm>
          <a:prstGeom prst="roundRect">
            <a:avLst>
              <a:gd name="adj" fmla="val 10435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663440" y="3520440"/>
            <a:ext cx="402336" cy="402336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663440" y="35204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212080" y="3200400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「下週出差,重新安排課表」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92440" y="3200400"/>
            <a:ext cx="3291840" cy="1051560"/>
          </a:xfrm>
          <a:prstGeom prst="roundRect">
            <a:avLst>
              <a:gd name="adj" fmla="val 10435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366760" y="3520440"/>
            <a:ext cx="402336" cy="402336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366760" y="35204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915400" y="3200400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「找 Goblet Squat 的替代動作」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85800" y="4498848"/>
            <a:ext cx="3291840" cy="1051560"/>
          </a:xfrm>
          <a:prstGeom prst="roundRect">
            <a:avLst>
              <a:gd name="adj" fmla="val 10435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60120" y="4818888"/>
            <a:ext cx="402336" cy="402336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60120" y="48188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508760" y="4498848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「左膝有傷,不要排跳的」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389120" y="4498848"/>
            <a:ext cx="3291840" cy="1051560"/>
          </a:xfrm>
          <a:prstGeom prst="roundRect">
            <a:avLst>
              <a:gd name="adj" fmla="val 10435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4663440" y="4818888"/>
            <a:ext cx="402336" cy="402336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663440" y="48188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212080" y="4498848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「分析這個月訓練,瓶頸在哪」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092440" y="4498848"/>
            <a:ext cx="3291840" cy="1051560"/>
          </a:xfrm>
          <a:prstGeom prst="roundRect">
            <a:avLst>
              <a:gd name="adj" fmla="val 10435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8366760" y="4818888"/>
            <a:ext cx="402336" cy="402336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366760" y="48188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F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915400" y="4498848"/>
            <a:ext cx="2377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語音:「今天怎麼樣?」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情境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960120"/>
            <a:ext cx="10820095" cy="1143000"/>
          </a:xfrm>
          <a:prstGeom prst="roundRect">
            <a:avLst>
              <a:gd name="adj" fmla="val 11200"/>
            </a:avLst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188720" y="96012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「今天適合跑嗎?昨天腿很酸」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8645C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系統必須先知道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852928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960120" y="3035808"/>
            <a:ext cx="182880" cy="18288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325880" y="285292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昨天實際做了什麼(跨來源)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3511296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960120" y="3694176"/>
            <a:ext cx="182880" cy="18288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325880" y="3511296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今天的恢復與 Readiness 分數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4169664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60120" y="4352544"/>
            <a:ext cx="182880" cy="18288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325880" y="416966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腿部肌群的殘餘疲勞百分比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78040" y="2395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7554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這一題落在哪幾層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78040" y="2852928"/>
            <a:ext cx="4325112" cy="1865376"/>
          </a:xfrm>
          <a:prstGeom prst="roundRect">
            <a:avLst>
              <a:gd name="adj" fmla="val 5882"/>
            </a:avLst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0" y="31272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9D0C8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→  Connector Layer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498080" y="36576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9D0C8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→  Health Graph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498080" y="41879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9D0C8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→  Training Load Graph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情境 B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960120"/>
            <a:ext cx="10820095" cy="1143000"/>
          </a:xfrm>
          <a:prstGeom prst="roundRect">
            <a:avLst>
              <a:gd name="adj" fmla="val 11200"/>
            </a:avLst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188720" y="96012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「下週出差,重新安排課表」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8645C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系統必須先知道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852928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960120" y="3035808"/>
            <a:ext cx="182880" cy="18288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325880" y="285292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你的行事曆與每天可用時間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3511296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960120" y="3694176"/>
            <a:ext cx="182880" cy="18288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325880" y="3511296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原計畫的週期化目標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4169664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60120" y="4352544"/>
            <a:ext cx="182880" cy="18288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325880" y="416966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改動後剩餘週數是否足夠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78040" y="2395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7554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這一題落在哪幾層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78040" y="2852928"/>
            <a:ext cx="4325112" cy="1865376"/>
          </a:xfrm>
          <a:prstGeom prst="roundRect">
            <a:avLst>
              <a:gd name="adj" fmla="val 5882"/>
            </a:avLst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0" y="31272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9D0C8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→  Calendar Connector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498080" y="36576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9D0C8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→  Program Graph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498080" y="41879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9D0C8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→  Planning Engine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情境 C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960120"/>
            <a:ext cx="10820095" cy="1143000"/>
          </a:xfrm>
          <a:prstGeom prst="roundRect">
            <a:avLst>
              <a:gd name="adj" fmla="val 11200"/>
            </a:avLst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188720" y="96012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「找 Goblet Squat 的替代動作」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8645C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系統必須先知道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852928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960120" y="3035808"/>
            <a:ext cx="182880" cy="18288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325880" y="285292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動作之間的變體與相似關係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3511296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960120" y="3694176"/>
            <a:ext cx="182880" cy="18288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325880" y="3511296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你手邊有哪些器材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4169664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60120" y="4352544"/>
            <a:ext cx="182880" cy="18288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325880" y="416966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難度與技術門檻是否相當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78040" y="2395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7554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這一題落在哪幾層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78040" y="2852928"/>
            <a:ext cx="4325112" cy="1865376"/>
          </a:xfrm>
          <a:prstGeom prst="roundRect">
            <a:avLst>
              <a:gd name="adj" fmla="val 5882"/>
            </a:avLst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0" y="31272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9D0C8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→  Exercise Graph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498080" y="36576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9D0C8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→  User Graph — Equipment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情境 D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960120"/>
            <a:ext cx="10820095" cy="1143000"/>
          </a:xfrm>
          <a:prstGeom prst="roundRect">
            <a:avLst>
              <a:gd name="adj" fmla="val 11200"/>
            </a:avLst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188720" y="96012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「左膝有傷,不要排跳的」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8645C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系統必須先知道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852928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960120" y="3035808"/>
            <a:ext cx="182880" cy="18288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325880" y="285292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這是長期約束,不是這次的要求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3511296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960120" y="3694176"/>
            <a:ext cx="182880" cy="18288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325880" y="3511296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哪些動作牽涉到該關節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4169664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60120" y="4352544"/>
            <a:ext cx="182880" cy="18288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325880" y="416966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替代方案要維持同樣訓練效果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78040" y="2395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7554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這一題落在哪幾層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78040" y="2852928"/>
            <a:ext cx="4325112" cy="1865376"/>
          </a:xfrm>
          <a:prstGeom prst="roundRect">
            <a:avLst>
              <a:gd name="adj" fmla="val 5882"/>
            </a:avLst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0" y="31272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9D0C8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→  User Graph — Injury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498080" y="36576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9D0C8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→  Exercise Graph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498080" y="418795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9D0C8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→  Planning Engine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情境 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960120"/>
            <a:ext cx="10820095" cy="1143000"/>
          </a:xfrm>
          <a:prstGeom prst="roundRect">
            <a:avLst>
              <a:gd name="adj" fmla="val 11200"/>
            </a:avLst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188720" y="96012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「分析這個月訓練,瓶頸在哪」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8645C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系統必須先知道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852928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960120" y="3035808"/>
            <a:ext cx="182880" cy="18288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325880" y="285292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完整的跨來源訓練歷程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3511296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960120" y="3694176"/>
            <a:ext cx="182880" cy="18288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325880" y="3511296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負荷趨勢:ATL / CTL / TSB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4169664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60120" y="4352544"/>
            <a:ext cx="182880" cy="18288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325880" y="416966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目標與實際執行的落差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78040" y="2395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7554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這一題落在哪幾層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78040" y="2852928"/>
            <a:ext cx="4325112" cy="1865376"/>
          </a:xfrm>
          <a:prstGeom prst="roundRect">
            <a:avLst>
              <a:gd name="adj" fmla="val 5882"/>
            </a:avLst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0" y="31272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9D0C8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→  Training Load 計算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498080" y="36576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9D0C8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→  assess_fitness_state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情境 F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960120"/>
            <a:ext cx="10820095" cy="1143000"/>
          </a:xfrm>
          <a:prstGeom prst="roundRect">
            <a:avLst>
              <a:gd name="adj" fmla="val 11200"/>
            </a:avLst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188720" y="96012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語音:「今天怎麼樣?」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8645C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系統必須先知道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852928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960120" y="3035808"/>
            <a:ext cx="182880" cy="18288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325880" y="285292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當下的 Readiness 分數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3511296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960120" y="3694176"/>
            <a:ext cx="182880" cy="18288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325880" y="3511296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推導這個結論的理由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4169664"/>
            <a:ext cx="6035040" cy="548640"/>
          </a:xfrm>
          <a:prstGeom prst="roundRect">
            <a:avLst>
              <a:gd name="adj" fmla="val 16667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60120" y="4352544"/>
            <a:ext cx="182880" cy="18288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325880" y="4169664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一句話講得完的建議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78040" y="2395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7554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這一題落在哪幾層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78040" y="2852928"/>
            <a:ext cx="4325112" cy="1865376"/>
          </a:xfrm>
          <a:prstGeom prst="roundRect">
            <a:avLst>
              <a:gd name="adj" fmla="val 5882"/>
            </a:avLst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0" y="312724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9D0C8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→  Semantic Layer — UserState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498080" y="36576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9D0C8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→  Semantic Layer — Reasoning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1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AEBE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PART 3 — 應用情境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>
                <a:solidFill>
                  <a:srgbClr val="FAF9F5"/>
                </a:solidFill>
                <a:latin typeface="STHeiti"/>
              </a:rPr>
              <a:t>共通點：先有 Evidence，才談 Decision</a:t>
            </a:r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D6DAE4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每一題都要求先答得出「你現在怎麼樣」,而那份答案每次都由證據重算。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383280"/>
            <a:ext cx="5120640" cy="1737360"/>
          </a:xfrm>
          <a:prstGeom prst="roundRect">
            <a:avLst>
              <a:gd name="adj" fmla="val 7368"/>
            </a:avLst>
          </a:prstGeom>
          <a:solidFill>
            <a:srgbClr val="1E2A40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97280" y="36118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FAEBE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問題長得像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4069080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FAF9F5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推薦一堂課、排一份課表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263640" y="3383280"/>
            <a:ext cx="5120640" cy="1737360"/>
          </a:xfrm>
          <a:prstGeom prst="roundRect">
            <a:avLst>
              <a:gd name="adj" fmla="val 7368"/>
            </a:avLst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6118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E0C4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真正在問的是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675120" y="4069080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FAF9F5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我現在能不能練、該練哪裡、為什麼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85800" y="54406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3C9D6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價值不在內容,在那個可重現的判斷。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PART 3 — 現況與待做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>
                <a:solidFill>
                  <a:srgbClr val="1F1E1D"/>
                </a:solidFill>
                <a:latin typeface="STHeiti"/>
              </a:rPr>
              <a:t>先用產品頁驗證，再進 private engine</a:t>
            </a:r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先關閉 v0.5.0,再用產品頁驗證市場,之後進入 private engine、mobile 與 team。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2697480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05256" y="2816352"/>
            <a:ext cx="274320" cy="274320"/>
          </a:xfrm>
          <a:prstGeom prst="ellipse">
            <a:avLst/>
          </a:prstGeom>
          <a:solidFill>
            <a:srgbClr val="68645C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05256" y="2816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71016" y="278892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已發行 v0.4.2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05256" y="3136392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8645C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Desktop MCPB · 6 public tools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05256" y="3419856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905256" y="3456432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8645C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Engine 1.6.0 · legacy Library 1.4.0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343400" y="2697480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562856" y="2816352"/>
            <a:ext cx="274320" cy="27432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562856" y="2816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28616" y="278892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main 已完成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62856" y="3136392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8645C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trace／outcome／continuity／package lifecycle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62856" y="3419856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562856" y="3456432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57554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graph viewer · harness · regression gate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001000" y="2697480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8220456" y="2816352"/>
            <a:ext cx="274320" cy="27432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220456" y="2816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586216" y="278892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下一版 v0.5.0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20456" y="3136392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8645C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10 tools · Engine 1.6.0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220456" y="3419856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220456" y="3456432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57554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base_rules 1.1.0 · planned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85800" y="3867912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905256" y="3986784"/>
            <a:ext cx="274320" cy="274320"/>
          </a:xfrm>
          <a:prstGeom prst="ellipse">
            <a:avLst/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905256" y="3986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271016" y="395935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Phase 0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05256" y="4306824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8645C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整合 workout／防注入與 privacy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5256" y="4590288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905256" y="4626864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pack · gates · publish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343400" y="3867912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4562856" y="3986784"/>
            <a:ext cx="274320" cy="274320"/>
          </a:xfrm>
          <a:prstGeom prst="ellipse">
            <a:avLst/>
          </a:prstGeom>
          <a:solidFill>
            <a:srgbClr val="34445E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4562856" y="3986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928616" y="395935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Phase 1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562856" y="4306824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8645C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pacevera.com 產品頁與真實 demo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562856" y="4590288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4562856" y="4626864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5568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3–5 interviews · activation／retention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001000" y="3867912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8220456" y="3986784"/>
            <a:ext cx="274320" cy="27432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8220456" y="3986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586216" y="395935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Phase 2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8220456" y="4306824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8645C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Local private engine MVP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8220456" y="4590288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8220456" y="4626864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57554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repository · connectors · continuity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85800" y="5038344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905256" y="5157216"/>
            <a:ext cx="274320" cy="274320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905256" y="5157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271016" y="512978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Phase 3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905256" y="547725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8645C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Controlled mobile · cross-host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905256" y="5760720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905256" y="579729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57554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hosted remote 維持 Blocked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343400" y="5038344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4562856" y="5157216"/>
            <a:ext cx="274320" cy="274320"/>
          </a:xfrm>
          <a:prstGeom prst="ellipse">
            <a:avLst/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4562856" y="5157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928616" y="512978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Phase 4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4562856" y="547725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8645C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Team／Enterprise · REST／SDK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4562856" y="5760720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4562856" y="579729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governance · private deployment · pilot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8001000" y="5038344"/>
            <a:ext cx="3474720" cy="1051560"/>
          </a:xfrm>
          <a:prstGeom prst="roundRect">
            <a:avLst>
              <a:gd name="adj" fmla="val 9565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63" name="Shape 61"/>
          <p:cNvSpPr/>
          <p:nvPr/>
        </p:nvSpPr>
        <p:spPr>
          <a:xfrm>
            <a:off x="8220456" y="5157216"/>
            <a:ext cx="274320" cy="274320"/>
          </a:xfrm>
          <a:prstGeom prst="ellipse">
            <a:avLst/>
          </a:prstGeom>
          <a:solidFill>
            <a:srgbClr val="34445E"/>
          </a:solidFill>
          <a:ln/>
        </p:spPr>
        <p:txBody>
          <a:bodyPr/>
          <a:p/>
        </p:txBody>
      </p:sp>
      <p:sp>
        <p:nvSpPr>
          <p:cNvPr id="64" name="Text 62"/>
          <p:cNvSpPr/>
          <p:nvPr/>
        </p:nvSpPr>
        <p:spPr>
          <a:xfrm>
            <a:off x="8220456" y="5157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1E1D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8586216" y="512978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Remote GO gate</a:t>
            </a:r>
            <a:endParaRPr lang="en-US" sz="1300" dirty="0"/>
          </a:p>
        </p:txBody>
      </p:sp>
      <p:sp>
        <p:nvSpPr>
          <p:cNvPr id="66" name="Text 64"/>
          <p:cNvSpPr/>
          <p:nvPr/>
        </p:nvSpPr>
        <p:spPr>
          <a:xfrm>
            <a:off x="8220456" y="5477256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8645C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auth · HTTPS · redaction · privacy · E2E</a:t>
            </a:r>
            <a:endParaRPr lang="en-US" sz="1050" dirty="0"/>
          </a:p>
        </p:txBody>
      </p:sp>
      <p:sp>
        <p:nvSpPr>
          <p:cNvPr id="67" name="Shape 65"/>
          <p:cNvSpPr/>
          <p:nvPr/>
        </p:nvSpPr>
        <p:spPr>
          <a:xfrm>
            <a:off x="8220456" y="5760720"/>
            <a:ext cx="301752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  <p:txBody>
          <a:bodyPr/>
          <a:p/>
        </p:txBody>
      </p:sp>
      <p:sp>
        <p:nvSpPr>
          <p:cNvPr id="68" name="Text 66"/>
          <p:cNvSpPr/>
          <p:nvPr/>
        </p:nvSpPr>
        <p:spPr>
          <a:xfrm>
            <a:off x="8220456" y="579729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5568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全部成立且有付費需求才 GO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8645C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POSITIONING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10545775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>
                <a:solidFill>
                  <a:srgbClr val="1F1E1D"/>
                </a:solidFill>
                <a:latin typeface="STHeiti"/>
              </a:rPr>
              <a:t>Pacevera 是 personal fitness decision layer</a:t>
            </a:r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03628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00"/>
              </a:lnSpc>
              <a:buNone/>
            </a:pPr>
            <a:r>
              <a:rPr lang="en-US" sz="2000" dirty="0">
                <a:solidFill>
                  <a:srgbClr val="1F1E1D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我們要的是運動領域的決策基礎層:證據、規則與可追溯的 from → to。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3657600"/>
            <a:ext cx="3291840" cy="1920240"/>
          </a:xfrm>
          <a:prstGeom prst="roundRect">
            <a:avLst>
              <a:gd name="adj" fmla="val 6667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05840" y="3886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AD2C3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Plaid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05840" y="44348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400" dirty="0">
                <a:solidFill>
                  <a:srgbClr val="68645C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金融資料整合層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89120" y="3657600"/>
            <a:ext cx="3291840" cy="1920240"/>
          </a:xfrm>
          <a:prstGeom prst="roundRect">
            <a:avLst>
              <a:gd name="adj" fmla="val 6667"/>
            </a:avLst>
          </a:prstGeom>
          <a:solidFill>
            <a:srgbClr val="E9E3D6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709160" y="3886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AD2C3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Stripe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709160" y="44348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400" dirty="0">
                <a:solidFill>
                  <a:srgbClr val="68645C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支付基礎設施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092440" y="3657600"/>
            <a:ext cx="3291840" cy="1920240"/>
          </a:xfrm>
          <a:prstGeom prst="roundRect">
            <a:avLst>
              <a:gd name="adj" fmla="val 6667"/>
            </a:avLst>
          </a:prstGeom>
          <a:solidFill>
            <a:srgbClr val="111B3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412480" y="3886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57554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Us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412480" y="44348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400" dirty="0">
                <a:solidFill>
                  <a:srgbClr val="D6DAE4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The Personal Fitness</a:t>
            </a:r>
            <a:endParaRPr lang="en-US" sz="1400" dirty="0"/>
          </a:p>
          <a:p>
            <a:pPr marL="0" indent="0">
              <a:lnSpc>
                <a:spcPts val="2100"/>
              </a:lnSpc>
              <a:buNone/>
            </a:pPr>
            <a:r>
              <a:rPr lang="en-US" sz="1400" dirty="0">
                <a:solidFill>
                  <a:srgbClr val="D6DAE4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Decision Layer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57607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8645C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上層可以換成任何 AI host,底層可以換掉任何一家裝置商 —— 中間的決策層不用動。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0865815" y="6144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DA89F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11B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3840480"/>
            <a:ext cx="4206240" cy="4206240"/>
          </a:xfrm>
          <a:prstGeom prst="ellipse">
            <a:avLst/>
          </a:prstGeom>
          <a:solidFill>
            <a:srgbClr val="157554">
              <a:alpha val="12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685800" y="566928"/>
            <a:ext cx="146304" cy="146304"/>
          </a:xfrm>
          <a:prstGeom prst="ellipse">
            <a:avLst/>
          </a:prstGeom>
          <a:solidFill>
            <a:srgbClr val="157554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941832" y="484632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AEBE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TAKEAWAY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1737360"/>
            <a:ext cx="10241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5200"/>
              </a:lnSpc>
              <a:buNone/>
            </a:pPr>
            <a:r>
              <a:rPr lang="en-US" sz="3300" b="1" dirty="0">
                <a:solidFill>
                  <a:srgbClr val="FAF9F5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最重要的核心資產,</a:t>
            </a:r>
            <a:endParaRPr lang="en-US" sz="3300" dirty="0"/>
          </a:p>
          <a:p>
            <a:pPr marL="0" indent="0">
              <a:lnSpc>
                <a:spcPts val="5200"/>
              </a:lnSpc>
              <a:buNone/>
            </a:pPr>
            <a:r>
              <a:rPr lang="en-US" sz="3300" b="1" dirty="0">
                <a:solidFill>
                  <a:srgbClr val="FAF9F5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是連續 Evidence → 可追溯 Decision,</a:t>
            </a:r>
            <a:endParaRPr lang="en-US" sz="3300" dirty="0"/>
          </a:p>
          <a:p>
            <a:pPr marL="0" indent="0">
              <a:lnSpc>
                <a:spcPts val="5200"/>
              </a:lnSpc>
              <a:buNone/>
            </a:pPr>
            <a:r>
              <a:rPr lang="en-US" sz="3300" b="1" dirty="0">
                <a:solidFill>
                  <a:srgbClr val="FAF9F5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而資料始終由使用者控制。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685800" y="4800600"/>
            <a:ext cx="2011680" cy="0"/>
          </a:xfrm>
          <a:prstGeom prst="line">
            <a:avLst/>
          </a:prstGeom>
          <a:noFill/>
          <a:ln w="38100">
            <a:solidFill>
              <a:srgbClr val="F96167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85800" y="50292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3C9D6"/>
                </a:solidFill>
                <a:latin typeface="STHeiti" pitchFamily="34" charset="0"/>
                <a:ea typeface="Arial" pitchFamily="34" charset="-122"/>
                <a:cs typeface="Arial" pitchFamily="34" charset="-120"/>
              </a:rPr>
              <a:t>Pacevera — Fitness Decision Engine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54681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C8497"/>
                </a:solidFill>
                <a:latin typeface="STHeiti" pitchFamily="34" charset="0"/>
                <a:ea typeface="Microsoft JhengHei" pitchFamily="34" charset="-122"/>
                <a:cs typeface="Microsoft JhengHei" pitchFamily="34" charset="-120"/>
              </a:rPr>
              <a:t>下一步:先發布 v0.5.0 → pacevera.com 驗證 → local private engine;remote 仍是後續 access channel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1446</Words>
  <Application>Microsoft Macintosh PowerPoint</Application>
  <PresentationFormat>寬螢幕</PresentationFormat>
  <Paragraphs>477</Paragraphs>
  <Slides>29</Slides>
  <Notes>29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29</vt:i4>
      </vt:variant>
    </vt:vector>
  </HeadingPairs>
  <TitlesOfParts>
    <vt:vector size="35" baseType="lpstr">
      <vt:lpstr>Microsoft JhengHei</vt:lpstr>
      <vt:lpstr>新細明體</vt:lpstr>
      <vt:lpstr>Arial</vt:lpstr>
      <vt:lpstr>Calibri</vt:lpstr>
      <vt:lpstr>Courier New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Fitness MCP — Semantic Fitness Layer</dc:title>
  <dc:subject>PptxGenJS Presentation</dc:subject>
  <dc:creator>Henry</dc:creator>
  <cp:lastModifiedBy>Microsoft Office User</cp:lastModifiedBy>
  <cp:revision>3</cp:revision>
  <dcterms:created xsi:type="dcterms:W3CDTF">2026-07-24T06:11:41Z</dcterms:created>
  <dcterms:modified xsi:type="dcterms:W3CDTF">2026-07-24T15:31:38Z</dcterms:modified>
</cp:coreProperties>
</file>
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36"/>
    <p:sldId id="262" r:id="rId7"/>
    <p:sldId id="263" r:id="rId8"/>
    <p:sldId id="264" r:id="rId9"/>
    <p:sldId id="265" r:id="rId37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3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0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200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6.xml"/><Relationship Id="rId37" Type="http://schemas.openxmlformats.org/officeDocument/2006/relationships/slide" Target="slides/slide10.xml"/><Relationship Id="rId38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0912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問題不在模型不夠聰明,而在每個模型都得重新推理一次,結果無法收斂。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這是隱私界線,不是效能設計。計畫與決策紀錄由呼叫端持有:Phase 1 存在 AI host 的記憶,Phase 2 存在使用者自己的資料庫 —— 兩種情況 hosted 都不留。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每個輸出都帶 confidence、evidence、signalCoverage、limits。缺的訊號列進 missing 並下調信心,不補造數值 —— 沒有 RPE 就是沒有,不是 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Phase 1 的界線:不直接連資料供應商、不持有來源 OAuth refresh token、不把 raw Evidence 寫入 database、file、object storage、queue 或 analytics。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邏輯寫在 prompt 裡就會隨模型漂移;寫在引擎裡才可被驗證、可被回測。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計畫不是一份靜態文件:改掉其中一週,後面所有週會跟著重算。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Graph 實際分八層:Exercise、Workout、Program、User、Health、Training Load、Nutrition、Knowledge。我們這端的學習發生在引擎規則與知識圖譜(跨使用者的通則),不在個人資料。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換掉任何一家裝置商,AI 那一側完全不用改。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目前實作 3 家 parser(Apple Health／Garmin／Strava,Strava 含 API 與 bulk export 兩種方言),schema registry 涵蓋 6 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六個都通過 GPT-6 Test:每一個都需要這個人的證據、需要縱向計算,或提供確定性保證。search_exercise、compare_exercise 這類純知識查詢已經拿掉。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Phase 2 是核心宗旨要的那個版本,不是高隱私情境的選配。持久化只能存在於 Phase 2 —— raw payload、HRV／睡眠、每日狀態那些表在 hosted 一張都不能建。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關鍵字是「昨天」和「腿」:一個要跨來源歷程,一個要分肌群疲勞。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課表必須是一張可被改寫、且會自動往下傳遞影響的圖,不是一份文字清單。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這題會撞到動作本體資料的建置成本,Phase 1 範圍界定時要先想清楚。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傷勢必須是常駐資料,不能靠使用者每次自己記得講。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歷程由呼叫端隨呼叫傳入 —— hosted 不保存歷程,所以這一題的完整度取決於呼叫端手上有多少。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語音是最好的壓力測試:證據要夠小、計算要夠快 —— 實測單次決策 0.443 ms、零次外部 API 呼叫。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已完成的三項附實測數字;未完成的不給沒有出處的門檻數字 —— 原本的「替代動作合理率 ≥ 85%」、「Tool 選對率 ≥ 90%」都沒有出處,已移除。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對外只能說「只處理呼叫端送進來的最小化健康證據,不留存、不販售、不訓練、不作無關用途」;不能說「完全不碰健康資料」—— 接收並計算 Evidence 本身就是 transient processing。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決策型別:keep、adjust、substitute、defer、advance —— keep 也是決策。推論:計畫是決策的基底,沒有計畫只能推薦。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這條判準是每個 tool 的准入門檻,也是為什麼知識圖譜是內部證據來源而不是對外產品。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120640" cy="5120640"/>
          </a:xfrm>
          <a:prstGeom prst="ellipse">
            <a:avLst/>
          </a:prstGeom>
          <a:solidFill>
            <a:srgbClr val="157554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3474720"/>
            <a:ext cx="2926080" cy="2926080"/>
          </a:xfrm>
          <a:prstGeom prst="ellipse">
            <a:avLst/>
          </a:prstGeom>
          <a:solidFill>
            <a:srgbClr val="157554">
              <a:alpha val="1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298448"/>
            <a:ext cx="164592" cy="164592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12070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9FAEBE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PRODUCT VISION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8778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6000"/>
              </a:lnSpc>
              <a:buNone/>
            </a:pPr>
            <a:r>
              <a:rPr lang="en-US" sz="5000" b="1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Pacevera</a:t>
            </a:r>
            <a:endParaRPr lang="en-US" sz="5000" dirty="0"/>
          </a:p>
          <a:p>
            <a:pPr marL="0" indent="0">
              <a:lnSpc>
                <a:spcPts val="6000"/>
              </a:lnSpc>
              <a:buNone/>
            </a:pPr>
            <a:r>
              <a:rPr lang="en-US" sz="5000" b="1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Fitness Decision Engine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685800" y="397764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>
                <a:solidFill>
                  <a:srgbClr val="FAF9F5"/>
                </a:solidFill>
                <a:latin typeface="Arial"/>
                <a:ea typeface="Microsoft JhengHei"/>
                <a:cs typeface="Microsoft JhengHei"/>
              </a:rPr>
              <a:t>把 Evidence 轉成今天可執行、可追溯的訓練變更。健康歷史仍由你控制。</a:t>
            </a:r>
          </a:p>
        </p:txBody>
      </p:sp>
      <p:sp>
        <p:nvSpPr>
          <p:cNvPr id="8" name="Shape 6"/>
          <p:cNvSpPr/>
          <p:nvPr/>
        </p:nvSpPr>
        <p:spPr>
          <a:xfrm>
            <a:off x="685800" y="5349240"/>
            <a:ext cx="201168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5577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FAF9F5"/>
                </a:solidFill>
                <a:latin typeface="Arial"/>
                <a:ea typeface="Microsoft JhengHei"/>
                <a:cs typeface="Microsoft JhengHei"/>
              </a:rPr>
              <a:t>Public preview · Desktop MCPB · v0.5.0 → local private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這份簡報講三件事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先看今天的決策，再看 evidence chain 與 privacy boundary，最後看產品驗證與 roadmap。</a:t>
            </a:r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0584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核心概念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從原定課表到今天要做什麼</a:t>
            </a:r>
          </a:p>
        </p:txBody>
      </p:sp>
      <p:sp>
        <p:nvSpPr>
          <p:cNvPr id="10" name="Shape 8"/>
          <p:cNvSpPr/>
          <p:nvPr/>
        </p:nvSpPr>
        <p:spPr>
          <a:xfrm>
            <a:off x="438912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70916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70916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核心功能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0916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證據、理由、缺失與信心都可檢查</a:t>
            </a:r>
          </a:p>
        </p:txBody>
      </p:sp>
      <p:sp>
        <p:nvSpPr>
          <p:cNvPr id="14" name="Shape 12"/>
          <p:cNvSpPr/>
          <p:nvPr/>
        </p:nvSpPr>
        <p:spPr>
          <a:xfrm>
            <a:off x="809244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41248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41248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應用情境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1248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AI coach 可替換，健康歷史留在你的控制邊界</a:t>
            </a:r>
          </a:p>
        </p:txBody>
      </p:sp>
      <p:sp>
        <p:nvSpPr>
          <p:cNvPr id="18" name="Text 16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一般 AI 知道運動知識，卻不知道連續的你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睡眠在一個 App、跑步在另一個、重訓在第三個,沒有人負責把它們接成同一個人。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418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Apple Health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418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睡眠 · HRV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290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850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Garmin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6850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恢復 · 訓練狀態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282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Strava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282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跑步 · 騎車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154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714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健身房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1714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BA3B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沒有任何紀錄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每一段都是真的,合起來卻拼不出「他今天到底能不能練」。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所以使用者每一次都要重新自我介紹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換一個模型、換一個對話視窗,理解就歸零 —— 而人的身體狀態是連續的。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ChatGPT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0584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0584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結論 1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8912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70916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Claude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0916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0916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70916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結論 2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9244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41248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Gemini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1248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41248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1248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結論 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AEBE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FAF9F5"/>
                </a:solidFill>
                <a:latin typeface="Arial"/>
                <a:ea typeface="Microsoft JhengHei"/>
                <a:cs typeface="Microsoft JhengHei"/>
              </a:rPr>
              <a:t>我們要蓋的是 AI coach 與今天決策之間的一層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把多來源資料正規化、推理、語意化,讓任何 AI 讀到同一份「這個人現在怎麼樣」。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91840"/>
            <a:ext cx="10817352" cy="1463040"/>
          </a:xfrm>
          <a:prstGeom prst="roundRect">
            <a:avLst>
              <a:gd name="adj" fmla="val 8750"/>
            </a:avLst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188720" y="349300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Semantic Fitness Layer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188720" y="409651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E0C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Normalize  →  Reasoning  →  Semantic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5212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3C9D6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產品不是 UI。任何介面 —— ChatGPT、Claude、手錶、語音 —— 都只是這一層的 Client。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AEBE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FAF9F5"/>
                </a:solidFill>
                <a:latin typeface="Arial"/>
                <a:ea typeface="Microsoft JhengHei"/>
                <a:cs typeface="Microsoft JhengHei"/>
              </a:rPr>
              <a:t>Your AI can coach. Pacevera helps it decide.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>
                <a:solidFill>
                  <a:srgbClr val="FAF9F5"/>
                </a:solidFill>
                <a:latin typeface="Arial"/>
                <a:ea typeface="Microsoft JhengHei"/>
                <a:cs typeface="Microsoft JhengHei"/>
              </a:rPr>
              <a:t>AI host 負責理解與表達;Pacevera 在使用者控制的資料邊界內負責計算、判斷與追溯。</a:t>
            </a:r>
          </a:p>
        </p:txBody>
      </p:sp>
      <p:sp>
        <p:nvSpPr>
          <p:cNvPr id="6" name="Shape 4"/>
          <p:cNvSpPr/>
          <p:nvPr/>
        </p:nvSpPr>
        <p:spPr>
          <a:xfrm>
            <a:off x="68580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使用者要的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今天照不照原課表、具體改成什麼、為什麼、缺什麼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26364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使用者不要的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7512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每個 AI host 或 Pacevera hosted service 各自保存完整健康歷史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54406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Local／private 保存 state;hosted 只做最小化 transient processing。兩者不能共用同一句隱私承諾。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Evidence 留在你的控制邊界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Local／private 可保存可重算的 state、plan 與 decision history;hosted 不保存 raw Evidence。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357530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A1B0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使用者控制環境保存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394106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Raw Evidence · provider token · longitudinal state · plan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470916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485546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AI host 最小化取得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522122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Planned session · Today’s session · reason · missing signals · versioned trace</a:t>
            </a:r>
          </a:p>
        </p:txBody>
      </p:sp>
      <p:sp>
        <p:nvSpPr>
          <p:cNvPr id="12" name="Text 1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AEBE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FAF9F5"/>
                </a:solidFill>
                <a:latin typeface="Arial"/>
                <a:ea typeface="Microsoft JhengHei"/>
                <a:cs typeface="Microsoft JhengHei"/>
              </a:rPr>
              <a:t>輸出不是分數，是今天的 change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決策、動作、理由,外加信心與訊號覆蓋 —— host 讀到的是結論,不是待處理的資料。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54680"/>
            <a:ext cx="5120640" cy="2514600"/>
          </a:xfrm>
          <a:prstGeom prst="roundRect">
            <a:avLst>
              <a:gd name="adj" fmla="val 3636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3364992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49D993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FitnessState: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49D993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  recovery: 62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49D993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  fatigue: 48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49D993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  readiness: 55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49D993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  acwr: 1.52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49D993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  confidence: 0.71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49D993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  missing: ["rpe"]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3154680"/>
            <a:ext cx="5148072" cy="2514600"/>
          </a:xfrm>
          <a:prstGeom prst="roundRect">
            <a:avLst>
              <a:gd name="adj" fmla="val 3636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675120" y="3364992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>
                <a:solidFill>
                  <a:srgbClr val="FAF9F5"/>
                </a:solidFill>
                <a:latin typeface="Arial"/>
                <a:ea typeface="Microsoft JhengHei"/>
                <a:cs typeface="Microsoft JhengHei"/>
              </a:rPr>
              <a:t>Decision: adjust</a:t>
            </a:r>
          </a:p>
          <a:p>
            <a:r>
              <a:rPr>
                <a:solidFill>
                  <a:srgbClr val="FAF9F5"/>
                </a:solidFill>
                <a:latin typeface="Arial"/>
                <a:ea typeface="Microsoft JhengHei"/>
                <a:cs typeface="Microsoft JhengHei"/>
              </a:rPr>
              <a:t>Action:</a:t>
            </a:r>
          </a:p>
          <a:p>
            <a:r>
              <a:rPr>
                <a:solidFill>
                  <a:srgbClr val="FAF9F5"/>
                </a:solidFill>
                <a:latin typeface="Arial"/>
                <a:ea typeface="Microsoft JhengHei"/>
                <a:cs typeface="Microsoft JhengHei"/>
              </a:rPr>
              <a:t>  planned_session: VO₂max Intervals</a:t>
            </a:r>
          </a:p>
          <a:p>
            <a:r>
              <a:rPr>
                <a:solidFill>
                  <a:srgbClr val="FAF9F5"/>
                </a:solidFill>
                <a:latin typeface="Arial"/>
                <a:ea typeface="Microsoft JhengHei"/>
                <a:cs typeface="Microsoft JhengHei"/>
              </a:rPr>
              <a:t>  today_session:   Zone 2 · 45 min</a:t>
            </a:r>
          </a:p>
          <a:p/>
          <a:p>
            <a:r>
              <a:rPr>
                <a:solidFill>
                  <a:srgbClr val="FAF9F5"/>
                </a:solidFill>
                <a:latin typeface="Arial"/>
                <a:ea typeface="Microsoft JhengHei"/>
                <a:cs typeface="Microsoft JhengHei"/>
              </a:rPr>
              <a:t>Reason:</a:t>
            </a:r>
          </a:p>
          <a:p>
            <a:r>
              <a:rPr>
                <a:solidFill>
                  <a:srgbClr val="FAF9F5"/>
                </a:solidFill>
                <a:latin typeface="Arial"/>
                <a:ea typeface="Microsoft JhengHei"/>
                <a:cs typeface="Microsoft JhengHei"/>
              </a:rPr>
              <a:t>  - ACWR 1.52 &gt; 1.40</a:t>
            </a:r>
          </a:p>
          <a:p>
            <a:r>
              <a:rPr>
                <a:solidFill>
                  <a:srgbClr val="FAF9F5"/>
                </a:solidFill>
                <a:latin typeface="Arial"/>
                <a:ea typeface="Microsoft JhengHei"/>
                <a:cs typeface="Microsoft JhengHei"/>
              </a:rPr>
              <a:t>  - Sleep debt · HRV -12%</a:t>
            </a:r>
          </a:p>
        </p:txBody>
      </p:sp>
      <p:sp>
        <p:nvSpPr>
          <p:cNvPr id="10" name="Text 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四層架構:資料邊界與決策責任分開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AI 可替換、Decision Engine 可重現、Evidence 與 token 留在 user-controlled boundary。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2926080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3099816"/>
            <a:ext cx="329184" cy="32918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463040" y="2926080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AI / Client Layer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86200" y="2926080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Claude · ChatGPT · Gemini · Web · Mobile · Team systems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3721608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895344"/>
            <a:ext cx="329184" cy="329184"/>
          </a:xfrm>
          <a:prstGeom prst="ellipse">
            <a:avLst/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63040" y="3721608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Pacevera Interface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886200" y="3721608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Desktop MCPB · private MCP · hosted remote · future REST / SDK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4517136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60120" y="4690872"/>
            <a:ext cx="329184" cy="32918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463040" y="4517136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Decision Infrastructure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86200" y="4517136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Semantic State · Decision Engine · Rule Packages · Decision Graph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85800" y="5312664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0120" y="5486400"/>
            <a:ext cx="329184" cy="329184"/>
          </a:xfrm>
          <a:prstGeom prst="ellipse">
            <a:avLst/>
          </a:prstGeom>
          <a:solidFill>
            <a:srgbClr val="34445E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463040" y="5312664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User-controlled Evidence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886200" y="5312664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Local connectors · provider tokens · raw history · plans · outcomes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我們給的是決策，不是建議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建議可以憑空發出;決策必須知道「今天原本要做什麼」,並寫成「原定課表到今天執行」。</a:t>
            </a:r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357530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A1B0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Recommendation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394106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「建議今天跑 Zone 2」 —— 憑空發出,GPT-6 也做得到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470916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485546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522122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「今天的 VO₂max Intervals → 45 分鐘 Zone 2」 —— 對既有計畫的變更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38912"/>
            <a:ext cx="329184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68645C"/>
                </a:solidFill>
                <a:latin typeface="Arial"/>
                <a:ea typeface="Microsoft JhengHei"/>
                <a:cs typeface="Microsoft JhengHei"/>
              </a:rPr>
              <a:t>PART 2 — CORE 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813816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AI can coach. Pacevera decides.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417320"/>
            <a:ext cx="96926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8645C"/>
                </a:solidFill>
                <a:latin typeface="Arial"/>
                <a:ea typeface="Microsoft JhengHei"/>
                <a:cs typeface="Microsoft JhengHei"/>
              </a:rPr>
              <a:t>One natural-language question becomes an executable training change through evidence and deterministic rules.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75104"/>
            <a:ext cx="210312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57554"/>
                </a:solidFill>
                <a:latin typeface="Arial"/>
                <a:ea typeface="Microsoft JhengHei"/>
                <a:cs typeface="Microsoft JhengHei"/>
              </a:rPr>
              <a:t>ONE DECISION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31720"/>
            <a:ext cx="2011680" cy="1234440"/>
          </a:xfrm>
          <a:prstGeom prst="roundRect">
            <a:avLst/>
          </a:prstGeom>
          <a:solidFill>
            <a:srgbClr val="E9E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73152"/>
          <a:lstStyle/>
          <a:p>
            <a:pPr algn="ctr"/>
            <a:r>
              <a:rPr sz="1700" b="1"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1  AI coach</a:t>
            </a:r>
          </a:p>
          <a:p>
            <a:pPr algn="ctr">
              <a:spcBef>
                <a:spcPts val="500"/>
              </a:spcBef>
            </a:pPr>
            <a:r>
              <a:rPr sz="1050">
                <a:solidFill>
                  <a:srgbClr val="68645C"/>
                </a:solidFill>
                <a:latin typeface="Arial"/>
                <a:ea typeface="Microsoft JhengHei"/>
                <a:cs typeface="Microsoft JhengHei"/>
              </a:rPr>
              <a:t>understand intent · call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8064" y="2706624"/>
            <a:ext cx="32004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157554"/>
                </a:solidFill>
                <a:latin typeface="Arial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36392" y="2331720"/>
            <a:ext cx="2331720" cy="1234440"/>
          </a:xfrm>
          <a:prstGeom prst="roundRect">
            <a:avLst/>
          </a:prstGeom>
          <a:solidFill>
            <a:srgbClr val="11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73152"/>
          <a:lstStyle/>
          <a:p>
            <a:pPr algn="ctr"/>
            <a:r>
              <a:rPr sz="2300" b="1">
                <a:solidFill>
                  <a:srgbClr val="49D993"/>
                </a:solidFill>
                <a:latin typeface="Arial"/>
                <a:ea typeface="Microsoft JhengHei"/>
                <a:cs typeface="Microsoft JhengHei"/>
              </a:rPr>
              <a:t>2  Pacevera</a:t>
            </a:r>
          </a:p>
          <a:p>
            <a:pPr algn="ctr">
              <a:spcBef>
                <a:spcPts val="500"/>
              </a:spcBef>
            </a:pPr>
            <a:r>
              <a:rPr sz="1050">
                <a:solidFill>
                  <a:srgbClr val="C9D0C8"/>
                </a:solidFill>
                <a:latin typeface="Arial"/>
                <a:ea typeface="Microsoft JhengHei"/>
                <a:cs typeface="Microsoft JhengHei"/>
              </a:rPr>
              <a:t>calculate · decide · trace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2706624"/>
            <a:ext cx="32004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157554"/>
                </a:solidFill>
                <a:latin typeface="Arial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331720"/>
            <a:ext cx="2148840" cy="1234440"/>
          </a:xfrm>
          <a:prstGeom prst="roundRect">
            <a:avLst/>
          </a:prstGeom>
          <a:solidFill>
            <a:srgbClr val="E9E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73152"/>
          <a:lstStyle/>
          <a:p>
            <a:pPr algn="ctr"/>
            <a:r>
              <a:rPr sz="1700" b="1"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3  Evidence + rules</a:t>
            </a:r>
          </a:p>
          <a:p>
            <a:pPr algn="ctr">
              <a:spcBef>
                <a:spcPts val="500"/>
              </a:spcBef>
            </a:pPr>
            <a:r>
              <a:rPr sz="1050">
                <a:solidFill>
                  <a:srgbClr val="68645C"/>
                </a:solidFill>
                <a:latin typeface="Arial"/>
                <a:ea typeface="Microsoft JhengHei"/>
                <a:cs typeface="Microsoft JhengHei"/>
              </a:rPr>
              <a:t>recovery · fatigue · load ·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47304" y="2706624"/>
            <a:ext cx="32004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157554"/>
                </a:solidFill>
                <a:latin typeface="Arial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85632" y="2331720"/>
            <a:ext cx="2971800" cy="1234440"/>
          </a:xfrm>
          <a:prstGeom prst="roundRect">
            <a:avLst/>
          </a:prstGeom>
          <a:solidFill>
            <a:srgbClr val="E9E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73152"/>
          <a:lstStyle/>
          <a:p>
            <a:pPr algn="ctr"/>
            <a:r>
              <a:rPr sz="1700" b="1"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4  Decision + reason</a:t>
            </a:r>
          </a:p>
          <a:p>
            <a:pPr algn="ctr">
              <a:spcBef>
                <a:spcPts val="500"/>
              </a:spcBef>
            </a:pPr>
            <a:r>
              <a:rPr sz="1050">
                <a:solidFill>
                  <a:srgbClr val="68645C"/>
                </a:solidFill>
                <a:latin typeface="Arial"/>
                <a:ea typeface="Microsoft JhengHei"/>
                <a:cs typeface="Microsoft JhengHei"/>
              </a:rPr>
              <a:t>keep · adjust · defer · change for today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005072"/>
            <a:ext cx="10744200" cy="1261872"/>
          </a:xfrm>
          <a:prstGeom prst="roundRect">
            <a:avLst/>
          </a:prstGeom>
          <a:solidFill>
            <a:srgbClr val="E9E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24528"/>
            <a:ext cx="210312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157554"/>
                </a:solidFill>
                <a:latin typeface="Arial"/>
                <a:ea typeface="Microsoft JhengHei"/>
                <a:cs typeface="Microsoft JhengHei"/>
              </a:rPr>
              <a:t>PACEVERA RETURNS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517136"/>
            <a:ext cx="438912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A change you can act on — with the evidence and limits attached.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4224528"/>
            <a:ext cx="109728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68645C"/>
                </a:solidFill>
                <a:latin typeface="Arial"/>
                <a:ea typeface="Microsoft JhengHei"/>
                <a:cs typeface="Microsoft JhengHei"/>
              </a:rPr>
              <a:t>planned → today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2" y="4224528"/>
            <a:ext cx="114300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68645C"/>
                </a:solidFill>
                <a:latin typeface="Arial"/>
                <a:ea typeface="Microsoft JhengHei"/>
                <a:cs typeface="Microsoft JhengHei"/>
              </a:rPr>
              <a:t>reason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4224528"/>
            <a:ext cx="105156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68645C"/>
                </a:solidFill>
                <a:latin typeface="Arial"/>
                <a:ea typeface="Microsoft JhengHei"/>
                <a:cs typeface="Microsoft JhengHei"/>
              </a:rPr>
              <a:t>missing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4224528"/>
            <a:ext cx="109728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68645C"/>
                </a:solidFill>
                <a:latin typeface="Arial"/>
                <a:ea typeface="Microsoft JhengHei"/>
                <a:cs typeface="Microsoft JhengHei"/>
              </a:rPr>
              <a:t>confidence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4553712"/>
            <a:ext cx="114300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Tempo → Moderate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5472" y="4553712"/>
            <a:ext cx="12344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readiness below threshold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4553712"/>
            <a:ext cx="82296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sleep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4553712"/>
            <a:ext cx="82296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157554"/>
                </a:solidFill>
                <a:latin typeface="Arial"/>
                <a:ea typeface="Microsoft JhengHei"/>
                <a:cs typeface="Microsoft JhengHei"/>
              </a:rPr>
              <a:t>medium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144768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68645C"/>
                </a:solidFill>
                <a:latin typeface="Arial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先對齊 Evidence，再用規則做決策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先把各家證據對齊,再用確定性規則算出決策,最後才交給 host 的模型講人話。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520440"/>
            <a:ext cx="5120640" cy="1691640"/>
          </a:xfrm>
          <a:prstGeom prst="roundRect">
            <a:avLst>
              <a:gd name="adj" fmla="val 6486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37033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IF  ACWR &gt; 1.40</a:t>
            </a:r>
            <a:endParaRPr lang="en-US" sz="14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  + Sleep debt</a:t>
            </a:r>
            <a:endParaRPr lang="en-US" sz="14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  + Yesterday leg</a:t>
            </a:r>
            <a:endParaRPr lang="en-US" sz="14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 Intervals → Zone 2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3520440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629400" y="367588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995160" y="352044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Normalize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78240" y="3520440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各家證據對齊成一份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55080" y="4096512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629400" y="4251960"/>
            <a:ext cx="182880" cy="182880"/>
          </a:xfrm>
          <a:prstGeom prst="ellipse">
            <a:avLst/>
          </a:prstGeom>
          <a:solidFill>
            <a:srgbClr val="34445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995160" y="409651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Rule Engine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778240" y="4096512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確定性計算與安全底線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55080" y="4672584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629400" y="4828032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995160" y="4672584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Host LLM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778240" y="4672584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翻譯成人聽得懂的話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5800" y="5532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我們的程式不呼叫模型來產生決策 —— 同樣的證據送兩次,必須得到同一個決策。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AEBE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FAF9F5"/>
                </a:solidFill>
                <a:latin typeface="Arial"/>
                <a:ea typeface="Microsoft JhengHei"/>
                <a:cs typeface="Microsoft JhengHei"/>
              </a:rPr>
              <a:t>從計畫到今天：改動要能執行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把目標、歷程、時間、器材、恢復一起算進去,產出可執行的多週期計畫。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08960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31089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Goal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3675888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367588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History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242816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424281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Time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4809744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480974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Equipment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5376672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537667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Recovery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74904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A6376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43400" y="3108960"/>
            <a:ext cx="2926080" cy="2505456"/>
          </a:xfrm>
          <a:prstGeom prst="roundRect">
            <a:avLst>
              <a:gd name="adj" fmla="val 4380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343400" y="3108960"/>
            <a:ext cx="292608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49D993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Planning</a:t>
            </a:r>
            <a:endParaRPr lang="en-US" sz="2000" dirty="0"/>
          </a:p>
          <a:p>
            <a:pPr marL="0" indent="0" algn="ctr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49D993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Engine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40664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A6376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001000" y="3108960"/>
            <a:ext cx="3502152" cy="2505456"/>
          </a:xfrm>
          <a:prstGeom prst="roundRect">
            <a:avLst>
              <a:gd name="adj" fmla="val 4380"/>
            </a:avLst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32104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12 週半馬計畫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321040" y="3886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0C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Week 1 — 建立基礎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0C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Week 4 — 出差,自動降載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0C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Week 8 — 強度區塊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0C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Week 12 — 賽前減量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知識圖譜是內部支撐,不是對外產品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889 節點 / 5,785 邊,只在引擎內部被查詢;對外開放的是決策,不是圖。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41832" y="3310128"/>
            <a:ext cx="274320" cy="27432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3075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User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418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Goal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Health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Recovery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Preference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Injury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Calendar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290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685032" y="3310128"/>
            <a:ext cx="274320" cy="27432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0507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Exercise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850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Muscle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Joint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Equipment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Movement Pattern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Risk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Variations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428232" y="3310128"/>
            <a:ext cx="274320" cy="274320"/>
          </a:xfrm>
          <a:prstGeom prst="ellipse">
            <a:avLst/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7939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Workout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282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Exercises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Volume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Intensity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Fatigue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Recovery Cost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154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171432" y="3310128"/>
            <a:ext cx="274320" cy="274320"/>
          </a:xfrm>
          <a:prstGeom prst="ellipse">
            <a:avLst/>
          </a:prstGeom>
          <a:solidFill>
            <a:srgbClr val="34445E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5371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Program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714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Goal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Weeks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Periodization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Workouts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動作的關係寫進圖裡,不寫進 Prompt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「找替代動作」變成一次圖查詢,而不是每次靠語言重新猜一遍。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34290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Goblet Squat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— IS_VARIANT_OF →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20840" y="342900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34290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Squat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4142232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85800" y="414223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Back Squat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414223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— PROGRESSES_TO →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20840" y="4142232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720840" y="414223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Front Squat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4855464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85800" y="48554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Split Squat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840480" y="485546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— SIMILAR_TO 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20840" y="4855464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720840" y="48554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Lunge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" y="56692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每個動作還掛著:主/次要肌群、關節、器材、難度、恢復成本、受傷風險、METS。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AEBE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疲勞要落到肌群,不能只有一個全身分數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「今天不要再練胸」這種建議,前提是系統知道胸還剩多少。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399"/>
            <a:ext cx="4206240" cy="2685393"/>
          </a:xfrm>
          <a:prstGeom prst="roundRect">
            <a:avLst>
              <a:gd name="adj" fmla="val 4800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340156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9D993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全身負荷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840480"/>
            <a:ext cx="361188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Workout  →  Training Load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endParaRPr lang="en-US" sz="1500" dirty="0"/>
          </a:p>
          <a:p>
            <a:r>
              <a:rPr lang="en-US" sz="150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ATL </a:t>
            </a:r>
            <a:r>
              <a:rPr lang="zh-TW" altLang="en" sz="1200" b="1" dirty="0">
                <a:solidFill>
                  <a:srgbClr val="FAF9F5"/>
                </a:solidFill>
                <a:latin typeface="Arial" panose="020B0604030504040204" pitchFamily="34" charset="-120"/>
                <a:ea typeface="Microsoft JhengHei" panose="020B0604030504040204" pitchFamily="34" charset="-120"/>
                <a:cs typeface="Microsoft JhengHei"/>
              </a:rPr>
              <a:t>（</a:t>
            </a:r>
            <a:r>
              <a:rPr lang="en" altLang="zh-TW" sz="1200" b="1" dirty="0">
                <a:solidFill>
                  <a:srgbClr val="FAF9F5"/>
                </a:solidFill>
                <a:latin typeface="Arial" panose="020B0604030504040204" pitchFamily="34" charset="-120"/>
                <a:ea typeface="Microsoft JhengHei" panose="020B0604030504040204" pitchFamily="34" charset="-120"/>
                <a:cs typeface="Microsoft JhengHei"/>
              </a:rPr>
              <a:t>Acute Training Load</a:t>
            </a:r>
            <a:r>
              <a:rPr lang="zh-TW" altLang="en" sz="1200" b="1" dirty="0">
                <a:solidFill>
                  <a:srgbClr val="FAF9F5"/>
                </a:solidFill>
                <a:latin typeface="Arial" panose="020B0604030504040204" pitchFamily="34" charset="-120"/>
                <a:ea typeface="Microsoft JhengHei" panose="020B0604030504040204" pitchFamily="34" charset="-120"/>
                <a:cs typeface="Microsoft JhengHei"/>
              </a:rPr>
              <a:t>）</a:t>
            </a:r>
          </a:p>
          <a:p>
            <a:r>
              <a:rPr lang="zh-TW" altLang="en-US" sz="1200" b="1" dirty="0">
                <a:solidFill>
                  <a:srgbClr val="FAF9F5"/>
                </a:solidFill>
                <a:latin typeface="Arial" panose="020B0604030504040204" pitchFamily="34" charset="-120"/>
                <a:ea typeface="Microsoft JhengHei" panose="020B0604030504040204" pitchFamily="34" charset="-120"/>
                <a:cs typeface="Microsoft JhengHei"/>
              </a:rPr>
              <a:t>急性訓練負荷（短期疲勞）</a:t>
            </a:r>
            <a:endParaRPr lang="en-US" altLang="zh-TW" sz="1200" b="1" dirty="0">
              <a:solidFill>
                <a:schemeClr val="bg1">
                  <a:lumMod val="7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lang="en-US" sz="150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 CTL </a:t>
            </a:r>
            <a:r>
              <a:rPr lang="zh-TW" altLang="en" sz="1200" b="1" dirty="0">
                <a:solidFill>
                  <a:srgbClr val="FAF9F5"/>
                </a:solidFill>
                <a:latin typeface="Arial" panose="020B0604030504040204" pitchFamily="34" charset="-120"/>
                <a:ea typeface="Microsoft JhengHei" panose="020B0604030504040204" pitchFamily="34" charset="-120"/>
                <a:cs typeface="Microsoft JhengHei"/>
              </a:rPr>
              <a:t>（</a:t>
            </a:r>
            <a:r>
              <a:rPr lang="en" altLang="zh-TW" sz="1200" b="1" dirty="0">
                <a:solidFill>
                  <a:srgbClr val="FAF9F5"/>
                </a:solidFill>
                <a:latin typeface="Arial" panose="020B0604030504040204" pitchFamily="34" charset="-120"/>
                <a:ea typeface="Microsoft JhengHei" panose="020B0604030504040204" pitchFamily="34" charset="-120"/>
                <a:cs typeface="Microsoft JhengHei"/>
              </a:rPr>
              <a:t>Chronic Training Load</a:t>
            </a:r>
            <a:r>
              <a:rPr lang="zh-TW" altLang="en" sz="1200" b="1" dirty="0">
                <a:solidFill>
                  <a:srgbClr val="FAF9F5"/>
                </a:solidFill>
                <a:latin typeface="Arial" panose="020B0604030504040204" pitchFamily="34" charset="-120"/>
                <a:ea typeface="Microsoft JhengHei" panose="020B0604030504040204" pitchFamily="34" charset="-120"/>
                <a:cs typeface="Microsoft JhengHei"/>
              </a:rPr>
              <a:t>）</a:t>
            </a:r>
          </a:p>
          <a:p>
            <a:r>
              <a:rPr lang="zh-TW" altLang="en-US" sz="1200" b="1" dirty="0">
                <a:solidFill>
                  <a:srgbClr val="FAF9F5"/>
                </a:solidFill>
                <a:latin typeface="Arial" panose="020B0604030504040204" pitchFamily="34" charset="-120"/>
                <a:ea typeface="Microsoft JhengHei" panose="020B0604030504040204" pitchFamily="34" charset="-120"/>
                <a:cs typeface="Microsoft JhengHei"/>
              </a:rPr>
              <a:t>慢性訓練負荷（長期體能）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lang="en-US" sz="150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 </a:t>
            </a:r>
            <a:r>
              <a:rPr lang="en-US" sz="1500" b="1" dirty="0">
                <a:solidFill>
                  <a:srgbClr val="FAF9F5"/>
                </a:solidFill>
                <a:latin typeface="Arial" pitchFamily="34" charset="0"/>
                <a:ea typeface="Microsoft JhengHei" panose="020B0604030504040204" pitchFamily="34" charset="-120"/>
                <a:cs typeface="Microsoft JhengHei" pitchFamily="34" charset="-120"/>
              </a:rPr>
              <a:t>TSB</a:t>
            </a:r>
            <a:r>
              <a:rPr lang="zh-TW" altLang="en-US" sz="1500" b="1" dirty="0">
                <a:solidFill>
                  <a:srgbClr val="FAF9F5"/>
                </a:solidFill>
                <a:latin typeface="Arial" pitchFamily="34" charset="0"/>
                <a:ea typeface="Microsoft JhengHei" panose="020B0604030504040204" pitchFamily="34" charset="-120"/>
                <a:cs typeface="Microsoft JhengHei" pitchFamily="34" charset="-120"/>
              </a:rPr>
              <a:t>  </a:t>
            </a:r>
            <a:r>
              <a:rPr lang="zh-TW" altLang="en-US" sz="1200" b="1" dirty="0">
                <a:solidFill>
                  <a:srgbClr val="FAF9F5"/>
                </a:solidFill>
                <a:latin typeface="Arial" pitchFamily="34" charset="0"/>
                <a:ea typeface="Microsoft JhengHei" panose="020B0604030504040204" pitchFamily="34" charset="-120"/>
                <a:cs typeface="Microsoft JhengHei" pitchFamily="34" charset="-120"/>
              </a:rPr>
              <a:t>（</a:t>
            </a:r>
            <a:r>
              <a:rPr lang="en" altLang="zh-TW" sz="1200" b="1" dirty="0">
                <a:solidFill>
                  <a:srgbClr val="FAF9F5"/>
                </a:solidFill>
                <a:latin typeface="Arial"/>
                <a:ea typeface="Microsoft JhengHei"/>
                <a:cs typeface="Microsoft JhengHei"/>
              </a:rPr>
              <a:t>Training Stress Balance</a:t>
            </a:r>
            <a:r>
              <a:rPr lang="zh-TW" altLang="en" sz="1200" b="1" dirty="0">
                <a:solidFill>
                  <a:srgbClr val="FAF9F5"/>
                </a:solidFill>
                <a:latin typeface="Arial"/>
                <a:ea typeface="Microsoft JhengHei"/>
                <a:cs typeface="Microsoft JhengHei"/>
              </a:rPr>
              <a:t>）</a:t>
            </a:r>
          </a:p>
          <a:p>
            <a:r>
              <a:rPr lang="zh-TW" altLang="en-US" sz="1200" b="1" dirty="0">
                <a:solidFill>
                  <a:srgbClr val="FAF9F5"/>
                </a:solidFill>
                <a:latin typeface="Arial"/>
                <a:ea typeface="Microsoft JhengHei"/>
                <a:cs typeface="Microsoft JhengHei"/>
              </a:rPr>
              <a:t>訓練壓力平衡（恢復程度）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257800" y="3200400"/>
            <a:ext cx="6245352" cy="2286000"/>
          </a:xfrm>
          <a:prstGeom prst="roundRect">
            <a:avLst>
              <a:gd name="adj" fmla="val 4800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577840" y="340156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9D993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肌群疲勞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77840" y="38770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Chest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75120" y="3950208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34445E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675120" y="3950208"/>
            <a:ext cx="2926080" cy="219456"/>
          </a:xfrm>
          <a:prstGeom prst="roundRect">
            <a:avLst>
              <a:gd name="adj" fmla="val 50000"/>
            </a:avLst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69880" y="387705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80%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577840" y="43891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Back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675120" y="4462272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34445E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675120" y="44622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68645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469880" y="43891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60%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77840" y="49011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Leg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675120" y="4974336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34445E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675120" y="4974336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0469880" y="490118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35%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把不同來源對齊成同一套語彙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統一單位與時間軸,廠商算好的分數不重算;每筆讀數還帶著是哪台裝置寫的。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017520" cy="2286000"/>
          </a:xfrm>
          <a:prstGeom prst="roundRect">
            <a:avLst>
              <a:gd name="adj" fmla="val 48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34015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原始指標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79476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Sleep</a:t>
            </a:r>
            <a:endParaRPr lang="en-US" sz="15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HRV</a:t>
            </a:r>
            <a:endParaRPr lang="en-US" sz="15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Heart Rate</a:t>
            </a:r>
            <a:endParaRPr lang="en-US" sz="15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Stress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FB5C2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343400" y="3200400"/>
            <a:ext cx="2834640" cy="2286000"/>
          </a:xfrm>
          <a:prstGeom prst="roundRect">
            <a:avLst>
              <a:gd name="adj" fmla="val 48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34015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Normalization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統一單位</a:t>
            </a:r>
            <a:endParaRPr lang="en-US" sz="14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統一時間軸</a:t>
            </a:r>
            <a:endParaRPr lang="en-US" sz="14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canonical 命名</a:t>
            </a:r>
            <a:endParaRPr lang="en-US" sz="14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複合分數不重算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6948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FB5C2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772400" y="3200400"/>
            <a:ext cx="3730752" cy="2286000"/>
          </a:xfrm>
          <a:prstGeom prst="roundRect">
            <a:avLst>
              <a:gd name="adj" fmla="val 4800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092440" y="34015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AI 看到的全部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92440" y="37947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Recovery Score</a:t>
            </a:r>
            <a:endParaRPr lang="en-US" sz="1800" dirty="0"/>
          </a:p>
          <a:p>
            <a:pPr marL="0" indent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Fatigue Score</a:t>
            </a:r>
            <a:endParaRPr lang="en-US" sz="1800" dirty="0"/>
          </a:p>
          <a:p>
            <a:pPr marL="0" indent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Readiness Score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Connector 跑在你的環境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Phase 2 在使用者控制環境完成授權、同步、正規化與撤銷;hosted 不持有 provider token。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OAuth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4290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290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Sync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1722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1722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Revoke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9154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9154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Normalize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85800" y="4526280"/>
            <a:ext cx="1536192" cy="502920"/>
          </a:xfrm>
          <a:prstGeom prst="roundRect">
            <a:avLst>
              <a:gd name="adj" fmla="val 49091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452628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Apple Health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404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404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Garmin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47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547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Strava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33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833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Oura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976872" y="4526280"/>
            <a:ext cx="1632204" cy="502920"/>
          </a:xfrm>
          <a:prstGeom prst="roundRect">
            <a:avLst>
              <a:gd name="adj" fmla="val 49091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976872" y="4526280"/>
            <a:ext cx="1632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WHOOP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91956" y="4526280"/>
            <a:ext cx="1824228" cy="502920"/>
          </a:xfrm>
          <a:prstGeom prst="roundRect">
            <a:avLst>
              <a:gd name="adj" fmla="val 49091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791956" y="4526280"/>
            <a:ext cx="18242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Manual / CSV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690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690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Google Health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5806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目前 6 家 parser;Oura／WHOOP 尚待真實去識別化 fixture。新增來源不改 Decision Engine。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v0.5.0：把一個 decision loop 做完整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v0.4.2 已公開 6 個;v0.5.0 整合完成後新增 workout 與 coverage／trace／outcome。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06324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86968" y="326440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88720" y="3191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assess_fitness_state
get_evidence_coverage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86968" y="36118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狀態與訊號覆蓋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9120" y="306324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90288" y="326440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92040" y="3191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decide_session
explain_decision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90288" y="36118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決策與版本化 trace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92440" y="306324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93608" y="3264408"/>
            <a:ext cx="182880" cy="182880"/>
          </a:xfrm>
          <a:prstGeom prst="ellipse">
            <a:avLst/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95360" y="3191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decide_exercise_substitution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93608" y="36118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換一個等效的動作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46177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86968" y="4818888"/>
            <a:ext cx="182880" cy="182880"/>
          </a:xfrm>
          <a:prstGeom prst="ellipse">
            <a:avLst/>
          </a:prstGeom>
          <a:solidFill>
            <a:srgbClr val="34445E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188720" y="47457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generate_plan
generate_workout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86968" y="5166359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多週計畫與單次 workout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89120" y="46177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590288" y="4818888"/>
            <a:ext cx="182880" cy="182880"/>
          </a:xfrm>
          <a:prstGeom prst="ellipse">
            <a:avLst/>
          </a:prstGeom>
          <a:solidFill>
            <a:srgbClr val="68645C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892040" y="47457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preview_adjust_plan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90288" y="5166359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先看調整後的計畫長什麼樣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092440" y="46177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293608" y="481888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595360" y="47457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commit_adjust_plan
submit_outcome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293608" y="5166359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提交計畫與結果回報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2 — 工具准入判準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「GPT-6 已經知道所有運動知識,這個 Tool 還有價值嗎?」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GPT-6 殺不死的三樣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證據 —— 它沒有這個人的資料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計算 —— 它沒有執行縱向運算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保證 —— 確定性過濾器不會被說服繞過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判準怎麼用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否 → 砍掉或降為內部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GPT-6 殺死的是知識查詢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同一顆 engine，三種部署形態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同一顆 Engine 與 Rule Packages;差別是 Evidence、token、state 與計算由誰控制。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4612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05840" y="3566160"/>
            <a:ext cx="402336" cy="402336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581912" y="33924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Local desktop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81912" y="37764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今天可用:本機 MCPB 與手動／匯出 Evidence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324612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583680" y="3566160"/>
            <a:ext cx="402336" cy="402336"/>
          </a:xfrm>
          <a:prstGeom prst="ellipse">
            <a:avLst/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159752" y="33924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User-controlled private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59752" y="37764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Phase 2:connectors、state、plan、decision 都在你的環境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452628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05840" y="4846320"/>
            <a:ext cx="402336" cy="402336"/>
          </a:xfrm>
          <a:prstGeom prst="ellipse">
            <a:avLst/>
          </a:prstGeom>
          <a:solidFill>
            <a:srgbClr val="34445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581912" y="46725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Controlled mobile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81912" y="50566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Phase 3:pairing／tunnel 先連回 private engine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63640" y="452628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583680" y="4846320"/>
            <a:ext cx="402336" cy="402336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59752" y="46725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Hosted remote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159752" y="50566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只承諾最小化、transient、不留存;目前 Blocked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3 — 應用情境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六種使用者真的會問的問題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這六題答得出來,產品就成立;答不出來,架構就白做了。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3520440"/>
            <a:ext cx="402336" cy="402336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12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0876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「今天適合跑嗎?昨天腿很酸」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3520440"/>
            <a:ext cx="402336" cy="402336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6344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1208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「下週出差,重新安排課表」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244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366760" y="3520440"/>
            <a:ext cx="402336" cy="402336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36676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91540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「找 Goblet Squat 的替代動作」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0120" y="4818888"/>
            <a:ext cx="402336" cy="402336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6012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0876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「左膝有傷,不要排跳的」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38912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663440" y="4818888"/>
            <a:ext cx="402336" cy="402336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66344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1208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「分析這個月訓練,瓶頸在哪」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09244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366760" y="4818888"/>
            <a:ext cx="402336" cy="402336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36676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F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91540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語音:「今天怎麼樣?」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情境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「今天適合跑嗎?昨天腿很酸」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昨天實際做了什麼(跨來源)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今天的恢復與 Readiness 分數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腿部肌群的殘餘疲勞百分比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 Connector Layer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 Health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 Training Load Graph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情境 B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「下週出差,重新安排課表」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你的行事曆與每天可用時間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原計畫的週期化目標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改動後剩餘週數是否足夠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 Calendar Connector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 Program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 Planning Engine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情境 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「找 Goblet Squat 的替代動作」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動作之間的變體與相似關係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你手邊有哪些器材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難度與技術門檻是否相當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 Exercise Graph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 User Graph — Equipment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情境 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「左膝有傷,不要排跳的」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這是長期約束,不是這次的要求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哪些動作牽涉到該關節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替代方案要維持同樣訓練效果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 User Graph — Injury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 Exercise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 Planning Engine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26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情境 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「分析這個月訓練,瓶頸在哪」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完整的跨來源訓練歷程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負荷趨勢:ATL / CTL / TSB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目標與實際執行的落差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 Training Load 計算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 assess_fitness_state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27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情境 F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語音:「今天怎麼樣?」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當下的 Readiness 分數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推導這個結論的理由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一句話講得完的建議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 Semantic Layer — UserState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→  Semantic Layer — Reasoning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28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AEBE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3 — 應用情境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FAF9F5"/>
                </a:solidFill>
                <a:latin typeface="Arial"/>
                <a:ea typeface="Microsoft JhengHei"/>
                <a:cs typeface="Microsoft JhengHei"/>
              </a:rPr>
              <a:t>共通點：先有 Evidence，才談 Decision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每一題都要求先答得出「你現在怎麼樣」,而那份答案每次都由證據重算。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FAEBE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問題長得像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推薦一堂課、排一份課表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26364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E0C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真正在問的是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7512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我現在能不能練、該練哪裡、為什麼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54406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3C9D6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價值不在內容,在那個可重現的判斷。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PART 3 — 現況與待做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先用產品頁驗證，再進 private engine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先關閉 v0.5.0,再用產品頁驗證市場,之後進入 private engine、mobile 與 team。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05256" y="2816352"/>
            <a:ext cx="274320" cy="274320"/>
          </a:xfrm>
          <a:prstGeom prst="ellipse">
            <a:avLst/>
          </a:prstGeom>
          <a:solidFill>
            <a:srgbClr val="68645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052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710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已發行 v0.4.2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052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Desktop MCPB · 6 public tools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052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052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Engine 1.6.0 · legacy Library 1.4.0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434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62856" y="2816352"/>
            <a:ext cx="274320" cy="27432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628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286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main 已完成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628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trace／outcome／continuity／package lifecycle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628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628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graph viewer · harness · regression gate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010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220456" y="2816352"/>
            <a:ext cx="274320" cy="27432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2204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862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下一版 v0.5.0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04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10 tools · Engine 1.6.0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204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2204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base_rules 1.1.0 · planned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58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905256" y="3986784"/>
            <a:ext cx="274320" cy="274320"/>
          </a:xfrm>
          <a:prstGeom prst="ellipse">
            <a:avLst/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052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2710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Phase 0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052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整合 workout／防注入與 privacy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52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9052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pack · gates · publish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3434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562856" y="3986784"/>
            <a:ext cx="274320" cy="274320"/>
          </a:xfrm>
          <a:prstGeom prst="ellipse">
            <a:avLst/>
          </a:prstGeom>
          <a:solidFill>
            <a:srgbClr val="34445E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5628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286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Phase 1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5628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pacevera.com 產品頁與真實 demo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628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5628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3–5 interviews · activation／retention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0010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8220456" y="3986784"/>
            <a:ext cx="274320" cy="27432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82204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5862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Phase 2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2204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Local private engine MVP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2204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2204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repository · connectors · continuity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58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905256" y="5157216"/>
            <a:ext cx="274320" cy="27432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9052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2710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Phase 3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52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Controlled mobile · cross-host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9052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9052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hosted remote 維持 Blocked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3434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4562856" y="5157216"/>
            <a:ext cx="274320" cy="274320"/>
          </a:xfrm>
          <a:prstGeom prst="ellipse">
            <a:avLst/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45628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9286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Phase 4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5628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Team／Enterprise · REST／SDK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5628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45628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governance · private deployment · pilot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80010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8220456" y="5157216"/>
            <a:ext cx="274320" cy="274320"/>
          </a:xfrm>
          <a:prstGeom prst="ellipse">
            <a:avLst/>
          </a:prstGeom>
          <a:solidFill>
            <a:srgbClr val="34445E"/>
          </a:solidFill>
          <a:ln/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82204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5862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Remote GO gate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82204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auth · HTTPS · redaction · privacy · E2E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82204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82204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全部成立且有付費需求才 GO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30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POSITIONING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Pacevera 是 personal fitness decision layer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>
                <a:solidFill>
                  <a:srgbClr val="1F1E1D"/>
                </a:solidFill>
                <a:latin typeface="Arial"/>
                <a:ea typeface="Microsoft JhengHei"/>
                <a:cs typeface="Microsoft JhengHei"/>
              </a:rPr>
              <a:t>我們要的是運動領域的決策基礎層:證據、規則與可追溯的訓練變更。</a:t>
            </a:r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Plaid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金融資料整合層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70916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Stripe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0916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1F1E1D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支付基礎設施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9244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41248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7554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Us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41248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The Personal Fitness</a:t>
            </a:r>
            <a:endParaRPr lang="en-US" sz="14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Decision Layer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57607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8645C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上層可以換成任何 AI host,底層可以換掉任何一家裝置商 —— 中間的決策層不用動。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31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206240" cy="4206240"/>
          </a:xfrm>
          <a:prstGeom prst="ellipse">
            <a:avLst/>
          </a:prstGeom>
          <a:solidFill>
            <a:srgbClr val="157554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AEBE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73736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最重要的核心資產,</a:t>
            </a:r>
            <a:endParaRPr lang="en-US" sz="33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是連續 Evidence → 可追溯 Decision,</a:t>
            </a:r>
            <a:endParaRPr lang="en-US" sz="33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AF9F5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而資料始終由使用者控制。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85800" y="4800600"/>
            <a:ext cx="201168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5029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3C9D6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Pacevera — Fitness Decision Engine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54681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C8497"/>
                </a:solidFill>
                <a:latin typeface="Arial" pitchFamily="34" charset="0"/>
                <a:ea typeface="Microsoft JhengHei" pitchFamily="34" charset="-122"/>
                <a:cs typeface="Microsoft JhengHei" pitchFamily="34" charset="-120"/>
              </a:rPr>
              <a:t>下一步:先發布 v0.5.0 → pacevera.com 驗證 → local private engine;remote 仍是後續 access channel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1446</Words>
  <Application>Microsoft Macintosh PowerPoint</Application>
  <PresentationFormat>寬螢幕</PresentationFormat>
  <Paragraphs>477</Paragraphs>
  <Slides>29</Slides>
  <Notes>29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5" baseType="lpstr">
      <vt:lpstr>Microsoft JhengHei</vt:lpstr>
      <vt:lpstr>新細明體</vt:lpstr>
      <vt:lpstr>Arial</vt:lpstr>
      <vt:lpstr>Calibri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Fitness MCP — Semantic Fitness Layer</dc:title>
  <dc:subject>PptxGenJS Presentation</dc:subject>
  <dc:creator>Henry</dc:creator>
  <cp:lastModifiedBy>Microsoft Office User</cp:lastModifiedBy>
  <cp:revision>3</cp:revision>
  <dcterms:created xsi:type="dcterms:W3CDTF">2026-07-24T06:11:41Z</dcterms:created>
  <dcterms:modified xsi:type="dcterms:W3CDTF">2026-07-24T15:31:38Z</dcterms:modified>
</cp:coreProperties>
</file>
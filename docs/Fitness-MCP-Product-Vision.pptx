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36"/>
    <p:sldId id="262" r:id="rId7"/>
    <p:sldId id="263" r:id="rId8"/>
    <p:sldId id="264" r:id="rId9"/>
    <p:sldId id="265" r:id="rId37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3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0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200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6.xml"/><Relationship Id="rId37" Type="http://schemas.openxmlformats.org/officeDocument/2006/relationships/slide" Target="slides/slide10.xml"/><Relationship Id="rId38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0912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問題不在模型不夠聰明,而在每個模型都得重新推理一次,結果無法收斂。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這是隱私界線,不是效能設計。計畫與決策紀錄由呼叫端持有:Phase 1 存在 AI host 的記憶,Phase 2 存在使用者自己的資料庫 —— 兩種情況 hosted 都不留。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每個輸出都帶 confidence、evidence、signalCoverage、limits。缺的訊號列進 missing 並下調信心,不補造數值 —— 沒有 RPE 就是沒有,不是 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Phase 1 的界線:不直接連資料供應商、不持有來源 OAuth refresh token、不把 raw Evidence 寫入 database、file、object storage、queue 或 analytics。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邏輯寫在 prompt 裡就會隨模型漂移;寫在引擎裡才可被驗證、可被回測。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計畫不是一份靜態文件:改掉其中一週,後面所有週會跟著重算。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Graph 實際分八層:Exercise、Workout、Program、User、Health、Training Load、Nutrition、Knowledge。我們這端的學習發生在引擎規則與知識圖譜(跨使用者的通則),不在個人資料。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換掉任何一家裝置商,AI 那一側完全不用改。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目前實作 3 家 parser(Apple Health／Garmin／Strava,Strava 含 API 與 bulk export 兩種方言),schema registry 涵蓋 6 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六個都通過 GPT-6 Test:每一個都需要這個人的證據、需要縱向計算,或提供確定性保證。search_exercise、compare_exercise 這類純知識查詢已經拿掉。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Phase 2 是核心宗旨要的那個版本,不是高隱私情境的選配。持久化只能存在於 Phase 2 —— raw payload、HRV／睡眠、每日狀態那些表在 hosted 一張都不能建。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關鍵字是「昨天」和「腿」:一個要跨來源歷程,一個要分肌群疲勞。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課表必須是一張可被改寫、且會自動往下傳遞影響的圖,不是一份文字清單。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這題會撞到動作本體資料的建置成本,Phase 1 範圍界定時要先想清楚。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傷勢必須是常駐資料,不能靠使用者每次自己記得講。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歷程由呼叫端隨呼叫傳入 —— hosted 不保存歷程,所以這一題的完整度取決於呼叫端手上有多少。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語音是最好的壓力測試:證據要夠小、計算要夠快 —— 實測單次決策 0.443 ms、零次外部 API 呼叫。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已完成的三項附實測數字;未完成的不給沒有出處的門檻數字 —— 原本的「替代動作合理率 ≥ 85%」、「Tool 選對率 ≥ 90%」都沒有出處,已移除。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對外只能說「只處理呼叫端送進來的最小化健康證據,不留存、不販售、不訓練、不作無關用途」;不能說「完全不碰健康資料」—— 接收並計算 Evidence 本身就是 transient processing。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決策型別:keep、adjust、substitute、defer、advance —— keep 也是決策。推論:計畫是決策的基底,沒有計畫只能推薦。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這條判準是每個 tool 的准入門檻,也是為什麼知識圖譜是內部證據來源而不是對外產品。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120640" cy="5120640"/>
          </a:xfrm>
          <a:prstGeom prst="ellipse">
            <a:avLst/>
          </a:prstGeom>
          <a:solidFill>
            <a:srgbClr val="F96167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3474720"/>
            <a:ext cx="2926080" cy="2926080"/>
          </a:xfrm>
          <a:prstGeom prst="ellipse">
            <a:avLst/>
          </a:prstGeom>
          <a:solidFill>
            <a:srgbClr val="1FB6A6">
              <a:alpha val="1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298448"/>
            <a:ext cx="164592" cy="164592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12070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VISION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83080"/>
            <a:ext cx="8778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6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Pacevera</a:t>
            </a:r>
            <a:endParaRPr lang="en-US" sz="5000" dirty="0"/>
          </a:p>
          <a:p>
            <a:pPr marL="0" indent="0">
              <a:lnSpc>
                <a:spcPts val="6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Fitness Decision Engine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685800" y="397764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1900" dirty="0">
                <a:solidFill>
                  <a:srgbClr val="C3C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讓任何 AI 都能做出可重現的訓練決策 —— 而不必看見你完整的原始健康資料。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85800" y="5349240"/>
            <a:ext cx="201168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5577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49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核心概念 · 核心功能 · 應用情境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這份簡報講三件事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先講清楚我們在蓋什麼,再講它能做什麼,最後用真實情境驗收。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40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0584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0584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核心概念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52628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我們蓋的不是 App,是一個確定性的訓練決策引擎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89120" y="320040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70916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B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70916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核心功能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09160" y="452628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 tool,以及背後那個不呼叫模型的決策引擎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2440" y="320040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41248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41248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應用情境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12480" y="452628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六個使用者真的會問的問題,以及每一題打到哪幾層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身體是連續的,資料卻是被切開的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睡眠在一個 App、跑步在另一個、重訓在第三個,沒有人負責把它們接成同一個人。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418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Health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418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睡眠 · HRV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290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6850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Garmin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6850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恢復 · 訓練狀態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282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Strava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282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跑步 · 騎車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154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714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健身房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1714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BA3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沒有任何紀錄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每一段都是真的,合起來卻拼不出「他今天到底能不能練」。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所以使用者每一次都要重新自我介紹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換一個模型、換一個對話視窗,理解就歸零 —— 而人的身體狀態是連續的。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0584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各自從零解析原始資料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05840" y="4709160"/>
            <a:ext cx="2651760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05840" y="4864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結論 1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89120" y="365760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70916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0916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各自從零解析原始資料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09160" y="4709160"/>
            <a:ext cx="2651760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709160" y="4864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結論 2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92440" y="365760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41248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1248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各自從零解析原始資料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412480" y="4709160"/>
            <a:ext cx="2651760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12480" y="4864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結論 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我們要蓋的,是中間那一層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把多來源資料正規化、推理、語意化,讓任何 AI 讀到同一份「這個人現在怎麼樣」。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91840"/>
            <a:ext cx="10817352" cy="1463040"/>
          </a:xfrm>
          <a:prstGeom prst="roundRect">
            <a:avLst>
              <a:gd name="adj" fmla="val 8750"/>
            </a:avLst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188720" y="349300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Fitness Layer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188720" y="409651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E3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  →  Reasoning  →  Semantic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5212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3C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產品不是 UI。任何介面 —— ChatGPT、Claude、手錶、語音 —— 都只是這一層的 Client。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使用者要教練能力,不要交出原始資料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host 當大腦與對話介面,Fitness MCP 當背後的運動科學計算與安全判斷引擎。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1B1F2B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93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使用者要的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的教練能力:今天能不能練、該練哪裡、為什麼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26364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使用者不要的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7512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Claude 和我們的 hosted MCP 看見完整的原始健康資料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54406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3C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收最小化證據、算完不留 —— 這是產品的前提,不是附加的隱私功能。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關鍵設計:我們什麼都不留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最小化 Evidence 進來,算出決策就丟掉 —— hosted 這端不寫任何一張表。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357530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A1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呼叫端送進來的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394106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HRV 42ms · 睡眠 5h20m · 昨日 TSS 148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470916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485546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我們算完回傳的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522122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Intervals → Zone 2 · ACWR 1.52 · 急性負荷偏快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輸出具體長這樣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決策、動作、理由,外加信心與訊號覆蓋 —— host 讀到的是結論,不是待處理的資料。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154680"/>
            <a:ext cx="5120640" cy="2514600"/>
          </a:xfrm>
          <a:prstGeom prst="roundRect">
            <a:avLst>
              <a:gd name="adj" fmla="val 3636"/>
            </a:avLst>
          </a:prstGeom>
          <a:solidFill>
            <a:srgbClr val="1B1F2B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05840" y="3364992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FitnessState: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recovery: 62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fatigue: 48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readiness: 55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acwr: 1.52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confidence: 0.71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missing: ["rpe"]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3154680"/>
            <a:ext cx="5148072" cy="2514600"/>
          </a:xfrm>
          <a:prstGeom prst="roundRect">
            <a:avLst>
              <a:gd name="adj" fmla="val 3636"/>
            </a:avLst>
          </a:prstGeom>
          <a:solidFill>
            <a:srgbClr val="1B1F2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675120" y="3364992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Decision: adjust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Action: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from: VO₂max Intervals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to:   Zone 2 · 45 min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Reason: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ACWR 1.52 &gt; 1.40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Sleep debt · HRV -12%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四層架構:原始資料停在界線之外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每一層只做一件事;最下面那一層,hosted MCP 不直接連。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2926080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3099816"/>
            <a:ext cx="329184" cy="32918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463040" y="2926080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Layer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86200" y="2926080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ChatGPT · Claude · Gemini · Cursor · Web · Mobile App · Apple Watch · Voice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3721608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895344"/>
            <a:ext cx="329184" cy="329184"/>
          </a:xfrm>
          <a:prstGeom prst="ellipse">
            <a:avLst/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463040" y="3721608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Layer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886200" y="3721608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Fitness MCP —— 六個 tool,確定性計算,無狀態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4517136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60120" y="4690872"/>
            <a:ext cx="329184" cy="329184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463040" y="4517136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Layer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886200" y="4517136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Semantic Engine · Training Load · Decision Engine · Planning · Knowledge Graph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85800" y="5312664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0120" y="5486400"/>
            <a:ext cx="329184" cy="329184"/>
          </a:xfrm>
          <a:prstGeom prst="ellipse">
            <a:avLst/>
          </a:prstGeom>
          <a:solidFill>
            <a:srgbClr val="4A556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463040" y="5312664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來源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886200" y="5312664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Apple Health · Garmin · Strava —— 由 host 或使用者的 gateway 解析,不經過我們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我們給的是決策,不是建議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建議可以憑空發出;決策必須知道「今天原本要做什麼」,並寫成 from → to。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357530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A1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Recommendation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394106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「建議今天跑 Zone 2」 —— 憑空發出,GPT-6 也做得到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470916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485546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522122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「今天的 VO₂max Intervals → 45 分鐘 Zone 2」 —— 對既有計畫的變更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是 Orchestrator,不做計算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恢復分數、訓練量、課表,全部由引擎決定;LLM 負責理解、呼叫、解釋與調整。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585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146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5603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Fitness MCP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873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34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3891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161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722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2179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Load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449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010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0467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Engine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5737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8298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8755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+ Reason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85800" y="475488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1B1F2B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51560" y="491947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B6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做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51560" y="52852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理解語意 · 呼叫工具 · 解釋結果 · 依回饋調整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63640" y="475488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1B1F2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629400" y="491947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不做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29400" y="52852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算恢復分數 · 決定訓練量 · 憑空生成課表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決策引擎不是一個模型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先把各家證據對齊,再用確定性規則算出決策,最後才交給 host 的模型講人話。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520440"/>
            <a:ext cx="5120640" cy="1691640"/>
          </a:xfrm>
          <a:prstGeom prst="roundRect">
            <a:avLst>
              <a:gd name="adj" fmla="val 6486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37033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 ACWR &gt; 1.40</a:t>
            </a:r>
            <a:endParaRPr lang="en-US" sz="14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Sleep debt</a:t>
            </a:r>
            <a:endParaRPr lang="en-US" sz="14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Yesterday leg</a:t>
            </a:r>
            <a:endParaRPr lang="en-US" sz="14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Intervals → Zone 2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3520440"/>
            <a:ext cx="5148072" cy="484632"/>
          </a:xfrm>
          <a:prstGeom prst="roundRect">
            <a:avLst>
              <a:gd name="adj" fmla="val 16981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629400" y="367588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995160" y="352044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78240" y="3520440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各家證據對齊成一份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55080" y="4096512"/>
            <a:ext cx="5148072" cy="484632"/>
          </a:xfrm>
          <a:prstGeom prst="roundRect">
            <a:avLst>
              <a:gd name="adj" fmla="val 16981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629400" y="4251960"/>
            <a:ext cx="182880" cy="182880"/>
          </a:xfrm>
          <a:prstGeom prst="ellipse">
            <a:avLst/>
          </a:prstGeom>
          <a:solidFill>
            <a:srgbClr val="4A556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995160" y="409651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Engine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778240" y="4096512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確定性計算與安全底線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55080" y="4672584"/>
            <a:ext cx="5148072" cy="484632"/>
          </a:xfrm>
          <a:prstGeom prst="roundRect">
            <a:avLst>
              <a:gd name="adj" fmla="val 16981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629400" y="4828032"/>
            <a:ext cx="182880" cy="18288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995160" y="4672584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LLM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778240" y="4672584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翻譯成人聽得懂的話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5800" y="5532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我們的程式不呼叫模型來產生決策 —— 同樣的證據送兩次,必須得到同一個決策。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Planning Engine 是整個產品最大的價值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把目標、歷程、時間、器材、恢復一起算進去,產出可執行的多週期計畫。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108960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31089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3675888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367588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242816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424281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4809744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4809744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5376672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5376672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74904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43400" y="3108960"/>
            <a:ext cx="2926080" cy="2505456"/>
          </a:xfrm>
          <a:prstGeom prst="roundRect">
            <a:avLst>
              <a:gd name="adj" fmla="val 4380"/>
            </a:avLst>
          </a:prstGeom>
          <a:solidFill>
            <a:srgbClr val="1B1F2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343400" y="3108960"/>
            <a:ext cx="2926080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FB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</a:t>
            </a:r>
            <a:endParaRPr lang="en-US" sz="2000" dirty="0"/>
          </a:p>
          <a:p>
            <a:pPr marL="0" indent="0" algn="ctr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FB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40664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001000" y="3108960"/>
            <a:ext cx="3502152" cy="2505456"/>
          </a:xfrm>
          <a:prstGeom prst="roundRect">
            <a:avLst>
              <a:gd name="adj" fmla="val 4380"/>
            </a:avLst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32104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週半馬計畫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321040" y="3886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1 — 建立基礎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4 — 出差,自動降載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8 — 強度區塊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12 — 賽前減量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知識圖譜是內部支撐,不是對外產品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889 節點 / 5,785 邊,只在引擎內部被查詢;對外開放的是決策,不是圖。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41832" y="3310128"/>
            <a:ext cx="274320" cy="27432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3075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418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290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685032" y="3310128"/>
            <a:ext cx="274320" cy="27432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0507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850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Muscle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Joint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Movement Pattern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Variations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428232" y="3310128"/>
            <a:ext cx="274320" cy="274320"/>
          </a:xfrm>
          <a:prstGeom prst="ellipse">
            <a:avLst/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7939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282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Exercises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Intensity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Fatigue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Cost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154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171432" y="3310128"/>
            <a:ext cx="274320" cy="274320"/>
          </a:xfrm>
          <a:prstGeom prst="ellipse">
            <a:avLst/>
          </a:prstGeom>
          <a:solidFill>
            <a:srgbClr val="4A556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5371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714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Periodization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動作的關係寫進圖裡,不寫進 Prompt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「找替代動作」變成一次圖查詢,而不是每次靠語言重新猜一遍。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342900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Goblet Squat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4048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IS_VARIANT_OF →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720840" y="3429000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0840" y="342900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4142232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85800" y="414223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Squat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414223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PROGRESSES_TO →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20840" y="4142232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720840" y="414223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Squat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4855464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85800" y="485546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Squat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840480" y="485546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SIMILAR_TO 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720840" y="4855464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720840" y="485546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" y="56692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每個動作還掛著:主/次要肌群、關節、器材、難度、恢復成本、受傷風險、METS。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疲勞要落到肌群,不能只有一個全身分數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「今天不要再練胸」這種建議,前提是系統知道胸還剩多少。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399"/>
            <a:ext cx="4206240" cy="2685393"/>
          </a:xfrm>
          <a:prstGeom prst="roundRect">
            <a:avLst>
              <a:gd name="adj" fmla="val 4800"/>
            </a:avLst>
          </a:prstGeom>
          <a:solidFill>
            <a:srgbClr val="1B1F2B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05840" y="340156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B6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全身負荷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840480"/>
            <a:ext cx="361188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  →  Training Load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endParaRPr lang="en-US" sz="1500" dirty="0"/>
          </a:p>
          <a:p>
            <a:r>
              <a:rPr lang="en-US" sz="15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 </a:t>
            </a:r>
            <a:r>
              <a:rPr lang="zh-TW" altLang="en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（</a:t>
            </a:r>
            <a:r>
              <a:rPr lang="en" altLang="zh-TW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Acute Training Load</a:t>
            </a:r>
            <a:r>
              <a:rPr lang="zh-TW" altLang="en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）</a:t>
            </a:r>
          </a:p>
          <a:p>
            <a:r>
              <a:rPr lang="zh-TW" altLang="en-US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急性訓練負荷（短期疲勞）</a:t>
            </a:r>
            <a:endParaRPr lang="en-US" altLang="zh-TW" sz="1200" b="1" dirty="0">
              <a:solidFill>
                <a:schemeClr val="bg1">
                  <a:lumMod val="7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lang="en-US" sz="15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CTL </a:t>
            </a:r>
            <a:r>
              <a:rPr lang="zh-TW" altLang="en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（</a:t>
            </a:r>
            <a:r>
              <a:rPr lang="en" altLang="zh-TW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Chronic Training Load</a:t>
            </a:r>
            <a:r>
              <a:rPr lang="zh-TW" altLang="en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）</a:t>
            </a:r>
          </a:p>
          <a:p>
            <a:r>
              <a:rPr lang="zh-TW" altLang="en-US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慢性訓練負荷（長期體能）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lang="en-US" sz="15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r>
              <a:rPr lang="en-US" sz="1500" b="1" dirty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Microsoft JhengHei" panose="020B0604030504040204" pitchFamily="34" charset="-120"/>
                <a:cs typeface="Arial" pitchFamily="34" charset="-120"/>
              </a:rPr>
              <a:t>TSB</a:t>
            </a:r>
            <a:r>
              <a:rPr lang="zh-TW" altLang="en-US" sz="1500" b="1" dirty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Microsoft JhengHei" panose="020B0604030504040204" pitchFamily="34" charset="-120"/>
                <a:cs typeface="Arial" pitchFamily="34" charset="-120"/>
              </a:rPr>
              <a:t>  </a:t>
            </a:r>
            <a:r>
              <a:rPr lang="zh-TW" altLang="en-US" sz="1200" b="1" dirty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Microsoft JhengHei" panose="020B0604030504040204" pitchFamily="34" charset="-120"/>
                <a:cs typeface="Arial" pitchFamily="34" charset="-120"/>
              </a:rPr>
              <a:t>（</a:t>
            </a:r>
            <a:r>
              <a:rPr lang="en" altLang="zh-TW" sz="1200" b="1" dirty="0">
                <a:solidFill>
                  <a:schemeClr val="bg1">
                    <a:lumMod val="75000"/>
                  </a:schemeClr>
                </a:solidFill>
              </a:rPr>
              <a:t>Training Stress Balance</a:t>
            </a:r>
            <a:r>
              <a:rPr lang="zh-TW" altLang="en" sz="1200" b="1" dirty="0">
                <a:solidFill>
                  <a:schemeClr val="bg1">
                    <a:lumMod val="75000"/>
                  </a:schemeClr>
                </a:solidFill>
              </a:rPr>
              <a:t>）</a:t>
            </a:r>
          </a:p>
          <a:p>
            <a:r>
              <a:rPr lang="zh-TW" altLang="en-US" sz="1200" b="1" dirty="0">
                <a:solidFill>
                  <a:schemeClr val="bg1">
                    <a:lumMod val="75000"/>
                  </a:schemeClr>
                </a:solidFill>
              </a:rPr>
              <a:t>訓練壓力平衡（恢復程度）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257800" y="3200400"/>
            <a:ext cx="6245352" cy="2286000"/>
          </a:xfrm>
          <a:prstGeom prst="roundRect">
            <a:avLst>
              <a:gd name="adj" fmla="val 4800"/>
            </a:avLst>
          </a:prstGeom>
          <a:solidFill>
            <a:srgbClr val="1B1F2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577840" y="340156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肌群疲勞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577840" y="38770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Chest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75120" y="3950208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2C3242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675120" y="3950208"/>
            <a:ext cx="2926080" cy="219456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469880" y="387705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577840" y="43891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675120" y="4462272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2C3242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675120" y="44622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8A93A6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469880" y="43891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77840" y="490118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675120" y="4974336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2C3242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675120" y="4974336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0469880" y="490118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各家指標對齊,廠商算好的分數直接收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統一單位與時間軸,廠商算好的分數不重算;每筆讀數還帶著是哪台裝置寫的。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400"/>
            <a:ext cx="3017520" cy="2286000"/>
          </a:xfrm>
          <a:prstGeom prst="roundRect">
            <a:avLst>
              <a:gd name="adj" fmla="val 4800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05840" y="34015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原始指標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79476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Sleep</a:t>
            </a:r>
            <a:endParaRPr lang="en-US" sz="15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HRV</a:t>
            </a:r>
            <a:endParaRPr lang="en-US" sz="15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 Rate</a:t>
            </a:r>
            <a:endParaRPr lang="en-US" sz="15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F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343400" y="3200400"/>
            <a:ext cx="2834640" cy="2286000"/>
          </a:xfrm>
          <a:prstGeom prst="roundRect">
            <a:avLst>
              <a:gd name="adj" fmla="val 4800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17720" y="34015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B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統一單位</a:t>
            </a:r>
            <a:endParaRPr lang="en-US" sz="14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統一時間軸</a:t>
            </a:r>
            <a:endParaRPr lang="en-US" sz="14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canonical 命名</a:t>
            </a:r>
            <a:endParaRPr lang="en-US" sz="14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複合分數不重算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6948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F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772400" y="3200400"/>
            <a:ext cx="3730752" cy="2286000"/>
          </a:xfrm>
          <a:prstGeom prst="roundRect">
            <a:avLst>
              <a:gd name="adj" fmla="val 4800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092440" y="34015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看到的全部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92440" y="37947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1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Score</a:t>
            </a:r>
            <a:endParaRPr lang="en-US" sz="1800" dirty="0"/>
          </a:p>
          <a:p>
            <a:pPr marL="0" indent="0">
              <a:lnSpc>
                <a:spcPts val="31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Fatigue Score</a:t>
            </a:r>
            <a:endParaRPr lang="en-US" sz="1800" dirty="0"/>
          </a:p>
          <a:p>
            <a:pPr marL="0" indent="0">
              <a:lnSpc>
                <a:spcPts val="31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 Score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Connector 跑在你的環境,不在我們的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OAuth 與同步在 Phase 2 的使用者環境執行,hosted 不持有 refresh token。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34290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290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1722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1722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89154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9154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85800" y="4526280"/>
            <a:ext cx="1536192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452628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Apple Health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404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404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Garmin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547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547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Strava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33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833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Fitbit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976872" y="4526280"/>
            <a:ext cx="1632204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976872" y="4526280"/>
            <a:ext cx="1632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TrainingPeaks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91956" y="4526280"/>
            <a:ext cx="1824228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791956" y="4526280"/>
            <a:ext cx="18242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Calendar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690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690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Notion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" y="5806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新增一家資料源不用動上層;而在 Phase 1,這一層根本不在我們這邊。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對外開放的六個 tool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這就是產品的能力清單 —— 任何支援 MCP 的客戶端都能直接呼叫。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06324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86968" y="3264408"/>
            <a:ext cx="182880" cy="18288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88720" y="3191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assess_fitness_state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86968" y="36118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從證據算出當前狀態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9120" y="306324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90288" y="32644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92040" y="3191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decide_session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90288" y="36118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今天的課表要不要改,改成什麼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92440" y="306324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93608" y="3264408"/>
            <a:ext cx="182880" cy="182880"/>
          </a:xfrm>
          <a:prstGeom prst="ellipse">
            <a:avLst/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95360" y="3191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decide_exercise_substitution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293608" y="36118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換一個等效的動作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" y="46177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86968" y="4818888"/>
            <a:ext cx="182880" cy="182880"/>
          </a:xfrm>
          <a:prstGeom prst="ellipse">
            <a:avLst/>
          </a:prstGeom>
          <a:solidFill>
            <a:srgbClr val="4A556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188720" y="47457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generate_plan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86968" y="5166359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產生多週期計畫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89120" y="46177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590288" y="4818888"/>
            <a:ext cx="182880" cy="182880"/>
          </a:xfrm>
          <a:prstGeom prst="ellipse">
            <a:avLst/>
          </a:prstGeom>
          <a:solidFill>
            <a:srgbClr val="8A93A6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892040" y="47457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preview_adjust_plan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90288" y="5166359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先看調整後的計畫長什麼樣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092440" y="46177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293608" y="481888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595360" y="47457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commit_adjust_plan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293608" y="5166359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兩階段提交,寫回計畫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工具准入判準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「GPT-6 已經知道所有運動知識,這個 Tool 還有價值嗎?」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GPT-6 殺不死的三樣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 —— 它沒有這個人的資料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計算 —— 它沒有執行縱向運算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保證 —— 確定性過濾器不會被說服繞過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判準怎麼用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 → 砍掉或降為內部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GPT-6 殺死的是知識查詢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三種部署,一條資料界線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同一套 domain package,差別只在 Evidence 在哪裡被處理。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4612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005840" y="3566160"/>
            <a:ext cx="402336" cy="402336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581912" y="33924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remote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81912" y="37764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短暫處理最小化 Evidence,永遠無狀態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324612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583680" y="3566160"/>
            <a:ext cx="402336" cy="402336"/>
          </a:xfrm>
          <a:prstGeom prst="ellipse">
            <a:avLst/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159752" y="33924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的界線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59752" y="37764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不直連供應商、不持有 refresh token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452628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05840" y="4846320"/>
            <a:ext cx="402336" cy="402336"/>
          </a:xfrm>
          <a:prstGeom prst="ellipse">
            <a:avLst/>
          </a:prstGeom>
          <a:solidFill>
            <a:srgbClr val="4A556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581912" y="46725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/ private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81912" y="50566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connectors 與計算都在你的機器上跑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63640" y="452628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583680" y="4846320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59752" y="46725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data plane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159752" y="50566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 user-controlled private 能做到原始資料不離開控制邊界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— 應用情境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六個使用者真的會問的問題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這六題答得出來,產品就成立;答不出來,架構就白做了。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40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3520440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12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08760" y="32004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「今天適合跑嗎?昨天腿很酸」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320040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3520440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6344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12080" y="32004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「下週出差,重新安排課表」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2440" y="320040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366760" y="3520440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36676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915400" y="32004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「找 Goblet Squat 的替代動作」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4498848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0120" y="4818888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6012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08760" y="449884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「左膝有傷,不要排跳的」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389120" y="4498848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663440" y="4818888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66344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12080" y="449884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「分析這個月訓練,瓶頸在哪」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092440" y="4498848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366760" y="4818888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36676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915400" y="449884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語音:「今天怎麼樣?」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「今天適合跑嗎?昨天腿很酸」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昨天實際做了什麼(跨來源)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今天的恢復與 Readiness 分數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腿部肌群的殘餘疲勞百分比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Connector Layer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Health Graph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0" y="4187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Training Load Graph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B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「下週出差,重新安排課表」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你的行事曆與每天可用時間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原計畫的週期化目標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改動後剩餘週數是否足夠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Calendar Connector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Program Graph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0" y="4187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Planning Engine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「找 Goblet Squat 的替代動作」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動作之間的變體與相似關係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你手邊有哪些器材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難度與技術門檻是否相當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Exercise Graph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User Graph — Equipment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「左膝有傷,不要排跳的」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這是長期約束,不是這次的要求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哪些動作牽涉到該關節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替代方案要維持同樣訓練效果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User Graph — Injury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Exercise Graph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0" y="4187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Planning Engine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「分析這個月訓練,瓶頸在哪」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完整的跨來源訓練歷程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負荷趨勢:ATL / CTL / TSB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目標與實際執行的落差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Training Load 計算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assess_fitness_state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F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語音:「今天怎麼樣?」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當下的 Readiness 分數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推導這個結論的理由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一句話講得完的建議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Semantic Layer — UserState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Semantic Layer — Reasoning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— 應用情境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六題的共通點:先有證據,才談決策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每一題都要求先答得出「你現在怎麼樣」,而那份答案每次都由證據重算。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1B1F2B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93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問題長得像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推薦一堂課、排一份課表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26364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真正在問的是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7512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我現在能不能練、該練哪裡、為什麼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54406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3C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價值不在內容,在那個可重現的判斷。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— 現況與待做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現況與待做,一張表講完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已完成的附查證數字;待做的不寫沒有出處的驗收門檻。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2697480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05256" y="2816352"/>
            <a:ext cx="274320" cy="274320"/>
          </a:xfrm>
          <a:prstGeom prst="ellipse">
            <a:avLst/>
          </a:prstGeom>
          <a:solidFill>
            <a:srgbClr val="8A93A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05256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71016" y="2788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資料標準化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05256" y="3136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Apple Health／Garmin／Google／Strava／Oura／WHOOP／Oura／WHOOP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05256" y="3419856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05256" y="345643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A93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  6 家 parser,registry 6 家（8 種方言）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43400" y="2697480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62856" y="2816352"/>
            <a:ext cx="274320" cy="27432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62856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28616" y="2788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確定性計算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62856" y="3136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ACWR／ATL／CTL／TSB 與分肌群疲勞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62856" y="3419856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62856" y="345643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  470 tests、20 golden cases 全綠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01000" y="2697480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220456" y="2816352"/>
            <a:ext cx="274320" cy="27432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220456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86216" y="2788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六個對外 tool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0456" y="3136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assess／decide／plan 三類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20456" y="3419856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220456" y="345643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B6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  單次決策 0.443 ms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5800" y="3867912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905256" y="3986784"/>
            <a:ext cx="274320" cy="274320"/>
          </a:xfrm>
          <a:prstGeom prst="ellipse">
            <a:avLst/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05256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271016" y="39593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05256" y="430682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stdio 與 Streamable HTTP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5256" y="4590288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905256" y="462686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  兩種都通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343400" y="3867912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4562856" y="3986784"/>
            <a:ext cx="274320" cy="274320"/>
          </a:xfrm>
          <a:prstGeom prst="ellipse">
            <a:avLst/>
          </a:prstGeom>
          <a:solidFill>
            <a:srgbClr val="4A5568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562856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28616" y="39593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OAuth Resource Server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562856" y="430682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簽章驗證、issuer、audience、scope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62856" y="4590288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562856" y="462686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  private-development adapter；待做 production authorization server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001000" y="3867912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8220456" y="3986784"/>
            <a:ext cx="274320" cy="27432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8220456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586216" y="39593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遠端部署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220456" y="430682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HTTPS /mcp —— 手機場景的前提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220456" y="4590288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220456" y="462686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  桌機上架不需要它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85800" y="5038344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905256" y="5157216"/>
            <a:ext cx="274320" cy="274320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905256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271016" y="51297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User-controlled private engine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5256" y="54772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connectors 與計算搬進使用者環境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905256" y="5760720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905256" y="57972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B6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  local bundle／持久層／connector 權限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343400" y="5038344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4562856" y="5157216"/>
            <a:ext cx="274320" cy="274320"/>
          </a:xfrm>
          <a:prstGeom prst="ellipse">
            <a:avLst/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4562856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928616" y="51297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計畫的持久層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562856" y="54772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 與 planned workout 的表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562856" y="5760720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4562856" y="57972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  列在 Future Migrations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8001000" y="5038344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8220456" y="5157216"/>
            <a:ext cx="274320" cy="274320"/>
          </a:xfrm>
          <a:prstGeom prst="ellipse">
            <a:avLst/>
          </a:prstGeom>
          <a:solidFill>
            <a:srgbClr val="4A5568"/>
          </a:solidFill>
          <a:ln/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8220456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586216" y="51297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協定升級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8220456" y="54772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2025-06-18 → 2026-07-28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8220456" y="5760720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8220456" y="57972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  走 dual-era,不直接切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Plaid 之於金融,Stripe 之於支付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我們要的是運動領域的決策基礎層:證據、規則與可追溯的 from → to。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0584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44348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金融資料整合層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365760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F3F4F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70916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09160" y="44348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支付基礎設施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92440" y="365760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10131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41248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412480" y="44348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The Personal Fitness</a:t>
            </a:r>
            <a:endParaRPr lang="en-US" sz="14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 Layer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57607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上層可以換成任何 AI host,底層可以換掉任何一家裝置商 —— 中間的決策層不用動。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206240" cy="4206240"/>
          </a:xfrm>
          <a:prstGeom prst="ellipse">
            <a:avLst/>
          </a:prstGeom>
          <a:solidFill>
            <a:srgbClr val="F96167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73736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2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最重要的核心資產,</a:t>
            </a:r>
            <a:endParaRPr lang="en-US" sz="33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是那個可重現的判斷,</a:t>
            </a:r>
            <a:endParaRPr lang="en-US" sz="33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不是被保存下來的資料。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85800" y="4800600"/>
            <a:ext cx="201168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5029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3C9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Pacevera — Fitness Decision Engine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54681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C849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下一步:先完成 P0 隱私契約與 P1 local private engine;remote 是後續 access channel,企業私有部署再後續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1446</Words>
  <Application>Microsoft Macintosh PowerPoint</Application>
  <PresentationFormat>寬螢幕</PresentationFormat>
  <Paragraphs>477</Paragraphs>
  <Slides>29</Slides>
  <Notes>29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5" baseType="lpstr">
      <vt:lpstr>Microsoft JhengHei</vt:lpstr>
      <vt:lpstr>新細明體</vt:lpstr>
      <vt:lpstr>Arial</vt:lpstr>
      <vt:lpstr>Calibri</vt:lpstr>
      <vt:lpstr>Courier New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Fitness MCP — Semantic Fitness Layer</dc:title>
  <dc:subject>PptxGenJS Presentation</dc:subject>
  <dc:creator>Henry</dc:creator>
  <cp:lastModifiedBy>Microsoft Office User</cp:lastModifiedBy>
  <cp:revision>3</cp:revision>
  <dcterms:created xsi:type="dcterms:W3CDTF">2026-07-24T06:11:41Z</dcterms:created>
  <dcterms:modified xsi:type="dcterms:W3CDTF">2026-07-24T15:31:38Z</dcterms:modified>
</cp:coreProperties>
</file>
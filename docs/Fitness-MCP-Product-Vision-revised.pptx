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ad66c63eb4c88" /><Relationship Type="http://schemas.openxmlformats.org/officeDocument/2006/relationships/extended-properties" Target="/docProps/app.xml" Id="Ra1a5036d817f40b9" /><Relationship Type="http://schemas.openxmlformats.org/officeDocument/2006/relationships/officeDocument" Target="/ppt/presentation.xml" Id="Rb959f583ae95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2d5672bc447de"/>
  </p:sldMasterIdLst>
  <p:notesMasterIdLst>
    <p:notesMasterId xmlns:r="http://schemas.openxmlformats.org/officeDocument/2006/relationships" r:id="R0666dcba6f6d4407"/>
  </p:notesMasterIdLst>
  <p:sldIdLst>
    <p:sldId xmlns:r="http://schemas.openxmlformats.org/officeDocument/2006/relationships" id="256" r:id="Rfabfde6052084cd1"/>
    <p:sldId xmlns:r="http://schemas.openxmlformats.org/officeDocument/2006/relationships" id="257" r:id="R68be385e7ac94211"/>
    <p:sldId xmlns:r="http://schemas.openxmlformats.org/officeDocument/2006/relationships" id="258" r:id="R4d095454e16d4f5c"/>
    <p:sldId xmlns:r="http://schemas.openxmlformats.org/officeDocument/2006/relationships" id="259" r:id="Rccdaf541a2044e4c"/>
    <p:sldId xmlns:r="http://schemas.openxmlformats.org/officeDocument/2006/relationships" id="260" r:id="Re890cd670eb64e12"/>
    <p:sldId xmlns:r="http://schemas.openxmlformats.org/officeDocument/2006/relationships" id="261" r:id="R1938a55184a24050"/>
    <p:sldId xmlns:r="http://schemas.openxmlformats.org/officeDocument/2006/relationships" id="262" r:id="Rab786d7e55454c80"/>
    <p:sldId xmlns:r="http://schemas.openxmlformats.org/officeDocument/2006/relationships" id="263" r:id="Rdd12a434ab4f417c"/>
    <p:sldId xmlns:r="http://schemas.openxmlformats.org/officeDocument/2006/relationships" id="264" r:id="R9c59b0cfd89f4382"/>
    <p:sldId xmlns:r="http://schemas.openxmlformats.org/officeDocument/2006/relationships" id="265" r:id="R10c9e0dcc8354792"/>
    <p:sldId xmlns:r="http://schemas.openxmlformats.org/officeDocument/2006/relationships" id="266" r:id="R23c92e2664044430"/>
    <p:sldId xmlns:r="http://schemas.openxmlformats.org/officeDocument/2006/relationships" id="267" r:id="Rb68aca65d1fa414c"/>
    <p:sldId xmlns:r="http://schemas.openxmlformats.org/officeDocument/2006/relationships" id="268" r:id="R985ab6ad0d5b403a"/>
    <p:sldId xmlns:r="http://schemas.openxmlformats.org/officeDocument/2006/relationships" id="269" r:id="Rf8a97989598d4565"/>
    <p:sldId xmlns:r="http://schemas.openxmlformats.org/officeDocument/2006/relationships" id="270" r:id="R7aae62c45141422b"/>
    <p:sldId xmlns:r="http://schemas.openxmlformats.org/officeDocument/2006/relationships" id="271" r:id="R0df5459321734108"/>
    <p:sldId xmlns:r="http://schemas.openxmlformats.org/officeDocument/2006/relationships" id="272" r:id="Rc6c4517fcf694b7c"/>
    <p:sldId xmlns:r="http://schemas.openxmlformats.org/officeDocument/2006/relationships" id="273" r:id="Rf206d85ea89642f5"/>
    <p:sldId xmlns:r="http://schemas.openxmlformats.org/officeDocument/2006/relationships" id="274" r:id="R5066134c72ea4045"/>
    <p:sldId xmlns:r="http://schemas.openxmlformats.org/officeDocument/2006/relationships" id="275" r:id="R02aff868992e400b"/>
    <p:sldId xmlns:r="http://schemas.openxmlformats.org/officeDocument/2006/relationships" id="276" r:id="Rb2c873503cc142c1"/>
    <p:sldId xmlns:r="http://schemas.openxmlformats.org/officeDocument/2006/relationships" id="277" r:id="R37db01d8ddb54288"/>
    <p:sldId xmlns:r="http://schemas.openxmlformats.org/officeDocument/2006/relationships" id="278" r:id="Rab119e7a721b4aaf"/>
    <p:sldId xmlns:r="http://schemas.openxmlformats.org/officeDocument/2006/relationships" id="279" r:id="R07a8471ad1944e1c"/>
    <p:sldId xmlns:r="http://schemas.openxmlformats.org/officeDocument/2006/relationships" id="280" r:id="Rc996cd64c1ef4dcf"/>
    <p:sldId xmlns:r="http://schemas.openxmlformats.org/officeDocument/2006/relationships" id="281" r:id="Ra899bc7ed67e412e"/>
    <p:sldId xmlns:r="http://schemas.openxmlformats.org/officeDocument/2006/relationships" id="282" r:id="Rac2908c0caa84392"/>
    <p:sldId xmlns:r="http://schemas.openxmlformats.org/officeDocument/2006/relationships" id="283" r:id="Ra87978ffeda7434b"/>
    <p:sldId xmlns:r="http://schemas.openxmlformats.org/officeDocument/2006/relationships" id="284" r:id="Rc3196727eba64a60"/>
    <p:sldId xmlns:r="http://schemas.openxmlformats.org/officeDocument/2006/relationships" id="285" r:id="R2967ad5301ff4e05"/>
    <p:sldId xmlns:r="http://schemas.openxmlformats.org/officeDocument/2006/relationships" id="286" r:id="R32f514c60aa64699"/>
    <p:sldId xmlns:r="http://schemas.openxmlformats.org/officeDocument/2006/relationships" id="287" r:id="Re2736fa8183c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4760778d56422c" /><Relationship Type="http://schemas.openxmlformats.org/officeDocument/2006/relationships/slideMaster" Target="/ppt/slideMasters/slideMaster1.xml" Id="Rc8f2d5672bc447de" /><Relationship Type="http://schemas.openxmlformats.org/officeDocument/2006/relationships/notesMaster" Target="/ppt/notesMasters/notesMaster1.xml" Id="R0666dcba6f6d4407" /><Relationship Type="http://schemas.openxmlformats.org/officeDocument/2006/relationships/presProps" Target="/ppt/presProps.xml" Id="Rebf79946682749ae" /><Relationship Type="http://schemas.openxmlformats.org/officeDocument/2006/relationships/viewProps" Target="/ppt/viewProps.xml" Id="R9e5a16f0499b4cc1" /><Relationship Type="http://schemas.openxmlformats.org/officeDocument/2006/relationships/tableStyles" Target="/ppt/tableStyles.xml" Id="Rb6124819ca904892" /><Relationship Type="http://schemas.openxmlformats.org/officeDocument/2006/relationships/slide" Target="/ppt/slides/slide1.xml" Id="Rfabfde6052084cd1" /><Relationship Type="http://schemas.openxmlformats.org/officeDocument/2006/relationships/slide" Target="/ppt/slides/slide2.xml" Id="R68be385e7ac94211" /><Relationship Type="http://schemas.openxmlformats.org/officeDocument/2006/relationships/slide" Target="/ppt/slides/slide3.xml" Id="R4d095454e16d4f5c" /><Relationship Type="http://schemas.openxmlformats.org/officeDocument/2006/relationships/slide" Target="/ppt/slides/slide4.xml" Id="Rccdaf541a2044e4c" /><Relationship Type="http://schemas.openxmlformats.org/officeDocument/2006/relationships/slide" Target="/ppt/slides/slide5.xml" Id="Re890cd670eb64e12" /><Relationship Type="http://schemas.openxmlformats.org/officeDocument/2006/relationships/slide" Target="/ppt/slides/slide6.xml" Id="R1938a55184a24050" /><Relationship Type="http://schemas.openxmlformats.org/officeDocument/2006/relationships/slide" Target="/ppt/slides/slide7.xml" Id="Rab786d7e55454c80" /><Relationship Type="http://schemas.openxmlformats.org/officeDocument/2006/relationships/slide" Target="/ppt/slides/slide8.xml" Id="Rdd12a434ab4f417c" /><Relationship Type="http://schemas.openxmlformats.org/officeDocument/2006/relationships/slide" Target="/ppt/slides/slide9.xml" Id="R9c59b0cfd89f4382" /><Relationship Type="http://schemas.openxmlformats.org/officeDocument/2006/relationships/slide" Target="/ppt/slides/slide10.xml" Id="R10c9e0dcc8354792" /><Relationship Type="http://schemas.openxmlformats.org/officeDocument/2006/relationships/slide" Target="/ppt/slides/slide11.xml" Id="R23c92e2664044430" /><Relationship Type="http://schemas.openxmlformats.org/officeDocument/2006/relationships/slide" Target="/ppt/slides/slide12.xml" Id="Rb68aca65d1fa414c" /><Relationship Type="http://schemas.openxmlformats.org/officeDocument/2006/relationships/slide" Target="/ppt/slides/slide13.xml" Id="R985ab6ad0d5b403a" /><Relationship Type="http://schemas.openxmlformats.org/officeDocument/2006/relationships/slide" Target="/ppt/slides/slide14.xml" Id="Rf8a97989598d4565" /><Relationship Type="http://schemas.openxmlformats.org/officeDocument/2006/relationships/slide" Target="/ppt/slides/slide15.xml" Id="R7aae62c45141422b" /><Relationship Type="http://schemas.openxmlformats.org/officeDocument/2006/relationships/slide" Target="/ppt/slides/slide16.xml" Id="R0df5459321734108" /><Relationship Type="http://schemas.openxmlformats.org/officeDocument/2006/relationships/slide" Target="/ppt/slides/slide17.xml" Id="Rc6c4517fcf694b7c" /><Relationship Type="http://schemas.openxmlformats.org/officeDocument/2006/relationships/slide" Target="/ppt/slides/slide18.xml" Id="Rf206d85ea89642f5" /><Relationship Type="http://schemas.openxmlformats.org/officeDocument/2006/relationships/slide" Target="/ppt/slides/slide19.xml" Id="R5066134c72ea4045" /><Relationship Type="http://schemas.openxmlformats.org/officeDocument/2006/relationships/slide" Target="/ppt/slides/slide20.xml" Id="R02aff868992e400b" /><Relationship Type="http://schemas.openxmlformats.org/officeDocument/2006/relationships/slide" Target="/ppt/slides/slide21.xml" Id="Rb2c873503cc142c1" /><Relationship Type="http://schemas.openxmlformats.org/officeDocument/2006/relationships/slide" Target="/ppt/slides/slide22.xml" Id="R37db01d8ddb54288" /><Relationship Type="http://schemas.openxmlformats.org/officeDocument/2006/relationships/slide" Target="/ppt/slides/slide23.xml" Id="Rab119e7a721b4aaf" /><Relationship Type="http://schemas.openxmlformats.org/officeDocument/2006/relationships/slide" Target="/ppt/slides/slide24.xml" Id="R07a8471ad1944e1c" /><Relationship Type="http://schemas.openxmlformats.org/officeDocument/2006/relationships/slide" Target="/ppt/slides/slide25.xml" Id="Rc996cd64c1ef4dcf" /><Relationship Type="http://schemas.openxmlformats.org/officeDocument/2006/relationships/slide" Target="/ppt/slides/slide26.xml" Id="Ra899bc7ed67e412e" /><Relationship Type="http://schemas.openxmlformats.org/officeDocument/2006/relationships/slide" Target="/ppt/slides/slide27.xml" Id="Rac2908c0caa84392" /><Relationship Type="http://schemas.openxmlformats.org/officeDocument/2006/relationships/slide" Target="/ppt/slides/slide28.xml" Id="Ra87978ffeda7434b" /><Relationship Type="http://schemas.openxmlformats.org/officeDocument/2006/relationships/slide" Target="/ppt/slides/slide29.xml" Id="Rc3196727eba64a60" /><Relationship Type="http://schemas.openxmlformats.org/officeDocument/2006/relationships/slide" Target="/ppt/slides/slide30.xml" Id="R2967ad5301ff4e05" /><Relationship Type="http://schemas.openxmlformats.org/officeDocument/2006/relationships/slide" Target="/ppt/slides/slide31.xml" Id="R32f514c60aa64699" /><Relationship Type="http://schemas.openxmlformats.org/officeDocument/2006/relationships/slide" Target="/ppt/slides/slide32.xml" Id="Re2736fa8183c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3fab3c36f46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4e182708c4bc5" /><Relationship Type="http://schemas.openxmlformats.org/officeDocument/2006/relationships/notesMaster" Target="/ppt/notesMasters/notesMaster1.xml" Id="R280d667582fb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6a66e013f4718" /><Relationship Type="http://schemas.openxmlformats.org/officeDocument/2006/relationships/notesMaster" Target="/ppt/notesMasters/notesMaster1.xml" Id="R3b09c81265c8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37357ac9942dd" /><Relationship Type="http://schemas.openxmlformats.org/officeDocument/2006/relationships/notesMaster" Target="/ppt/notesMasters/notesMaster1.xml" Id="R4c193cbb486348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df24ca1f849b8" /><Relationship Type="http://schemas.openxmlformats.org/officeDocument/2006/relationships/notesMaster" Target="/ppt/notesMasters/notesMaster1.xml" Id="R6ce690b9f7cf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2b40f310a445e" /><Relationship Type="http://schemas.openxmlformats.org/officeDocument/2006/relationships/notesMaster" Target="/ppt/notesMasters/notesMaster1.xml" Id="R823fa18030e1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5ae2a9dc4f454d" /><Relationship Type="http://schemas.openxmlformats.org/officeDocument/2006/relationships/notesMaster" Target="/ppt/notesMasters/notesMaster1.xml" Id="R8ed624e9aeb34f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ea4607c8a4e14" /><Relationship Type="http://schemas.openxmlformats.org/officeDocument/2006/relationships/notesMaster" Target="/ppt/notesMasters/notesMaster1.xml" Id="R219f642d107f43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ff7c88f3b44cd" /><Relationship Type="http://schemas.openxmlformats.org/officeDocument/2006/relationships/notesMaster" Target="/ppt/notesMasters/notesMaster1.xml" Id="R44f399968e8d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6194e2e154474b" /><Relationship Type="http://schemas.openxmlformats.org/officeDocument/2006/relationships/notesMaster" Target="/ppt/notesMasters/notesMaster1.xml" Id="R3a61cf9b388d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f2478518bf4207" /><Relationship Type="http://schemas.openxmlformats.org/officeDocument/2006/relationships/notesMaster" Target="/ppt/notesMasters/notesMaster1.xml" Id="R02093e24ea2b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eddaf8ce9d4848" /><Relationship Type="http://schemas.openxmlformats.org/officeDocument/2006/relationships/notesMaster" Target="/ppt/notesMasters/notesMaster1.xml" Id="R490a18adb5924e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93f2766e4b48d2" /><Relationship Type="http://schemas.openxmlformats.org/officeDocument/2006/relationships/notesMaster" Target="/ppt/notesMasters/notesMaster1.xml" Id="R71283d9d3fca46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a97f229cc64941" /><Relationship Type="http://schemas.openxmlformats.org/officeDocument/2006/relationships/notesMaster" Target="/ppt/notesMasters/notesMaster1.xml" Id="R608331cf87f043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d9388bb82a4630" /><Relationship Type="http://schemas.openxmlformats.org/officeDocument/2006/relationships/notesMaster" Target="/ppt/notesMasters/notesMaster1.xml" Id="R43b73e78242846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881b1e706a476e" /><Relationship Type="http://schemas.openxmlformats.org/officeDocument/2006/relationships/notesMaster" Target="/ppt/notesMasters/notesMaster1.xml" Id="R994d720f9f6545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8d306edde04e8f" /><Relationship Type="http://schemas.openxmlformats.org/officeDocument/2006/relationships/notesMaster" Target="/ppt/notesMasters/notesMaster1.xml" Id="R4e4a4bca179e47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8aaba8daf2460a" /><Relationship Type="http://schemas.openxmlformats.org/officeDocument/2006/relationships/notesMaster" Target="/ppt/notesMasters/notesMaster1.xml" Id="R91ae2aea2cf143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2b8aed65ce46ff" /><Relationship Type="http://schemas.openxmlformats.org/officeDocument/2006/relationships/notesMaster" Target="/ppt/notesMasters/notesMaster1.xml" Id="R39ce2e4322734f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a9bd8548e2493c" /><Relationship Type="http://schemas.openxmlformats.org/officeDocument/2006/relationships/notesMaster" Target="/ppt/notesMasters/notesMaster1.xml" Id="R93ba0d2afc724d4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3bf975435e4ab7" /><Relationship Type="http://schemas.openxmlformats.org/officeDocument/2006/relationships/notesMaster" Target="/ppt/notesMasters/notesMaster1.xml" Id="Rbde44d25e18b4d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44e8cd65e2455b" /><Relationship Type="http://schemas.openxmlformats.org/officeDocument/2006/relationships/notesMaster" Target="/ppt/notesMasters/notesMaster1.xml" Id="Rb1d8161a7ee640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7c7aca45ac84e83" /><Relationship Type="http://schemas.openxmlformats.org/officeDocument/2006/relationships/notesMaster" Target="/ppt/notesMasters/notesMaster1.xml" Id="Rc00d11d8684146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6ccbe253b04690" /><Relationship Type="http://schemas.openxmlformats.org/officeDocument/2006/relationships/notesMaster" Target="/ppt/notesMasters/notesMaster1.xml" Id="Rd2d3fc4d43ae41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86d56cf2f74b78" /><Relationship Type="http://schemas.openxmlformats.org/officeDocument/2006/relationships/notesMaster" Target="/ppt/notesMasters/notesMaster1.xml" Id="R2f0cb43bd41449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e37eccdbf5437c" /><Relationship Type="http://schemas.openxmlformats.org/officeDocument/2006/relationships/notesMaster" Target="/ppt/notesMasters/notesMaster1.xml" Id="R818f09c53d0445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3a77653c3f4e1a" /><Relationship Type="http://schemas.openxmlformats.org/officeDocument/2006/relationships/notesMaster" Target="/ppt/notesMasters/notesMaster1.xml" Id="Raa267cdc6d3d49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9474048c494488" /><Relationship Type="http://schemas.openxmlformats.org/officeDocument/2006/relationships/notesMaster" Target="/ppt/notesMasters/notesMaster1.xml" Id="Rb51510b3895545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0623b4ef714b98" /><Relationship Type="http://schemas.openxmlformats.org/officeDocument/2006/relationships/notesMaster" Target="/ppt/notesMasters/notesMaster1.xml" Id="R281db9abdc1d47e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c12f73a3404921" /><Relationship Type="http://schemas.openxmlformats.org/officeDocument/2006/relationships/notesMaster" Target="/ppt/notesMasters/notesMaster1.xml" Id="R99da8812610043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5d7c54f1f94713" /><Relationship Type="http://schemas.openxmlformats.org/officeDocument/2006/relationships/notesMaster" Target="/ppt/notesMasters/notesMaster1.xml" Id="R45068fe4970744a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417e9417254f6d" /><Relationship Type="http://schemas.openxmlformats.org/officeDocument/2006/relationships/notesMaster" Target="/ppt/notesMasters/notesMaster1.xml" Id="R68c5f41a561d42c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4d24f8be24a4a0b" /><Relationship Type="http://schemas.openxmlformats.org/officeDocument/2006/relationships/notesMaster" Target="/ppt/notesMasters/notesMaster1.xml" Id="R2a0aa110118e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問題不在模型不夠聰明,而在每個模型都得重新推理一次,結果無法收斂。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對外只能說「只處理呼叫端送進來的最小化健康證據,不留存、不販售、不訓練、不作無關用途」;不能說「完全不碰健康資料」—— 接收並計算 Evidence 本身就是 transient processing。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這是隱私界線,不是效能設計。計畫與決策紀錄由呼叫端持有:Phase 1 存在 AI host 的記憶,Phase 2 存在使用者自己的資料庫 —— 兩種情況 hosted 都不留。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每個輸出都帶 confidence、evidence、signalCoverage、limits。缺的訊號列進 missing 並下調信心,不補造數值 —— 沒有 RPE 就是沒有,不是 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的界線:不直接連資料供應商、不持有來源 OAuth refresh token、不把 raw Evidence 寫入 database、file、object storage、queue 或 analytics。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決策型別:keep、adjust、substitute、defer、advance —— keep 也是決策。推論:計畫是決策的基底,沒有計畫只能推薦。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邏輯寫在 prompt 裡就會隨模型漂移;寫在引擎裡才可被驗證、可被回測。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計畫不是一份靜態文件:改掉其中一週,後面所有週會跟著重算。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實際分八層:Exercise、Workout、Program、User、Health、Training Load、Nutrition、Knowledge。我們這端的學習發生在引擎規則與知識圖譜(跨使用者的通則),不在個人資料。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換掉任何一家裝置商,AI 那一側完全不用改。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目前實作 3 家 parser(Apple Health／Garmin／Strava,Strava 含 API 與 bulk export 兩種方言),schema registry 涵蓋 6 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六個都通過 GPT-6 Test:每一個都需要這個人的證據、需要縱向計算,或提供確定性保證。search_exercise、compare_exercise 這類純知識查詢已經拿掉。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這條判準是每個 tool 的准入門檻,也是為什麼知識圖譜是內部證據來源而不是對外產品。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 是核心宗旨要的那個版本,不是高隱私情境的選配。持久化只能存在於 Phase 2 —— raw payload、HRV／睡眠、每日狀態那些表在 hosted 一張都不能建。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關鍵字是「昨天」和「腿」:一個要跨來源歷程,一個要分肌群疲勞。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課表必須是一張可被改寫、且會自動往下傳遞影響的圖,不是一份文字清單。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這題會撞到動作本體資料的建置成本,Phase 1 範圍界定時要先想清楚。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傷勢必須是常駐資料,不能靠使用者每次自己記得講。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歷程由呼叫端隨呼叫傳入 —— hosted 不保存歷程,所以這一題的完整度取決於呼叫端手上有多少。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語音是最好的壓力測試:證據要夠小、計算要夠快 —— 實測單次決策 0.443 ms、零次外部 API 呼叫。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已完成的三項附實測數字;未完成的不給沒有出處的門檻數字 —— 原本的「替代動作合理率 ≥ 85%」、「Tool 選對率 ≥ 90%」都沒有出處,已移除。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2ed451bee4c7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1fa7d8cfc418a" /><Relationship Type="http://schemas.openxmlformats.org/officeDocument/2006/relationships/slideLayout" Target="/ppt/slideLayouts/slideLayout1.xml" Id="Ra0a3a3dc704742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3a3dc704742e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2864d89fe4cbb" /><Relationship Type="http://schemas.openxmlformats.org/officeDocument/2006/relationships/notesSlide" Target="/ppt/notesSlides/notesSlide1.xml" Id="R70b65b6de18b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1d61e75b6431e" /><Relationship Type="http://schemas.openxmlformats.org/officeDocument/2006/relationships/notesSlide" Target="/ppt/notesSlides/notesSlide2.xml" Id="R4acedd9cbb34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1d049cdba4429" /><Relationship Type="http://schemas.openxmlformats.org/officeDocument/2006/relationships/notesSlide" Target="/ppt/notesSlides/notesSlide3.xml" Id="R15aa45e3102c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724353824fcb" /><Relationship Type="http://schemas.openxmlformats.org/officeDocument/2006/relationships/notesSlide" Target="/ppt/notesSlides/notesSlide4.xml" Id="Racf1144343b448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31808ebf4390" /><Relationship Type="http://schemas.openxmlformats.org/officeDocument/2006/relationships/notesSlide" Target="/ppt/notesSlides/notesSlide5.xml" Id="R2cfbbaecdbe34c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3b4732ef04465" /><Relationship Type="http://schemas.openxmlformats.org/officeDocument/2006/relationships/notesSlide" Target="/ppt/notesSlides/notesSlide6.xml" Id="Rdc7cf449056646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45143d63843bd" /><Relationship Type="http://schemas.openxmlformats.org/officeDocument/2006/relationships/notesSlide" Target="/ppt/notesSlides/notesSlide7.xml" Id="Rb5d99409cd07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c41fe7be4d11" /><Relationship Type="http://schemas.openxmlformats.org/officeDocument/2006/relationships/notesSlide" Target="/ppt/notesSlides/notesSlide8.xml" Id="R1be14738f1db4d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f6ddde07b405c" /><Relationship Type="http://schemas.openxmlformats.org/officeDocument/2006/relationships/notesSlide" Target="/ppt/notesSlides/notesSlide9.xml" Id="Rb55cc5800e99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0bb2a4f8a4b11" /><Relationship Type="http://schemas.openxmlformats.org/officeDocument/2006/relationships/notesSlide" Target="/ppt/notesSlides/notesSlide10.xml" Id="R01315b0823ff42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76571be644d79" /><Relationship Type="http://schemas.openxmlformats.org/officeDocument/2006/relationships/notesSlide" Target="/ppt/notesSlides/notesSlide11.xml" Id="Rcbf57edc12334a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a89f55a1d4c32" /><Relationship Type="http://schemas.openxmlformats.org/officeDocument/2006/relationships/notesSlide" Target="/ppt/notesSlides/notesSlide12.xml" Id="R34ab04b0bd4448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389225e424238" /><Relationship Type="http://schemas.openxmlformats.org/officeDocument/2006/relationships/notesSlide" Target="/ppt/notesSlides/notesSlide13.xml" Id="R9273cad9a88c41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32af5316e4429" /><Relationship Type="http://schemas.openxmlformats.org/officeDocument/2006/relationships/notesSlide" Target="/ppt/notesSlides/notesSlide14.xml" Id="Rb994c155bf5643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0052099d648ea" /><Relationship Type="http://schemas.openxmlformats.org/officeDocument/2006/relationships/notesSlide" Target="/ppt/notesSlides/notesSlide15.xml" Id="R2a8c70d7e68940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de16fdc344e39" /><Relationship Type="http://schemas.openxmlformats.org/officeDocument/2006/relationships/notesSlide" Target="/ppt/notesSlides/notesSlide16.xml" Id="R5110c57f9ee54e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b20bff6504e42" /><Relationship Type="http://schemas.openxmlformats.org/officeDocument/2006/relationships/notesSlide" Target="/ppt/notesSlides/notesSlide17.xml" Id="R0e4fdad170634d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baa14f9e348b2" /><Relationship Type="http://schemas.openxmlformats.org/officeDocument/2006/relationships/notesSlide" Target="/ppt/notesSlides/notesSlide18.xml" Id="R4472cd50551b47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713250654d30" /><Relationship Type="http://schemas.openxmlformats.org/officeDocument/2006/relationships/notesSlide" Target="/ppt/notesSlides/notesSlide19.xml" Id="R9d6090f437744b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6e108072d40a9" /><Relationship Type="http://schemas.openxmlformats.org/officeDocument/2006/relationships/notesSlide" Target="/ppt/notesSlides/notesSlide20.xml" Id="R0be493bbd8c345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e7dffd587456e" /><Relationship Type="http://schemas.openxmlformats.org/officeDocument/2006/relationships/notesSlide" Target="/ppt/notesSlides/notesSlide21.xml" Id="Rcb6ed3ab00f349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035346cb4a1c" /><Relationship Type="http://schemas.openxmlformats.org/officeDocument/2006/relationships/notesSlide" Target="/ppt/notesSlides/notesSlide22.xml" Id="R29a58c2fad534a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5f9ec94a43a8" /><Relationship Type="http://schemas.openxmlformats.org/officeDocument/2006/relationships/notesSlide" Target="/ppt/notesSlides/notesSlide23.xml" Id="Rdc7bb16ec7f849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d3fe868b34e58" /><Relationship Type="http://schemas.openxmlformats.org/officeDocument/2006/relationships/notesSlide" Target="/ppt/notesSlides/notesSlide24.xml" Id="R129149cbb44f4d3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7d45ac2604cbc" /><Relationship Type="http://schemas.openxmlformats.org/officeDocument/2006/relationships/notesSlide" Target="/ppt/notesSlides/notesSlide25.xml" Id="R5967966a3e154c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7fcc6cbe24cea" /><Relationship Type="http://schemas.openxmlformats.org/officeDocument/2006/relationships/notesSlide" Target="/ppt/notesSlides/notesSlide26.xml" Id="R442ae59ecd5c403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8e7e76164f09" /><Relationship Type="http://schemas.openxmlformats.org/officeDocument/2006/relationships/notesSlide" Target="/ppt/notesSlides/notesSlide27.xml" Id="R9c67c531676942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572639c7244ca" /><Relationship Type="http://schemas.openxmlformats.org/officeDocument/2006/relationships/notesSlide" Target="/ppt/notesSlides/notesSlide28.xml" Id="R051d7e8b24d54f5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16743e45a4859" /><Relationship Type="http://schemas.openxmlformats.org/officeDocument/2006/relationships/notesSlide" Target="/ppt/notesSlides/notesSlide29.xml" Id="Rf4db2ae5ea3548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803d32ace4ff0" /><Relationship Type="http://schemas.openxmlformats.org/officeDocument/2006/relationships/notesSlide" Target="/ppt/notesSlides/notesSlide30.xml" Id="Rc30430f8930f4b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449b0d584f06" /><Relationship Type="http://schemas.openxmlformats.org/officeDocument/2006/relationships/notesSlide" Target="/ppt/notesSlides/notesSlide31.xml" Id="R6f5385590ec941a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8d98c34c14e45" /><Relationship Type="http://schemas.openxmlformats.org/officeDocument/2006/relationships/notesSlide" Target="/ppt/notesSlides/notesSlide32.xml" Id="R6811f7e4022e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212CE6-ED06-43D5-8B95-DDF74C4A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1463040"/>
            <a:ext cx="5120640" cy="5120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430AE2-0FD1-46A3-AA0D-1D03A65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7472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493E36-0074-43CB-9DAF-A4227F8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844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05318B-0964-41AD-83E3-2A4E0B3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207008"/>
            <a:ext cx="7315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PRODUCT VISION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1DF5A1-083E-49F1-8A13-0F3974C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87782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6000"/>
              </a:lnSpc>
              <a:buNone/>
            </a:pPr>
            <a:r>
              <a:rPr sz="5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Pacevera</a:t>
            </a:r>
            <a:endParaRPr sz="5000"/>
          </a:p>
          <a:p xmlns:a="http://schemas.openxmlformats.org/drawingml/2006/main">
            <a:pPr marL="0" indent="0">
              <a:lnSpc>
                <a:spcPts val="6000"/>
              </a:lnSpc>
              <a:buNone/>
            </a:pPr>
            <a:r>
              <a:rPr sz="5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Fitness Decision Engine</a:t>
            </a:r>
            <a:endParaRPr sz="5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C2B630-AB49-418B-98E3-9B163D2D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7640"/>
            <a:ext cx="8595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把不同來源的資料整理成今天可執行、而且說得清楚的訓練調整。健康歷史仍由你控制。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79EB712-6287-4823-8FE7-75C734A7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61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A1FE84-804F-4DF7-9EC1-DD62647F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Public preview · Desktop MCPB · v0.5.0 → local private engine</a:t>
            </a:r>
          </a:p>
        </p:txBody>
      </p:sp>
    </p:spTree>
    <p:extLst>
      <p:ext uri="{BB962C8B-B14F-4D97-AF65-F5344CB8AC3E}">
        <p14:creationId xmlns:p14="http://schemas.microsoft.com/office/powerpoint/2010/main" val="937939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FD807B8-781B-47FD-9A6D-65E0669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C2AA67-2305-41B6-8649-80F7DCB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AGENDA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EF4C5-909A-4756-B6C2-57E931B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這份簡報講三件事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EF2023-F147-48A9-AD30-6FCF80D9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先看今天的訓練調整，再看資料如何支持這個決定，最後看產品現況與下一步。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4351483-F53C-4AC0-BD36-7DD862A8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BC7655A-49EC-4B86-99ED-A8FEEB2E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01</a:t>
            </a:r>
            <a:endParaRPr sz="2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138D32-9863-4C97-9864-6CBD582E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核心概念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B903FA-7675-4380-B1F7-9EF0118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從原定課表到今天要做什麼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867B12D-C9E3-48F0-8FE1-ECCF63DB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E11CF22-26AF-4AE6-A6D8-E355826C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02</a:t>
            </a:r>
            <a:endParaRPr sz="2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7B4F22E-25B0-4C24-8A49-77FA1D62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核心功能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367EA3B-1E4E-43A2-9835-24B8C61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證據、理由、缺失與信心都可檢查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D67181B-17B3-472D-9696-45675429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00400"/>
            <a:ext cx="3291840" cy="237744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DB99723-303F-4276-99AF-7F8F5087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429000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03</a:t>
            </a:r>
            <a:endParaRPr sz="2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1087F9-E597-4690-970A-ACE1425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23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應用情境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1B4A76C-DA07-4233-A35C-3271499D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26280"/>
            <a:ext cx="27889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AI coach 可替換，健康歷史留在你的控制邊界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F71B17-19C2-46E7-80AE-843A2CB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69519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5B1E99-4C9B-4BC9-AFE3-885C10F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66AD93-D3EC-4EBB-8150-024AEB6C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94C6F7C-AE9B-49D0-8E5D-F4C52C5D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一般 AI 知道運動知識，卻不知道連續的你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3F97F-8CB8-4025-89EC-544C257F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睡眠在一個 App、跑步在另一個、重訓在第三個,沒有人負責把它們接成同一個人。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5E2971-7D8D-4538-A43B-95019AF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4C049A3-F452-4AB0-9309-2756F13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Apple Health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FF5FC5-46D2-4C2D-BD3D-6F01266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睡眠 · HRV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49EC7CE-37AF-4B8D-A381-0918297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91C0009-B5EF-453C-BAAF-5F79025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Garmin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9852DF-D3D6-4A08-B5E6-D61B9496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恢復 · 訓練狀態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76CA25-EAEE-4E58-87A1-B11F07D8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8D151F-2642-4EFD-82FA-C58642A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Strava</a:t>
            </a:r>
            <a:endParaRPr sz="14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3FE9EE-C8B1-4C7A-9533-8DF75AD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跑步 · 騎車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EC150C2-A586-4BC1-A227-3E85F83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6160"/>
            <a:ext cx="246888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D3A1BF4-B575-48B0-8650-3B3AF8A9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9476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健身房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7A1DF9-1A9D-4C8F-9203-518410E9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4206240"/>
            <a:ext cx="2057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9BA3B4"/>
                </a:solidFill>
                <a:latin typeface="Arial"/>
                <a:ea typeface="Arial"/>
                <a:cs typeface="Arial"/>
              </a:rPr>
              <a:t>沒有任何紀錄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3895903-F45B-41B5-832D-7945C16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每一段都是真的,合起來卻拼不出「他今天到底能不能練」。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323806-686A-41BF-B55D-02FA90C6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37586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E00864-E716-4165-82C0-4EFAF03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81A899-47C3-4822-AFA5-66B0560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6CB325-4B95-4885-8CC3-FC33414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所以使用者每一次都要重新自我介紹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E73F51-9C08-400B-A76C-B31A8B7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換一個模型、換一個對話視窗,理解就歸零 —— 而人的身體狀態是連續的。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A0CEBF4-66F4-4578-A295-70663F80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11E4D3-880A-474C-AFD7-EA10A2E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ChatGPT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5FFE1CD-4B18-4C62-9A7B-40B5AEBD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A7EDEAA-F083-449E-947E-C4DDD56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1943B1-7C38-4F75-8B7B-60979AAE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1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C2E0EB9-4DB2-46E7-8DB5-51DA392C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DED26E6-DF6E-4835-92B4-FC0AAB7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Claude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03E20D1-B27F-4534-A3FE-DF62728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9095448-6EEB-4E41-894D-FD73A452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4AFB10A-EBB6-45B5-BDEE-4B45DC0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2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A83052B-A5BD-4DB6-94AC-A03C19F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329184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57A25AA-577A-461F-B9C0-A4988D6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86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Gemini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EADB1A-6CE9-44EA-B2C6-505B84F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29768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各自從零解析原始資料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4A6423-0140-408F-B10B-F7684C4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2651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CE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798B195-4149-4137-8041-64BDA90C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6460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結論 3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EAFC61F-7E02-415F-92D3-3FA8B136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0866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3E9C59-96DD-49B1-9876-F2C114C9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3A422A-5CD9-4200-BD58-B661D1AE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5D62F5-EF95-40BE-A00D-267F1D1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我們要蓋的是 AI coach 與今天決策之間的一層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D26787-CB8A-471C-9C9B-33519F1D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把多來源資料正規化、推理、語意化,讓任何 AI 讀到同一份「這個人現在怎麼樣」。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A335AA2-74EC-4184-87B0-1955688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1840"/>
            <a:ext cx="10817352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6EEAE8B-167E-4634-BB8B-5F114CD0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93008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個人化的健康與訓練決策層</a:t>
            </a:r>
            <a:endParaRPr sz="3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181CE3-31B2-4B69-AD0A-DF62DA31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96512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E0C4"/>
                </a:solidFill>
                <a:latin typeface="Arial"/>
                <a:ea typeface="Arial"/>
                <a:cs typeface="Arial"/>
              </a:rPr>
              <a:t>Normalize  →  Reasoning  →  Semantic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E3384F2-0988-414F-B4A0-1FD7094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2080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9D6"/>
                </a:solidFill>
                <a:latin typeface="Arial"/>
                <a:ea typeface="Arial"/>
                <a:cs typeface="Arial"/>
              </a:rPr>
              <a:t>產品不是 UI。任何介面 —— ChatGPT、Claude、手錶、語音 —— 都只是這一層的 Client。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F741FC8-927C-447E-B95C-522B2691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90300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7C9133-8549-4FA0-83A0-5DAB0F40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1CC482-A324-4585-9DE8-E9C5936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177608-1A40-40CE-A83E-70DF8A67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AI 負責溝通，Pacevera 負責做決定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7A68A24-0C86-4B60-B521-B7E6E071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AI 負責理解問題與說明結果；Pacevera 在使用者控制的資料範圍內負責計算、判斷與追溯。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9C9A8A-566A-46C8-8027-9DB6652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535384-957E-4914-A7C3-D379009A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使用者要的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DA49D5-3865-4A0E-8ABA-8F11003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今天照不照原課表、具體改成什麼、為什麼、缺什麼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F0FAF5A-7900-48DC-A31C-FDFFA0C4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687A4A-4AB1-45EF-B328-BBD5188B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使用者不要的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B4F8BB-A395-4854-80E2-A60BFAAA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不讓每個 AI 服務各自保存完整健康歷史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6C931C-C78F-42EC-A12A-4222AA9E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本機版本可以保存資料；遠端服務只處理這次回答所需的最少資料。兩種模式的隱私承諾不同。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B9C333E-8044-463E-A3FC-9F09EAA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69349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712F50-0743-43B8-BD25-C776BC6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F081FF-C781-4D82-B299-6BF43185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61E998-56C4-4569-976C-70D7E80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資料留在你的控制範圍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37036F-B9F6-45AD-9FA7-83C98909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本機版本可保存可重新計算的資料、訓練計畫與決策紀錄；遠端服務不保存原始資料。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C12E344-3FB5-4148-9B10-DC677BC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AF9550-4E91-40E0-835E-8EB67BA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7530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A1B0"/>
                </a:solidFill>
                <a:latin typeface="Arial"/>
                <a:ea typeface="Arial"/>
                <a:cs typeface="Arial"/>
              </a:rPr>
              <a:t>使用者控制環境保存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6FA312-756B-4F56-839F-93828685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匯出檔 · 使用者口述 · 使用者日誌 · 連線憑證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20E126D-F2C2-4EC8-B996-1E1C0CDC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E50083-EA1D-4C62-869B-2905F64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5546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AI 每次只取得必要資料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C0799E3-F924-43EC-9DEB-1B7E633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2122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原定訓練 · 今日訓練 · 判斷理由 · 缺少資料 · 可追溯紀錄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C9EC9C2-3F40-40FE-89C8-CFDC2F8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26144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88A87E-8197-401D-9113-E9CEA65E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FA3A0F-D3FB-4B15-B36D-1BC0C03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99AE2E-B99E-4D81-84A4-BD1E178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輸出不是分數，是今天的調整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8C75DE-EE6B-4054-88BE-3F84B9B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Pacevera 回傳決定、動作、理由，以及信心與資料完整度；AI 讀到的是可以直接說明的結果。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A5BD410-75C6-4BBD-A18B-59B1721D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4680"/>
            <a:ext cx="5120640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DF2009-C38F-4FE9-ADFD-67497A72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45720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FitnessState: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recovery: 62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fatigue: 48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readiness: 55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acwr: 1.52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confidence: 0.71</a:t>
            </a:r>
            <a:endParaRPr sz="125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50">
                <a:solidFill>
                  <a:srgbClr val="49D993"/>
                </a:solidFill>
                <a:latin typeface="Arial"/>
                <a:ea typeface="Arial"/>
                <a:cs typeface="Arial"/>
              </a:rPr>
              <a:t>  missing: ["rpe"]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AE0D5D1-F7B2-4FA3-B67E-CC8F9BD6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54680"/>
            <a:ext cx="5148072" cy="25146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007B67-56F5-449A-A2C2-A86D24C1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64992"/>
            <a:ext cx="45720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Decision: adjust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Action: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planned_session: VO₂max Intervals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today_session:   Zone 2 · 45 min</a:t>
            </a:r>
          </a:p>
          <a:p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Reason: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- ACWR 1.52 &gt; 1.40</a:t>
            </a:r>
          </a:p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  - Sleep debt · HRV -12%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BC05AF-2FDC-4EBC-93E9-D8C6D4E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1888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83841E-DCDE-4B20-A4DE-6CBB5570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23C250-C11D-497D-A4A3-5EBA3272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1 — 核心概念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ACF3F6-2CA0-4DFA-9004-FA2B606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四層架構:資料邊界與決策責任分開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943DE1-565E-4443-B526-98E6398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AI 可以替換，決策可以重現，資料與連線憑證留在使用者控制的範圍內。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231805-D860-46D4-B09B-FCA8292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0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ADB261-20FE-4C70-9829-5E9D433B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9981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999962-EEF1-4A5F-946C-14BCF11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926080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AI／使用介面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DD450A-7E37-4899-A3FA-36AD5A8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6080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Claude · ChatGPT · Gemini · Web · Mobile · Team systems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F9E5D2A-01A7-4977-A3B5-2B0AA61B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608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C928136-A1E4-4E83-B627-097142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9534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A662A9-BE38-4EBE-930E-192F879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721608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Pacevera 介面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3C947E-F0F6-4057-AE08-74188BA1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21608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桌面版 · 私人連線 · 遠端服務 · 未來 API／SDK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3415E34-C1A2-4C8F-8B57-0067C51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D097169-D951-4B82-9476-E33C214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9087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D51BF3B-6345-45D4-ADE2-62CC9B7A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517136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決策基礎設施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FAB40B6-3624-49B4-8E05-6D81E327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17136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健康狀態 · 決策引擎 · 規則套件 · 決策流程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3CF9F1D-EBA9-4622-9DEF-FF794C0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2664"/>
            <a:ext cx="10820095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C3EFE5D-4185-4A68-8503-D0CF0D3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94F4D05-CA35-4C54-86F9-8EF5E3D1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312664"/>
            <a:ext cx="22860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使用者控制的資料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AF683BA-1796-4048-B2A2-046C699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12664"/>
            <a:ext cx="740664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本機連接器 · 連線憑證 · 原始歷史 · 計畫 · 執行結果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646C0EC-1F06-40C9-A2BB-23101227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09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52733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302337C-FC19-40BB-92EB-0221162F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6D0E2F-8C12-4B39-A0B4-50814622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E43988-2276-4DA1-AB84-73A1AEA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我們給的是決策，不是建議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54992A-F0F4-4CBA-B28D-5FFC2898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建議可以憑空發出;決策必須知道「今天原本要做什麼」,並寫成「原定課表到今天執行」。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1986DA6-4EB2-4782-8804-5070371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5F0B418-217F-4A3F-A833-4485CC5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7530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9AA1B0"/>
                </a:solidFill>
                <a:latin typeface="Arial"/>
                <a:ea typeface="Arial"/>
                <a:cs typeface="Arial"/>
              </a:rPr>
              <a:t>Recommendation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25FEF3-A0C7-4869-917A-0B8D935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「建議今天跑 Zone 2」 —— 憑空發出,GPT-6 也做得到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03D0AA4-2024-47B9-9078-63094E9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9160"/>
            <a:ext cx="10820095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5A1AC8-DF78-428F-9B8D-8178349A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55464"/>
            <a:ext cx="3657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Decision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A047F2-8926-4B34-830B-F55C47C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21224"/>
            <a:ext cx="98755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「今天的 VO₂max Intervals → 45 分鐘 Zone 2」 —— 對既有計畫的變更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E3F6A0-1213-4AC3-88E2-F8F5FAAC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139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24B1F4-14A7-4C3F-8215-EEC6735E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8912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CORE FUNCTION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A3B2B4-40F9-46D7-820C-CEF5116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86384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 can coach. Pacevera decides.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3B309B-A4DC-49F0-9A57-5B3A9B8E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9692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68645C"/>
                </a:solidFill>
                <a:latin typeface="Arial"/>
                <a:ea typeface="Arial"/>
                <a:cs typeface="Arial"/>
              </a:rPr>
              <a:t>一句自然語言問題，透過資料與固定規則，轉成可以執行的訓練調整。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958D423-4D12-4BBC-AF3D-A750BFF6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ONE DECISION LOOP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40A455-4CAA-4E7E-9923-62F741B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20116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1  AI coach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understand intent · call tools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2EA2A8-ABD0-4D92-8C58-3B2FC27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21DAA41-069E-4E80-A244-C9B7E6E0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331720"/>
            <a:ext cx="23317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B3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2  Pacevera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C9D0C8"/>
                </a:solidFill>
                <a:latin typeface="Arial"/>
                <a:ea typeface="Arial"/>
                <a:cs typeface="Arial"/>
              </a:rPr>
              <a:t>calculate · decide · trace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7853D1E-897F-4785-B13B-9DC17B32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724C024-1D70-4441-9064-0A46605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214884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3  Evidence + rules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recovery · fatigue · load · plan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F32D6E-8F8C-4E67-B4BA-9AA04BB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706624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AA313C-6D51-4EC3-B83E-701359D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2331720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64592" tIns="109728" rIns="164592" bIns="7315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4  Decision + reason</a:t>
            </a:r>
          </a:p>
          <a:p xmlns:a="http://schemas.openxmlformats.org/drawingml/2006/main">
            <a:pPr algn="ctr">
              <a:spcBef>
                <a:spcPts val="500"/>
              </a:spcBef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keep · adjust · defer · change for today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FEC232B-183A-4B6D-AFD0-01982FDC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05072"/>
            <a:ext cx="10744200" cy="12618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E3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75B9A1-A994-4A0C-91A6-5EBAF22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24528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PACEVERA RETURNS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EAA5AF0-243C-436D-8511-68D7A94E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17136"/>
            <a:ext cx="4389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一個可以直接執行的調整，並附上理由與限制。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7E12D3-CD37-468B-B761-711D8DB4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22452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planned → today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0D87925-54B1-4E6B-A0B7-93D18C8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224528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1564FA5-5D21-4B45-AA97-FDA2326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24528"/>
            <a:ext cx="1051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3B64826-C24F-4473-95AE-B98207F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24528"/>
            <a:ext cx="1097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753033-43D0-447C-9F29-A21FCF4F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553712"/>
            <a:ext cx="1143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Tempo → Moderate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BC546B5-BB65-4EAE-BADE-BA15D7CA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55371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F1E1D"/>
                </a:solidFill>
                <a:latin typeface="Arial"/>
                <a:ea typeface="Arial"/>
                <a:cs typeface="Arial"/>
              </a:rPr>
              <a:t>準備程度低於門檻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9CC9D6-9286-4582-AEAD-2F679AD5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553712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F1E1D"/>
                </a:solidFill>
                <a:latin typeface="Arial"/>
                <a:ea typeface="Arial"/>
                <a:cs typeface="Arial"/>
              </a:rPr>
              <a:t>sleep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5BEE749-E95D-404F-A903-24139A4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53712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0204305-BA63-4047-A5A4-F256C95C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144768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864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1703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89A3A6-979D-45D6-8905-10A5146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9A90E1-8CD9-4454-BC00-7E589FE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4D132E3-258A-4525-B56C-327E27CF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先整理資料，再用規則做決策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F63C94F-567E-4F3A-892C-4DBDB93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先把不同來源的資料整理成同一套格式，再用固定規則算出決策，最後才交給 AI 說明。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7B773FA-DFB7-4109-8186-82DD427F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0440"/>
            <a:ext cx="512064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6004D5-36E8-4A23-BA08-B23D3133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03320"/>
            <a:ext cx="4480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IF  ACWR &gt; 1.40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 + Sleep debt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  + Yesterday leg</a:t>
            </a:r>
            <a:endParaRPr sz="1400"/>
          </a:p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→  Intervals → Zone 2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1F5C19-D9E1-4369-82CC-9F52EA6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20440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B1579D-D8C3-4E0A-AE21-0EA246C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5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12A4B7-274C-4A15-9115-E4CC0FB5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20440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整理資料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D6A0567-3A25-4C41-9E16-C909298B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520440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各家證據對齊成一份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1A22DC5-8C4A-4874-9DBF-CAA3C97D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096512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548AEF1-06FA-4DB6-8B6B-3617F340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19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2AB7669-7652-4B28-A378-B25727F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96512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規則引擎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B5998FD-8EE9-40B9-A7BD-32D96A3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096512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確定性計算與安全底線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2B4150-5D4C-4A1C-8204-174B750A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72584"/>
            <a:ext cx="5148072" cy="484632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E397A61-349E-444A-8B8F-6B102BE3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80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FCFE890-ECBC-4540-858C-0B28889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672584"/>
            <a:ext cx="173736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AI 說明層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32AFB06-B616-43EB-97F4-C7945A19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72584"/>
            <a:ext cx="25603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翻譯成人聽得懂的話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414033-0D0C-4B84-9D18-1E632F83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2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我們的程式不呼叫模型來產生決策 —— 同樣的證據送兩次,必須得到同一個決策。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3937EF-B61C-4657-9DD7-48B9359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415512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68F4A4-0153-4508-BD07-EACFE1E4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F22E03-B2B6-4953-9172-9127C8D4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15FAC44-7610-4707-A63C-C836F1A7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從計畫到今天：改動要能執行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9AD20EB-A9A7-4D0F-9679-1114B7E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把目標、歷程、時間、器材、恢復一起算進去,產出可執行的多週期計畫。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022E07C-52A3-4373-889A-F1682FB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B9B1735-DCD1-4E50-A7DE-9C6BFE7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Goal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2DB793-8C08-4F75-AC27-93929D1D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281507-F543-4EE4-9929-BA4B0A8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History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10045C-7774-4190-B6E8-F013696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FE21F6E-6041-4EC0-B59C-710C7ACE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2816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Time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B202751-63D2-4E5F-8BD0-3C31C03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4551029-280E-4BC0-A3A2-684539A3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Equipment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FF71EE7-39E9-4EC8-B1F0-8BD7DAE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6672"/>
            <a:ext cx="283464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27C66B7-3D8E-429D-B138-CDAF1FB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6672"/>
            <a:ext cx="2834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Recovery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C89278-7578-4CA3-8857-DDE3E82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160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5A6376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3A64264-A3C0-4A62-A55B-587DE8B2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2926080" cy="2505456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8039BF2-0B06-4689-97F7-DA646C2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8960"/>
            <a:ext cx="2926080" cy="2505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600"/>
              </a:lnSpc>
              <a:buNone/>
            </a:pPr>
            <a:r>
              <a:rPr sz="20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Planning</a:t>
            </a:r>
            <a:endParaRPr sz="2000"/>
          </a:p>
          <a:p xmlns:a="http://schemas.openxmlformats.org/drawingml/2006/main">
            <a:pPr marL="0" indent="0" algn="ctr">
              <a:lnSpc>
                <a:spcPts val="2600"/>
              </a:lnSpc>
              <a:buNone/>
            </a:pPr>
            <a:r>
              <a:rPr sz="20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Engine</a:t>
            </a:r>
            <a:endParaRPr sz="2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72D34-43E8-40F0-B7E9-E0EF097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160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5A6376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1D47E6D-080F-4134-80BC-CDFDAC6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8960"/>
            <a:ext cx="3502152" cy="2505456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ECE1FFF-C585-400F-B638-F24C8791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12 週半馬計畫</a:t>
            </a:r>
            <a:endParaRPr sz="1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2760931-DC52-43A9-AB93-DB5ED8CC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86200"/>
            <a:ext cx="30175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Week 1 — 建立基礎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Week 4 — 出差,自動降載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Week 8 — 強度區塊</a:t>
            </a:r>
            <a:endParaRPr sz="1300"/>
          </a:p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300">
                <a:solidFill>
                  <a:srgbClr val="FFE0C4"/>
                </a:solidFill>
                <a:latin typeface="Arial"/>
                <a:ea typeface="Arial"/>
                <a:cs typeface="Arial"/>
              </a:rPr>
              <a:t>Week 12 — 賽前減量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18288A7-6AD5-4D0F-908C-783D2959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365177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B7726B-EC88-410E-9768-3C951FB6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C3C317-1058-4661-929D-41F4E29A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E482E6-2746-4471-9161-ADBBA790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知識圖譜是內部支撐,不是對外產品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BDBD29-AE24-4F63-9766-DF4A1B3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889 節點 / 5,785 邊,只在引擎內部被查詢;對外開放的是決策,不是圖。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8BD452C-2F62-4E31-B493-3A6C6975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1796F95-A5A8-4AE3-9DE5-553387CB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B7368A-96DB-48F8-A112-AB539BD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User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D1BAF4-3C5F-4A71-BDD4-231FDD50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Goal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Health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Recovery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Preference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Injury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Calendar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6A9563B-050E-4B34-8BA2-7F00AC2D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FF6A64F-5F6D-4A8D-A728-572AAA5C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FB6BF8-0616-4859-9C7F-F233A8E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Exercise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E4FABAC-6884-4BAB-BD82-353B398B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Muscle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Joint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Equipment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Movement Pattern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Risk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Variations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0C72AD1-375B-468F-B58A-3C02E2E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4EE4E5D-D0C4-4120-895B-2C04C9C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7B85081-F330-493A-8D62-7E6601E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Workout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55A57C7-3F6C-4D8A-8DDF-CDBCC75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Exercises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Volume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Intensity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Fatigue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Recovery Cost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ECB321E-93EC-4A5B-A09C-80D8E11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8960"/>
            <a:ext cx="2560320" cy="26517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3DA21A6-8D04-419E-9ABF-8ED91998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31012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3783899-1CFC-4C03-96E3-987DB57F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3273552"/>
            <a:ext cx="1828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Program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7D43FB-E15F-4458-AD2E-67C6321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749040"/>
            <a:ext cx="2194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Goal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Weeks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Periodization</a:t>
            </a:r>
            <a:endParaRPr sz="1150"/>
          </a:p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150">
                <a:solidFill>
                  <a:srgbClr val="68645C"/>
                </a:solidFill>
                <a:latin typeface="Arial"/>
                <a:ea typeface="Arial"/>
                <a:cs typeface="Arial"/>
              </a:rPr>
              <a:t>Workouts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2182FD8-CAC4-4A4D-9316-E8F3EDF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27066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F8D71A-4A0E-4A4B-B258-A1BB7D4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B032C7-A14C-40E5-9DD8-61BDE0ED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7DE7B01-90DE-4BB1-B0A6-DBB04DE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動作的關係寫進圖裡,不寫進 Prompt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D343C7-54BC-455E-B044-0D382DFD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「找替代動作」變成一次圖查詢,而不是每次靠語言重新猜一遍。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F6AA6F-1731-4E5F-BE5C-EA9812E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00205C-251E-4A4F-B013-2FA7F75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Goblet Squat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808073-DED8-448A-AA84-1F867A6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429000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IS_VARIANT_OF →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E99A426-EABA-4C36-9802-DD5CBE6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29000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5D3EA0-2B7E-422F-8B9F-9C060B4C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29000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Squat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27B7EB8-9D9E-4D07-ADF3-67EC0275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5272D9-BAD1-4478-9D7A-B5EE925E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2232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Back Squat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67CBC45-EDA8-4110-B3F2-1C133E1C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42232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PROGRESSES_TO →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52ED4C8-E9E5-446A-9935-4963C540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42232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1D9363-DE66-4919-A025-3DB638D1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42232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Front Squat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2B80D4-B428-4BE1-9EBC-ADBC06C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464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55C909B-D0F9-4A89-A8F5-FFABF7B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5464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Split Squat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F280DC8-DB83-4D2D-80BE-C9CDD32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855464"/>
            <a:ext cx="2743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— SIMILAR_TO →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39D4322-E801-40DB-91D9-68403500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55464"/>
            <a:ext cx="30175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B9C5055-EE14-458B-9E17-7F261D13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855464"/>
            <a:ext cx="30175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Lunge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69E792F-EABF-4BE0-8B5B-2FDF4DB7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8645C"/>
                </a:solidFill>
                <a:latin typeface="Arial"/>
                <a:ea typeface="Arial"/>
                <a:cs typeface="Arial"/>
              </a:rPr>
              <a:t>每個動作還掛著:主/次要肌群、關節、器材、難度、恢復成本、受傷風險、METS。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D15830E-BDFB-47E5-B992-D304DC96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25804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CFF5D-3D45-4F75-ABDF-BE84DF7D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898333-1E5D-4056-9C1D-0289587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6453E5-32C0-42B8-841E-0D949DA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疲勞要落到肌群,不能只有一個全身分數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627E85-50FF-4FC0-89CE-3EB4BEC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「今天不要再練胸」這種建議,前提是系統知道胸還剩多少。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9D34CA5-2457-4A12-BA00-98E937C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399"/>
            <a:ext cx="4206240" cy="2685393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AE2D43-4166-4AAE-9172-870C9C25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01568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全身負荷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DFD7028-5108-45ED-B047-E56CFD3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40480"/>
            <a:ext cx="3611880" cy="1950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Workout  →  Training Load</a:t>
            </a:r>
            <a:endParaRPr sz="1500"/>
          </a:p>
          <a:p xmlns:a="http://schemas.openxmlformats.org/drawingml/2006/main">
            <a:pPr marL="0" indent="0">
              <a:lnSpc>
                <a:spcPts val="2600"/>
              </a:lnSpc>
              <a:buNone/>
            </a:pPr>
            <a:endParaRPr sz="1500"/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ATL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Acute Training Load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急性訓練負荷（短期疲勞）</a:t>
            </a:r>
            <a:endParaRPr sz="1200" b="1">
              <a:solidFill>
                <a:schemeClr val="bg1">
                  <a:lumMod val="75000"/>
                </a:schemeClr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CTL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Chronic Training Load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慢性訓練負荷（長期體能）</a:t>
            </a:r>
            <a:endParaRPr sz="1200">
              <a:solidFill>
                <a:schemeClr val="bg1">
                  <a:lumMod val="75000"/>
                </a:schemeClr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r>
              <a:rPr sz="15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</a:t>
            </a:r>
            <a:r>
              <a:rPr sz="15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TSB</a:t>
            </a:r>
            <a:r>
              <a:rPr sz="15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  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（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Training Stress Balance</a:t>
            </a:r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）</a:t>
            </a:r>
          </a:p>
          <a:p xmlns:a="http://schemas.openxmlformats.org/drawingml/2006/main">
            <a:r>
              <a:rPr sz="12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訓練壓力平衡（恢復程度）</a:t>
            </a:r>
            <a:endParaRPr sz="1200">
              <a:solidFill>
                <a:schemeClr val="bg1">
                  <a:lumMod val="75000"/>
                </a:schemeClr>
              </a:solidFill>
            </a:endParaRPr>
          </a:p>
          <a:p xmlns:a="http://schemas.openxmlformats.org/drawingml/2006/main"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8B94E5-2C20-430A-B582-5E8E8C29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6245352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B1505DF-6116-4260-9320-530AD88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401568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49D993"/>
                </a:solidFill>
                <a:latin typeface="Arial"/>
                <a:ea typeface="Arial"/>
                <a:cs typeface="Arial"/>
              </a:rPr>
              <a:t>肌群疲勞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67FA734-2E67-49B4-A268-4D2698BF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877056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Chest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1946E31-C281-41A0-BD43-04DD4EEA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50208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9E313DD-0EEE-4E6E-A738-2E24AEB0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50208"/>
            <a:ext cx="292608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F81601D-0F2B-4BD6-97EB-9FADF851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877056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80%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BC1C87D-4CF7-4602-A022-9B07E5EC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89120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Back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5A68CA9-1AD3-4713-BCC8-10CFFB51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62272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C206EA1-CC94-44BA-98E9-697AE19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62272"/>
            <a:ext cx="21945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E53FE58-9C31-4763-8CF2-87E3F0A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389120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60%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7C23C5-6737-40FC-BACC-261865C1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901184"/>
            <a:ext cx="1005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0C8"/>
                </a:solidFill>
                <a:latin typeface="Arial"/>
                <a:ea typeface="Arial"/>
                <a:cs typeface="Arial"/>
              </a:rPr>
              <a:t>Leg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A7DC030-53E8-464F-AFE0-E3039D5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74336"/>
            <a:ext cx="365760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0F8B796-9592-4B43-AD8D-4FC32F72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74336"/>
            <a:ext cx="12801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F30AC11-A609-4C9F-A220-A23E59A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4901184"/>
            <a:ext cx="777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35%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6BBB6CF-2206-4151-87EC-A3A902D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734783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C827FD-9A6D-4440-A2D4-475DF23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608650-AFE4-4381-8C90-AB4AB737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9EDCC8-E1A8-4829-8461-C9D0E57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把不同來源對齊成同一套語彙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9F37A4-EB27-4339-AF72-6987B7C5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統一單位與時間軸,廠商算好的分數不重算;每筆讀數還帶著是哪台裝置寫的。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F2C290-2663-45DF-AE5A-9642A484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1752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9B424C-EF16-4F0C-ADC5-5F68F22D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015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原始指標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33F33A-4F49-4CCD-A266-C4CF6A3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23774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Sleep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HRV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Heart Rate</a:t>
            </a:r>
            <a:endParaRPr sz="15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500">
                <a:solidFill>
                  <a:srgbClr val="1F1E1D"/>
                </a:solidFill>
                <a:latin typeface="Arial"/>
                <a:ea typeface="Arial"/>
                <a:cs typeface="Arial"/>
              </a:rPr>
              <a:t>Stress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7BD451-2542-4544-BABB-3995B223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114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AFB5C2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B725D7-3549-4414-9797-B0C80883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3464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5C1D66A-5602-4C2E-B175-EF0D4C6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015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Normalization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69AF317-E82E-4099-ADCF-518FBCC1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94760"/>
            <a:ext cx="237744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統一單位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統一時間軸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canonical 命名</a:t>
            </a:r>
            <a:endParaRPr sz="1400"/>
          </a:p>
          <a:p xmlns:a="http://schemas.openxmlformats.org/drawingml/2006/main">
            <a:pPr marL="0" indent="0">
              <a:lnSpc>
                <a:spcPts val="25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複合分數不重算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1415227-2FDC-41C7-A1DF-D32B7A4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14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AFB5C2"/>
                </a:solidFill>
                <a:latin typeface="Arial"/>
                <a:ea typeface="Arial"/>
                <a:cs typeface="Arial"/>
              </a:rPr>
              <a:t>→</a:t>
            </a:r>
            <a:endParaRPr sz="18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BEA0797-FA84-4CD0-BBA6-7336F48A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730752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02FF4AC-0ADB-4B90-A5CF-FD90578B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401568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AI 看到的全部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7E55C7-569C-452E-A0BF-A1D7E6A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794760"/>
            <a:ext cx="32004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Recovery Score</a:t>
            </a:r>
            <a:endParaRPr sz="1800"/>
          </a:p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Fatigue Score</a:t>
            </a:r>
            <a:endParaRPr sz="1800"/>
          </a:p>
          <a:p xmlns:a="http://schemas.openxmlformats.org/drawingml/2006/main">
            <a:pPr marL="0" indent="0">
              <a:lnSpc>
                <a:spcPts val="3100"/>
              </a:lnSpc>
              <a:buNone/>
            </a:pPr>
            <a:r>
              <a:rPr sz="18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Readiness Score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904E2E-EA7A-4614-B17C-7201EB42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538813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172038-4DD6-4BEA-BE40-415C06D5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38E6D2-2BBD-4DC7-812F-67E5F82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BF1BDB-F2B1-4617-96E8-85351D7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資料連接器由你的環境執行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3C11CB-4C4C-47E0-8619-BD9A8A4C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第二階段會在使用者控制的環境完成授權、同步、資料整理與撤銷；遠端服務不持有連線憑證。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5CBADD-94E1-4ED9-BB61-26FD7F5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5F5ADCF-E41C-4817-9FFA-64612B94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</a:t>
            </a:r>
            <a:endParaRPr sz="1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4A161B-CC60-42B3-B160-4975BE78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1241B0-8FAC-4A17-B16C-0417EB3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同步</a:t>
            </a:r>
            <a:endParaRPr sz="1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639ABB-4BA3-4528-AC36-D419FE70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3ACBABC-22DD-497F-A43B-3438E9C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撤銷授權</a:t>
            </a:r>
            <a:endParaRPr sz="1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E39BB40-994B-4F80-8EF5-DFB6E81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6120"/>
            <a:ext cx="246888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064EC2-1A0C-4B09-BD81-3FCE635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6120"/>
            <a:ext cx="24688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整理資料</a:t>
            </a:r>
            <a:endParaRPr sz="1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95F93AD-3F3D-4556-A435-D04985C3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536192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7C9DF34-000F-4002-AB18-12A6780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5361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Apple Health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9C7F920-F1B1-41F8-B551-574F4AB4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C39D109-F5A0-40C3-BA50-025B5DA0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Garmin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74FA7D-130D-4263-B03C-91F7F02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1F4BFF3-A71F-44DA-B44E-964A1E8A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Strava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A9811DB-4710-4DBC-8018-464DBDF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ECDABCA-2670-4098-9DEE-E2E0A2D2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Oura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787FAF4-1E54-48CA-B773-B22F4A40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526280"/>
            <a:ext cx="1632204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4D52FB-18F0-4A03-9DA2-3D088BA4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526280"/>
            <a:ext cx="163220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WHOOP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D08BA7F-91E2-4D83-BD42-B022E54D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956" y="4526280"/>
            <a:ext cx="1824228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010A049-24AC-48D6-ADC5-6885145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956" y="4526280"/>
            <a:ext cx="18242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手動／匯入檔案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38DB992-EFA9-441F-AE9E-C34FC7AA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526280"/>
            <a:ext cx="960120" cy="502920"/>
          </a:xfrm>
          <a:prstGeom xmlns:a="http://schemas.openxmlformats.org/drawingml/2006/main" prst="roundRect">
            <a:avLst>
              <a:gd name="adj" fmla="val 49091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FE35716-05BF-4F7D-9BC1-CB0794AF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526280"/>
            <a:ext cx="960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Google Health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7DABF51-198D-4920-91E4-D114957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目前已有 6 個資料解析器；Oura／WHOOP 還需要真實且去識別化的測試資料。新增資料來源不必改寫決策引擎。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8630271-0591-4B03-8CE8-AF851F7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622719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E634FAF-5372-4FBC-87F1-72655145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1186EB-97C0-49D4-B3B0-10D069EE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86432A-09F8-4099-9EA1-29A3818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v0.5.0：把一個完整的決策流程做出來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AF59A2-47E0-4A5E-AF6A-D7618E8C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v0.4.2 已公開 6 個工具；v0.5.0 將補上訓練、資料完整度、決策理由與結果回報。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81AED4D-2FE8-40D0-BF45-0AAC8E80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71952AE-0798-414C-AC6E-C833773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66D347-3F5B-47FB-8D22-6DCFA3D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評估身體狀態
檢查資料完整度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19ED29-A69B-4F55-8A7E-4D04C33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狀態與資料完整度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6FA5369-C6C5-4C28-A5BA-CD9256FF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94542A9-7585-4277-8DDF-7C2F9AB4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FBF112-6D6D-48F8-9944-239DBA59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決定今天怎麼練
說明決定理由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78FAD2-9962-4688-94B9-D7E95894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決策與可追溯的理由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37F9C9-BF53-4C9D-9B39-3BF0A207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6324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7712452-5CD0-4308-B885-66C7944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2644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E43C0CC-DEA7-49EB-A9BE-CE5C30A4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19125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尋找等效的替代動作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75D9A72-89B7-4536-AF7C-BFE94F9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11880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換一個等效的動作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199978-4F9A-40DE-AF93-AD84D20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49C95A3-3180-4A0A-A3AE-B46939F7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88B6021-4A2E-4C0C-A733-8E55E67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產生多週計畫
安排單次訓練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0975C4F-25A2-46C7-9CFB-1403B546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多週計畫與單次訓練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D9A2AB1-7A57-41A0-9329-4D69B88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802C18B-0D53-4E51-AE4A-3550649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B18A84-0B47-4DE8-BB1D-FAD1D89B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預覽調整後的計畫</a:t>
            </a:r>
            <a:endParaRPr sz="13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8CA0274-1165-48BA-B230-87506FD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先看調整後的計畫長什麼樣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7864996-9BEF-4AF8-99E9-6C2DB2E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17720"/>
            <a:ext cx="338328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253C9EB-C93E-45D0-85AC-20DB45F3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81888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6E8ED5-F53D-4638-A0BA-D1A6832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74573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確認調整後的計畫
回報實際結果</a:t>
            </a:r>
            <a:endParaRPr sz="13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9C832AD-8AED-4676-A60D-AF60DA2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5166359"/>
            <a:ext cx="3017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>提交計畫與結果回報</a:t>
            </a:r>
            <a:endParaRPr sz="9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950">
                <a:solidFill>
                  <a:srgbClr val="68645C"/>
                </a:solidFill>
                <a:latin typeface="Arial"/>
                <a:ea typeface="Arial"/>
                <a:cs typeface="Arial"/>
              </a:rPr>
              <a:t/>
            </a:r>
            <a:endParaRPr sz="9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6DA1AB3-9569-4C87-BFB1-41A031B0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19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66097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BBFFB6-A48B-4EFD-A6C3-459C3117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0077E4-94CB-4B26-83E6-94B26356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工具准入判準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C844BD-4D7E-4026-AE4C-BAA6FC7C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EDCE74-92ED-4B02-8448-5EF2B578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「GPT-6 已經知道所有運動知識,這個 Tool 還有價值嗎?」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C86427-82B5-45C9-BB05-7D34330E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GPT-6 殺不死的三樣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74CAD19-3127-4221-ABCF-27455F23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4CD63CB-9DCD-4EB2-81C0-89774D8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D65E93-9E03-49A8-9585-E45B4CA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證據 —— 它沒有這個人的資料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6A87F52-0CA8-441A-AB91-0970A83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1927F8B-6479-4505-9199-71A06EF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FB6E32-4B4C-4045-AEA9-237F635B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計算 —— 它沒有執行縱向運算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C0EE65F-1002-4940-AD90-2004E10A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C2F7E06-34EC-4462-A1D8-A7870EF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C36E8E-A2FD-4DAA-8419-2218A5E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保證 —— 確定性過濾器不會被說服繞過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2441276-43FA-4317-B098-FAED1E7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判準怎麼用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6FC0FE3-026D-4AFB-9DA5-CF390D7A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B5884F-4DB7-4428-8416-4FC5C32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否 → 砍掉或降為內部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9E9572F-B8F1-41FB-81DA-4C913322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GPT-6 殺死的是知識查詢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23D05A-1989-4F40-A9ED-A7CCC5EB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984113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7CE3D0-51A8-43C1-9AC7-06EA13A8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5B072E-AC8F-4073-B609-778CF394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2 — 核心功能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57A561-D142-4C4F-9CA0-6FAA7DE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同一套引擎，三種使用方式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61E937F-2833-457A-B7AE-C098ED25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使用同一套決策引擎與規則；差別在於資料、連線憑證、紀錄與計算由誰控制。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8331B2D-788D-40CD-9C8B-9F621E1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4E20BB-3C47-48AE-8A77-70C382CB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661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1A3EA6-4BD2-467A-9112-A53E602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39242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本機桌面版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F0D4AB-104D-428D-A0BE-4E5F00F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77647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今天可用：本機桌面版與手動匯入資料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5EAF3FA-8FED-4216-9490-7E4D934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24612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4417A93-D3E1-4DB1-BC60-EE7B6992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661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710E65-91D5-47A2-9A72-98A12FD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39242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使用者控制的私人環境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7E6B1D-C96B-4E8A-9D78-7A9D55A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77647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第二階段：連接器、紀錄與訓練計畫都留在你的環境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9720884-C8E3-48A6-B5DB-0316CAC2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0B95090-94B9-4483-8163-974D59E2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463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ECDEE5-9C9E-4170-B2CA-7806D0A7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67258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受控的手機入口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7D4FE56-ABEF-4656-AA63-CD84F29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505663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第三階段：手機先安全連回你的私人引擎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9B1828-19C9-49C2-894A-1EF09A5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26280"/>
            <a:ext cx="51206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682D4A-A958-495E-AFCC-2F700DC8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463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83B714E-2B55-4BE0-BDAB-FF85C753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672584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遠端服務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A9BB28C-CC00-4F60-B410-87EDCFDA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505663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8645C"/>
                </a:solidFill>
                <a:latin typeface="Arial"/>
                <a:ea typeface="Arial"/>
                <a:cs typeface="Arial"/>
              </a:rPr>
              <a:t>遠端服務：只處理這次問題所需的資料，不保存完整健康歷史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E97354-2EE9-47EC-9F24-4B0CBA16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947435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2151F0-1551-4FB6-8F76-5987AD6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B1A5BB-A9C2-477A-8848-097384FF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3 — 應用情境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26775B-33CC-4E50-BE92-DA50AA0E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六種使用者真的會問的問題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4E4D86-621A-4006-A8A3-F47540B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這六題答得出來,產品就成立;答不出來,架構就白做了。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E20BF03-F9FF-41BA-BE34-A4BA8F91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F87608C-1979-4E44-9738-717960F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5F1460-F432-4B55-A4FF-A4573A9C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A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04B487-909F-4D47-97D9-1A26485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「今天適合跑嗎?昨天腿很酸」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3C58DF3-0C6C-4B8B-B4AA-49DFC731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59A49C5-E893-4324-B33E-F1E94772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B52B88-D872-4AC3-A2B2-861E572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B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32E5A8-17B7-450C-AD39-00C7AFA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「下週出差,重新安排課表」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044823-D4D8-49FB-9736-57A0DB90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00400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28EFC59-D4C8-48C8-947D-CB0D416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204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F3F598B-175B-4259-8278-AC6B35F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2044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C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2F24F8-655F-41E2-B890-970D889E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「找 Goblet Squat 的替代動作」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1DDE364-578B-4E37-AB56-DD8BFF90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760CF33-6A54-473A-BAFE-03E9D2B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8FD2561-3E02-4187-9514-F4524C4E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D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A78C406-88EA-4EBC-AF64-E36E1467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「左膝有傷,不要排跳的」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3A442A-4356-4D6E-A559-334913DE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AFA6B7F-6BCB-470C-B85E-22BADF25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75539FB-12C9-4805-9D27-D93753E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E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033D0E-BC2A-43D3-90F7-9CF7A36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「分析這個月訓練,瓶頸在哪」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81A377E-003E-4A45-A610-39781623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98848"/>
            <a:ext cx="329184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485E290-91B4-4CFF-A7F1-3BEA594A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18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33395B2-914C-4F2F-97E1-C6DB908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188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F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7C318AC-2564-4020-816B-28CE38A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8848"/>
            <a:ext cx="23774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1F1E1D"/>
                </a:solidFill>
                <a:latin typeface="Arial"/>
                <a:ea typeface="Arial"/>
                <a:cs typeface="Arial"/>
              </a:rPr>
              <a:t>語音:「今天怎麼樣?」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C84D753-4A2A-47F3-8FD1-2EF21B3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107448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25F790-DDE3-421D-B59F-C368FE1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BE74B3-3170-4551-9B61-B8E02D5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A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A48E12-BB99-4093-BB4E-758BBB7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DA59B9-6AA5-45A3-AEC5-3E21C2F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「今天適合跑嗎?昨天腿很酸」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F800F2-072F-44AB-930C-B8B3DBE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21F61F-6F21-49EE-A417-6D78BE52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BD2180-6791-4E49-98B9-64586903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A44EAF-070F-41D0-8DB3-23C38E4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昨天實際做了什麼（不同來源的紀錄）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8C02464-5319-490A-B94E-673129F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76ABB2D-3C92-4629-AFCB-1D4C715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0C6059-90FA-4E24-80E4-BED88F1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今天的恢復狀態與準備程度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7ABEBAF-0ED5-489A-A918-092CB57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380649F-2897-4077-BA28-DA16D3A0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7AF582-A799-4ED5-A0D9-57380B5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腿部肌群的殘餘疲勞百分比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EF0289-648E-407F-82F3-E754E8F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8C3C8E7-9F7E-4A5A-935B-7C231A1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E9E0BB-6D29-4E9B-9DD0-7CEF68F9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讀取不同來源的紀錄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A1D7D5-245F-4B11-A831-B94E05F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整理健康狀態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FCDCF4-C008-4BAF-860B-A6A6EB76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計算近期訓練負荷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D43CA4-D48F-41C6-8B15-3EF6FF1E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3283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20547A-BE1C-480E-A32C-E67D6AA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69A035-792D-48FB-A4E4-8C103182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B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01EEB9-729C-42F8-B941-127F2CE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D7D5AC-4B46-4085-B424-6FD8E461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「下週出差,重新安排課表」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EF2F83-6143-461F-8D2C-459C611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D86DDF4-1498-4832-8749-66D9101E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24D7334-55F1-4992-85E0-04B8A523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609F59-D339-4DEF-9127-D2F1804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你的行事曆與每天可用時間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42247C7-DAD2-47E1-A371-2C1DC23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A2DEA16-55DC-4F6F-9486-D4B8A740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4494C9-3B7D-41FF-9583-55D08D7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原計畫的週期化目標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43F6CF-BE8E-4FE6-96AF-E094F68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D50F344-004E-4A5E-8415-7D66545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FEE300-05C8-46BC-AECD-4BE32718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改動後剩餘週數是否足夠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57BC418-BB48-4C3E-B230-0CE56FD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FBDF1B5-FFCF-48BC-8A91-F3B4B90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69DA30-DD46-429D-970E-35E3361F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讀取行事曆與可用時間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2A80FA9-7A4C-4F5C-A8E9-DD3F8A68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理解原定訓練計畫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A1DC4A-B08E-4C0E-9DDD-C53F474F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重新安排接下來的訓練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8C72E8-4CB9-46F3-8134-8A351721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047735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8B706-123F-4B00-A552-5C8A624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045B71-60ED-40F4-A66B-F0BEF53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C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E0438E-F7ED-4DC0-B038-7FE493C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2DE91B-2C66-4276-86FF-1E19DF74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「找 Goblet Squat 的替代動作」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BEB0D3-7C3C-44E1-8F14-7BB055F3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33B4136-50FB-44AC-A708-B1E96DEF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7E28DB7-7886-4277-BFB2-0928784A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7FA529-3D78-46FA-9915-130E1116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動作之間的變體與相似關係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95789E9-C5D0-4AFC-9DCC-7359A34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268EFC-0BFC-4FAD-B16B-9BFBC8FD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6807F7-8F64-4DC6-80CD-CFE392F0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你手邊有哪些器材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1BE0C4B-3AE9-4092-BDCD-4EBD03BF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4FED991-49FA-40D4-A061-DD1AF88D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844CF86-46AB-4D30-B16D-ADAC0C7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難度與技術門檻是否相當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F337AE2-310B-4457-9E8F-D0EDCA18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6089347-A3E0-4BF2-B7BD-C7D825C9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5A2A2D-12A0-46E4-A386-2816FB2D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比對動作的特性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54C63A1-A614-4884-BD3D-45850BE4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確認你手邊的器材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73CB00-6D42-4706-BAD0-FD086807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988999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51781F-1F57-4D69-AF90-9FDE2E4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F1AC20-441D-4E43-A618-5886DF6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D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E819AF-8B3A-4BAB-92F0-CB3CF940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616A44-2C67-47F3-BC19-A771E7FF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「左膝有傷,不要排跳的」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DD8922-04FC-4EC7-85F5-DE495E6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DC04CF-107B-4157-B7A1-743FCD9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B9FE2C-026F-4040-8FF4-B21D579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2D1B06-8DA4-46CB-95AA-83A221E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這是長期約束,不是這次的要求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7251139-6ED7-4F14-9512-20CBE361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4E76372-A8C6-4225-82C8-C0D291B1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73833A8-726E-41C9-BADD-D9A9FEB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哪些動作牽涉到該關節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472B032-24EA-428C-B774-DD82894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293CB8D-CFB6-45F9-AD9B-2C1BFAFF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18BCF2-8574-467A-BFA6-AE200F94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替代方案要維持同樣訓練效果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726D17-5991-402B-BF8A-5C4A0ACE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38EC55A-4FDB-4977-BA5C-3DB62A7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03E471-59FF-4D0B-92DF-63C0DAD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記住膝傷這項長期限制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31E9CAA-CC5B-4F8C-ACD6-5941C185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排除不合適的動作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5E5F41-26BB-4C90-8E13-A3D7351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安排效果相近的替代訓練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274DAA-5ECE-4E35-9423-66E8F20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353776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CD458-8CFF-4893-A8C3-946587E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E91234-4545-4852-99F9-E1595CDB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E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FA5A96-5E7F-4790-852C-06020E0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048B30-2AAB-4E88-B8AC-4711E0D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「分析這個月訓練,瓶頸在哪」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E41306-0FA7-4A81-B7B2-D273C3C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9C20474-344A-4FB2-ABA9-20AEFB4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6BF467-5DB3-4A5B-A096-C2E389F0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C22D5E9-B899-4BED-B18F-3FC82E5D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完整的跨來源訓練歷程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832BC6-922E-45EB-8DB4-3275854B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4721F0E-B158-420E-AC73-26000CB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57D623-034B-4ACD-BE55-C20A333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負荷趨勢：短期疲勞、長期體能與恢復平衡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27B4E67-A007-4C05-88C5-C3A6CC6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CF6B68-B455-4193-8250-0DAD6E1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6D4BF9-3A46-46A5-B9F3-898E5370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目標與實際執行的落差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CB4CE2-E075-4AC9-B6B5-21BCDB4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697AD0-A3B8-4AF8-963B-B86BF63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2E46F0-7567-4F2D-8948-F4F6BD82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整理訓練負荷趨勢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52AEE47-ED4B-4AD2-9A2E-64F99C7F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評估目前的身體狀態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B03E6A0-224A-463A-9E39-24B72AE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79044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F334DC-97B5-4274-8B5E-1C32CB39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CAEA85-D60F-46FC-BB2E-B5F26D09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情境 F</a:t>
            </a:r>
            <a:endParaRPr sz="1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6D6C1B-2AFD-4F03-8320-1710524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820095" cy="11430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5CF786-6C57-4045-B68E-436D3D85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60120"/>
            <a:ext cx="1042416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語音:「今天怎麼樣?」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338E73-77D8-4EAC-880E-080F50F6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要先掌握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D2E4FF-F2D8-48B6-9753-CB320601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2928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156548-F3A1-4E8E-B9A6-9278602E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0358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5F47A3-A26C-4847-96C6-2F13231B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52928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當下的訓練準備程度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D237A3-5EFE-4248-B64E-A2F73D6B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1296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EE33259-D8F1-4DC3-89CA-2C1B258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85D114-7830-4F31-8744-9F6A196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511296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推導這個結論的理由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518C4B-8275-41FD-80D7-21F9740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9664"/>
            <a:ext cx="60350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3AF447-679C-477B-B31E-AC11B6F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5254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BA9A5C-0311-486E-89DA-36E0542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69664"/>
            <a:ext cx="5212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F1E1D"/>
                </a:solidFill>
                <a:latin typeface="Arial"/>
                <a:ea typeface="Arial"/>
                <a:cs typeface="Arial"/>
              </a:rPr>
              <a:t>一句話講得完的建議</a:t>
            </a:r>
            <a:endParaRPr sz="13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53A62B9-E3BA-4FD1-A2DD-08238AD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9572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這題會用到什麼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9D53B59-94F0-49A1-868A-EAE248FE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852928"/>
            <a:ext cx="4325112" cy="1865376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58C0574-0AC2-40AF-BC84-9D7EE6EE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127248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整理當下的身體狀態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EBA519-86E3-47D7-A109-6C850D3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657600"/>
            <a:ext cx="3749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9D0C8"/>
                </a:solidFill>
                <a:latin typeface="Arial"/>
                <a:ea typeface="Arial"/>
                <a:cs typeface="Arial"/>
              </a:rPr>
              <a:t>→  說明這個判斷的理由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43F79DB-EE7F-4589-81A6-B46C66AE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3248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7664EC-D4EC-4119-BB30-0B9A49FB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4636F9-798B-4E4E-811E-2838E18D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PART 3 — 應用情境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96136A-C104-4E03-AE0A-1AA9C25D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FAF9F5"/>
                </a:solidFill>
                <a:latin typeface="Arial"/>
                <a:ea typeface="Arial"/>
                <a:cs typeface="Arial"/>
              </a:rPr>
              <a:t>共通點：先有 Evidence，才談 Decision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B334B4-C1BA-4B4E-9148-0EA53CF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D6DAE4"/>
                </a:solidFill>
                <a:latin typeface="Arial"/>
                <a:ea typeface="Arial"/>
                <a:cs typeface="Arial"/>
              </a:rPr>
              <a:t>每一題都要求先答得出「你現在怎麼樣」,而那份答案每次都由證據重算。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2A55FD6-2A72-4588-B2B0-10707FE5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E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4067A9-2EF6-4D3B-ADBB-C75CFC6D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問題長得像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BA261C-5EFA-4D84-A2CC-33B2AD6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推薦一堂課、排一份課表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9475E8-B458-4FC3-9D47-9A631DE8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383280"/>
            <a:ext cx="5120640" cy="173736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0E6D46-085B-47BC-86FE-32F7D4A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11880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E0C4"/>
                </a:solidFill>
                <a:latin typeface="Arial"/>
                <a:ea typeface="Arial"/>
                <a:cs typeface="Arial"/>
              </a:rPr>
              <a:t>真正在問的是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1AD9EE-6D43-4D21-9096-F6A8724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69080"/>
            <a:ext cx="4434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我現在能不能練、該練哪裡、為什麼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307DEE-315E-4285-A02E-4A2D94CC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607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C3C9D6"/>
                </a:solidFill>
                <a:latin typeface="Arial"/>
                <a:ea typeface="Arial"/>
                <a:cs typeface="Arial"/>
              </a:rPr>
              <a:t>價值不在內容,在那個可重現的判斷。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FA3BA6-044F-405C-A576-17EE1F7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29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466704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0BE8B6-4C64-4E75-9885-04DE8B0B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F5A762-7E31-4CE1-94D7-EFD58E0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PART 3 — 現況與待做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FCBB97-E51C-4BD8-90AB-7566AB98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先用產品頁驗證，再進 private engine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13659DB-B5D3-4548-A67C-465EA75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3200"/>
              </a:lnSpc>
              <a:buNone/>
            </a:pPr>
            <a:r>
              <a:rPr sz="2000">
                <a:solidFill>
                  <a:srgbClr val="1F1E1D"/>
                </a:solidFill>
                <a:latin typeface="Arial"/>
                <a:ea typeface="Arial"/>
                <a:cs typeface="Arial"/>
              </a:rPr>
              <a:t>先關閉 v0.5.0,再用產品頁驗證市場,之後進入 private engine、mobile 與 team。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1C23231-5D31-48EB-9BAF-B813242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D42B497-AC81-43AE-A021-3CB57343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64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934F0AF-378B-4AB1-8A46-BBDFD819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0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5ED30B6-1BCE-4F54-9413-0830E2C5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已發行 v0.4.2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50A398-9F50-4114-88EC-935463F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Desktop MCPB · 6 public tools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DBD4C8-A00E-4792-892A-D3B83C8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26DD46F-A631-4D92-A651-BB2D2E21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Engine 1.6.0 · legacy Library 1.4.0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B1F638C-6361-4BA1-959A-7D6BF24F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815DAEE-7C51-4250-B455-6F21F99C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9CA4F0D-BD3A-4C35-96A8-08CE3B0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1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CDE970C-F4BD-497B-ACD1-E38C82E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main 已完成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345DAB-8A53-4A2E-A98A-795AF2EA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trace／outcome／continuity／package lifecycle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7C414CC-AE7B-41F9-B9C0-04E0E00E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E0C1A9-D5BC-42AE-B0EA-31646ACD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graph viewer · harness · regression gate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1BF2807-FBB5-49B2-81A3-6F76446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97480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F1ED1C-AD54-4A31-A0FC-E65DA0AF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81635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E850FA-D9F9-4A8E-8DA5-5D36DE0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8163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BAAA747-4210-4AF0-A8FC-6741E13E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788920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下一版 v0.5.0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179B068-1407-4EB0-A2F8-B7EA15A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13639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10 tools · Engine 1.6.0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61C250F-2D72-48C6-86C4-D3BAB134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419856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1206481-459F-4701-A8E0-101901B2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456432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base_rules 1.1.0 · planned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17FCFB4-312C-498B-80BA-00B70AB4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C432843-3C88-45F4-8297-0EB7102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CBEA4E0-BD3D-43E7-854D-69D14AD5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A3EDD21-8A8B-47FE-A752-5A4C1E7D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Phase 0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2D6606F-5132-449B-A012-2F756E0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整合 workout／防注入與 privacy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DF10C67-B73F-4492-BB28-51D1D9F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6C52D94-3B03-455D-84EF-0534CC5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pack · gates · publish</a:t>
            </a:r>
            <a:endParaRPr sz="10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389A390-77CD-40E0-8759-B4E8DBBD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087C888-9150-4EE4-B8B6-15C54613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D38571F-999D-4010-845A-065CE81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1B56CF2-F251-4AE9-AA24-803F423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Phase 1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5E44400-CE80-4345-B968-B3F067F1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pacevera.com 產品頁與真實 demo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7C54294-E43C-4E5E-8155-CF979200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16462B2-C84D-481A-98C7-8F8548B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5568"/>
                </a:solidFill>
                <a:latin typeface="Arial"/>
                <a:ea typeface="Arial"/>
                <a:cs typeface="Arial"/>
              </a:rPr>
              <a:t>3–5 interviews · activation／retention</a:t>
            </a:r>
            <a:endParaRPr sz="10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C13E59F-B9CB-48F8-9344-FDDA5A2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912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AA5B374-6B62-40BE-89FD-DBE5C1D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98678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C313748-678B-4590-8552-3DB46B30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986784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476D6A5-96BD-4951-8E1A-AEE3640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59352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Phase 2</a:t>
            </a:r>
            <a:endParaRPr sz="13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B8E9C75-D86A-4220-8E08-080CFB2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30682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Local private engine MVP</a:t>
            </a:r>
            <a:endParaRPr sz="10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5FB72EA-9C9D-41F3-A1B4-46A7D82A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590288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848CCBA-5538-46B3-B0CC-E404436A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4626864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repository · connectors · continuity</a:t>
            </a:r>
            <a:endParaRPr sz="10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1AC7D39C-0A22-48FD-8F1F-5C2B102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2118952-0326-4B2D-81FD-D9F5991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368A8598-AF5B-435C-8B6F-B0B187B8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ED50159C-BD78-4249-A3FF-8270F83F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Phase 3</a:t>
            </a:r>
            <a:endParaRPr sz="13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AFF064F-D12F-4CFE-A3A5-9FD40972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Controlled mobile · cross-host</a:t>
            </a:r>
            <a:endParaRPr sz="10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29EB9A6C-62BD-4446-AC40-2CB8BAC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9D2F6DE5-1E95-46BE-B222-96845792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hosted remote 維持 Blocked</a:t>
            </a:r>
            <a:endParaRPr sz="10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D0131F56-C8E7-4B14-B014-FA8E6105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0223197E-B9BA-4582-AC9A-DB66972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F447052-1D41-4F75-B5A0-894D4D0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92F761CD-C3C1-4F3D-8D8F-D50A6902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Phase 4</a:t>
            </a:r>
            <a:endParaRPr sz="13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3B97BA61-5BDC-43AF-BBBE-D96B6D8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Team／Enterprise · REST／SDK</a:t>
            </a:r>
            <a:endParaRPr sz="10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2AAA375-EB54-4A3D-B549-79A2B86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338CEA56-1860-4FD2-87C9-9FF53BF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governance · private deployment · pilot</a:t>
            </a:r>
            <a:endParaRPr sz="100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BCBD66F9-02E0-490A-8943-AC86237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344"/>
            <a:ext cx="3474720" cy="105156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4E1E4C3-B3A1-43C5-B62F-301BD175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15721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4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C1FE9D3D-ACB3-4994-805E-88593628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15721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E897B87D-3A53-4184-AD6F-A3927F83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5129784"/>
            <a:ext cx="2743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Remote GO gate</a:t>
            </a:r>
            <a:endParaRPr sz="130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0636AFC6-955C-4F93-8FB9-935049C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7725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645C"/>
                </a:solidFill>
                <a:latin typeface="Arial"/>
                <a:ea typeface="Arial"/>
                <a:cs typeface="Arial"/>
              </a:rPr>
              <a:t>auth · HTTPS · redaction · privacy · E2E</a:t>
            </a:r>
            <a:endParaRPr sz="105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E4160715-13F6-4E40-80B7-7C3EA44F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760720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DE0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A3524AF-18F5-4AB1-850A-CE1EE231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797296"/>
            <a:ext cx="30632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4A5568"/>
                </a:solidFill>
                <a:latin typeface="Arial"/>
                <a:ea typeface="Arial"/>
                <a:cs typeface="Arial"/>
              </a:rPr>
              <a:t>全部成立且有付費需求才 GO</a:t>
            </a:r>
            <a:endParaRPr sz="100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933B9027-73F2-435E-9F2B-65A1B805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30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63032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0EE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E83804-3B2A-4675-A7D0-88750939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D9A34C-FC92-4948-B066-E256384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8645C"/>
                </a:solidFill>
                <a:latin typeface="Arial"/>
                <a:ea typeface="Arial"/>
                <a:cs typeface="Arial"/>
              </a:rPr>
              <a:t>POSITIONING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F95A51-209C-404D-BDD4-42AB9D5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545775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Pacevera 是 personal fitness decision layer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528F25-1388-4A26-9757-62262624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0362895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>
                <a:solidFill>
                  <a:srgbClr val="1F1E1D"/>
                </a:solidFill>
                <a:latin typeface="Arial"/>
                <a:ea typeface="Arial"/>
                <a:cs typeface="Arial"/>
              </a:rPr>
              <a:t>我們要的是運動領域的決策基礎層:證據、規則與可追溯的訓練變更。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B76413-22F4-498B-BFE4-9983904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B8F3EE-D18D-41A0-99A3-4B2EE2E4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Plaid</a:t>
            </a:r>
            <a:endParaRPr sz="2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5BBDA7-BA7D-4D77-BCDE-4E9DC680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金融資料整合層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AF07399-D8AB-42CA-9EED-C83E1550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3D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6947BF-D3E7-4CC9-B09F-DD6902F5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F1E1D"/>
                </a:solidFill>
                <a:latin typeface="Arial"/>
                <a:ea typeface="Arial"/>
                <a:cs typeface="Arial"/>
              </a:rPr>
              <a:t>Stripe</a:t>
            </a:r>
            <a:endParaRPr sz="2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4542E59-D742-4EE2-B495-70E60D9A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1F1E1D"/>
                </a:solidFill>
                <a:latin typeface="Arial"/>
                <a:ea typeface="Arial"/>
                <a:cs typeface="Arial"/>
              </a:rPr>
              <a:t>支付基礎設施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4AB73E2-8D79-4B2B-AAA1-EFE23FA1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3291840" cy="192024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B3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38167D8-92F1-44FB-A257-86C61732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86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57554"/>
                </a:solidFill>
                <a:latin typeface="Arial"/>
                <a:ea typeface="Arial"/>
                <a:cs typeface="Arial"/>
              </a:rPr>
              <a:t>Us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7DABF0-0DA5-4DB5-81D6-4F9F734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434840"/>
            <a:ext cx="27889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The Personal Fitness</a:t>
            </a:r>
            <a:endParaRPr sz="1400"/>
          </a:p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400">
                <a:solidFill>
                  <a:srgbClr val="FAF9F5"/>
                </a:solidFill>
                <a:latin typeface="Arial"/>
                <a:ea typeface="Arial"/>
                <a:cs typeface="Arial"/>
              </a:rPr>
              <a:t>Decision Layer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2D14275-EE19-4098-AEE4-055CB96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8645C"/>
                </a:solidFill>
                <a:latin typeface="Arial"/>
                <a:ea typeface="Arial"/>
                <a:cs typeface="Arial"/>
              </a:rPr>
              <a:t>上層可以換成任何 AI host,底層可以換掉任何一家裝置商 —— 中間的決策層不用動。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A9D32E4-D26F-4C70-99AD-03B4A16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815" y="614476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DA89F"/>
                </a:solidFill>
                <a:latin typeface="Arial"/>
                <a:ea typeface="Arial"/>
                <a:cs typeface="Arial"/>
              </a:rPr>
              <a:t>31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82832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B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5BC0EC-8843-4F68-85D1-B567EA6D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84048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>
              <a:alpha val="12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4A7CAE5-E020-46D4-B2D6-3E3724C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5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A8BFC-7B42-4E19-90C2-A3187C5D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84632"/>
            <a:ext cx="8686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9FAEBE"/>
                </a:solidFill>
                <a:latin typeface="Arial"/>
                <a:ea typeface="Arial"/>
                <a:cs typeface="Arial"/>
              </a:rPr>
              <a:t>TAKEAWAY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66D46C-216F-4517-B211-306FCB60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102412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最重要的核心資產,</a:t>
            </a:r>
            <a:endParaRPr sz="3300"/>
          </a:p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是連續 Evidence → 可追溯 Decision,</a:t>
            </a:r>
            <a:endParaRPr sz="3300"/>
          </a:p>
          <a:p xmlns:a="http://schemas.openxmlformats.org/drawingml/2006/main">
            <a:pPr marL="0" indent="0">
              <a:lnSpc>
                <a:spcPts val="5200"/>
              </a:lnSpc>
              <a:buNone/>
            </a:pPr>
            <a:r>
              <a:rPr sz="3300" b="1">
                <a:solidFill>
                  <a:srgbClr val="FAF9F5"/>
                </a:solidFill>
                <a:latin typeface="Arial"/>
                <a:ea typeface="Arial"/>
                <a:cs typeface="Arial"/>
              </a:rPr>
              <a:t>而資料始終由使用者控制。</a:t>
            </a:r>
            <a:endParaRPr sz="3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A381B15-9AD4-4EA6-AE9E-76377AD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61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A2CE6C-249F-46F8-BF84-8786954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C3C9D6"/>
                </a:solidFill>
                <a:latin typeface="Arial"/>
                <a:ea typeface="Arial"/>
                <a:cs typeface="Arial"/>
              </a:rPr>
              <a:t>Pacevera — Fitness Decision Engine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28F041-A9AC-4B72-AFB0-816EA238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8112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C8497"/>
                </a:solidFill>
                <a:latin typeface="Arial"/>
                <a:ea typeface="Arial"/>
                <a:cs typeface="Arial"/>
              </a:rPr>
              <a:t>下一步:先發布 v0.5.0 → pacevera.com 驗證 → local private engine;remote 仍是後續 access channel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8413734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2026-08-12T14:07:56.3770000Z</dcterms:created>
  <dcterms:modified xsi:type="dcterms:W3CDTF">2026-08-12T14:07:56.3770000Z</dcterms:modified>
</coreProperties>
</file>